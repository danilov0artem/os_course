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56" r:id="rId2"/>
    <p:sldId id="297" r:id="rId3"/>
    <p:sldId id="298" r:id="rId4"/>
    <p:sldId id="299" r:id="rId5"/>
    <p:sldId id="300" r:id="rId6"/>
    <p:sldId id="301" r:id="rId7"/>
    <p:sldId id="302" r:id="rId8"/>
    <p:sldId id="304" r:id="rId9"/>
    <p:sldId id="305" r:id="rId10"/>
    <p:sldId id="307" r:id="rId11"/>
    <p:sldId id="306" r:id="rId12"/>
    <p:sldId id="308" r:id="rId13"/>
    <p:sldId id="309" r:id="rId14"/>
    <p:sldId id="310" r:id="rId15"/>
    <p:sldId id="311" r:id="rId16"/>
    <p:sldId id="312" r:id="rId17"/>
    <p:sldId id="313" r:id="rId18"/>
    <p:sldId id="315" r:id="rId19"/>
    <p:sldId id="316" r:id="rId20"/>
    <p:sldId id="314" r:id="rId21"/>
    <p:sldId id="317" r:id="rId22"/>
    <p:sldId id="318" r:id="rId23"/>
    <p:sldId id="319" r:id="rId24"/>
    <p:sldId id="320" r:id="rId25"/>
    <p:sldId id="321" r:id="rId26"/>
    <p:sldId id="322" r:id="rId27"/>
    <p:sldId id="323" r:id="rId28"/>
    <p:sldId id="324" r:id="rId29"/>
    <p:sldId id="325" r:id="rId30"/>
    <p:sldId id="326" r:id="rId31"/>
    <p:sldId id="327" r:id="rId32"/>
    <p:sldId id="328" r:id="rId33"/>
    <p:sldId id="329" r:id="rId34"/>
    <p:sldId id="330" r:id="rId35"/>
    <p:sldId id="331" r:id="rId36"/>
    <p:sldId id="332" r:id="rId37"/>
    <p:sldId id="465" r:id="rId38"/>
    <p:sldId id="466" r:id="rId39"/>
    <p:sldId id="467" r:id="rId40"/>
    <p:sldId id="444" r:id="rId41"/>
    <p:sldId id="333" r:id="rId42"/>
    <p:sldId id="334" r:id="rId43"/>
    <p:sldId id="335" r:id="rId44"/>
    <p:sldId id="336" r:id="rId45"/>
    <p:sldId id="337" r:id="rId46"/>
    <p:sldId id="338" r:id="rId47"/>
    <p:sldId id="339" r:id="rId48"/>
    <p:sldId id="340" r:id="rId49"/>
    <p:sldId id="341" r:id="rId50"/>
    <p:sldId id="342" r:id="rId51"/>
    <p:sldId id="458" r:id="rId52"/>
    <p:sldId id="459" r:id="rId53"/>
    <p:sldId id="461" r:id="rId54"/>
    <p:sldId id="462" r:id="rId55"/>
    <p:sldId id="468" r:id="rId56"/>
    <p:sldId id="469" r:id="rId57"/>
    <p:sldId id="470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0D979B9-DA39-4404-84C7-8A6045748CBF}">
          <p14:sldIdLst>
            <p14:sldId id="256"/>
          </p14:sldIdLst>
        </p14:section>
        <p14:section name="Виртуальная память" id="{4F517C45-0DA2-4F76-96B3-46CDBD31027C}">
          <p14:sldIdLst>
            <p14:sldId id="297"/>
            <p14:sldId id="298"/>
            <p14:sldId id="299"/>
            <p14:sldId id="300"/>
            <p14:sldId id="301"/>
            <p14:sldId id="302"/>
            <p14:sldId id="304"/>
            <p14:sldId id="305"/>
            <p14:sldId id="307"/>
            <p14:sldId id="306"/>
            <p14:sldId id="308"/>
            <p14:sldId id="309"/>
            <p14:sldId id="310"/>
            <p14:sldId id="311"/>
            <p14:sldId id="312"/>
            <p14:sldId id="313"/>
            <p14:sldId id="315"/>
            <p14:sldId id="316"/>
            <p14:sldId id="314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465"/>
            <p14:sldId id="466"/>
            <p14:sldId id="467"/>
            <p14:sldId id="444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458"/>
            <p14:sldId id="459"/>
            <p14:sldId id="461"/>
            <p14:sldId id="462"/>
            <p14:sldId id="468"/>
            <p14:sldId id="469"/>
            <p14:sldId id="4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93" autoAdjust="0"/>
    <p:restoredTop sz="65882" autoAdjust="0"/>
  </p:normalViewPr>
  <p:slideViewPr>
    <p:cSldViewPr snapToGrid="0" showGuides="1">
      <p:cViewPr varScale="1">
        <p:scale>
          <a:sx n="83" d="100"/>
          <a:sy n="83" d="100"/>
        </p:scale>
        <p:origin x="1752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46DEF-6168-4D03-AAAA-97A1FFFCC955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7628C5-B289-46A0-A8C0-80C1CDEFB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814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Мы уже видели, как </a:t>
            </a:r>
            <a:r>
              <a:rPr lang="ru-RU" b="0" dirty="0" err="1"/>
              <a:t>base</a:t>
            </a:r>
            <a:r>
              <a:rPr lang="ru-RU" b="0" dirty="0"/>
              <a:t> и </a:t>
            </a:r>
            <a:r>
              <a:rPr lang="ru-RU" b="0" dirty="0" err="1"/>
              <a:t>limit</a:t>
            </a:r>
            <a:r>
              <a:rPr lang="ru-RU" b="0" dirty="0"/>
              <a:t> регистры позволили изолировать программы и дать каждой свой диапазон адресов.</a:t>
            </a:r>
          </a:p>
          <a:p>
            <a:r>
              <a:rPr lang="ru-RU" b="0" dirty="0"/>
              <a:t>Но вскоре выяснилось, что этого недостаточно.</a:t>
            </a:r>
            <a:br>
              <a:rPr lang="ru-RU" b="0" dirty="0"/>
            </a:br>
            <a:r>
              <a:rPr lang="ru-RU" b="0" dirty="0"/>
              <a:t>Современные приложения — огромные: графические редакторы, браузеры, IDE. Даже при десятках гигабайт RAM все они не могут находиться в памяти одновременно.</a:t>
            </a:r>
          </a:p>
          <a:p>
            <a:r>
              <a:rPr lang="ru-RU" b="0" dirty="0"/>
              <a:t>Кроме того, пользователь хочет, чтобы десятки программ были «открыты» — пусть и не активны.</a:t>
            </a:r>
          </a:p>
          <a:p>
            <a:r>
              <a:rPr lang="ru-RU" b="0" dirty="0"/>
              <a:t>Поэтому понадобился новый подход, который позволил бы выполнять программы, размер которых больше физической памяти, и при этом не блокировать процессор во время обмена данными.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407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Проблема программ, не помещающихся в память, стара как вычислительная техника.</a:t>
            </a:r>
          </a:p>
          <a:p>
            <a:r>
              <a:rPr lang="ru-RU" b="0" dirty="0"/>
              <a:t>В 60-е годы решение нашли в виде так называемых </a:t>
            </a:r>
            <a:r>
              <a:rPr lang="ru-RU" b="0" dirty="0" err="1"/>
              <a:t>overlays</a:t>
            </a:r>
            <a:r>
              <a:rPr lang="ru-RU" b="0" dirty="0"/>
              <a:t> — наложений. Программист делил приложение на части: при запуске в память загружался только диспетчер </a:t>
            </a:r>
            <a:r>
              <a:rPr lang="ru-RU" b="0" dirty="0" err="1"/>
              <a:t>overlays</a:t>
            </a:r>
            <a:r>
              <a:rPr lang="ru-RU" b="0" dirty="0"/>
              <a:t> и первая часть программы.</a:t>
            </a:r>
          </a:p>
          <a:p>
            <a:r>
              <a:rPr lang="ru-RU" b="0" dirty="0"/>
              <a:t>Когда требовался другой модуль, первый выгружался, а новый загружался поверх него.</a:t>
            </a:r>
          </a:p>
          <a:p>
            <a:r>
              <a:rPr lang="ru-RU" b="0" dirty="0"/>
              <a:t>Это работало, но было крайне неудобно: всё нужно было планировать вручную.</a:t>
            </a:r>
            <a:br>
              <a:rPr lang="ru-RU" b="0" dirty="0"/>
            </a:br>
            <a:r>
              <a:rPr lang="ru-RU" b="0" dirty="0"/>
              <a:t>Каждый </a:t>
            </a:r>
            <a:r>
              <a:rPr lang="ru-RU" b="0" dirty="0" err="1"/>
              <a:t>overlay</a:t>
            </a:r>
            <a:r>
              <a:rPr lang="ru-RU" b="0" dirty="0"/>
              <a:t> нужно было заранее «вырезать» из программы, описать зависимости и точки переключения. Любая ошибка в расчётах — и программа падала.</a:t>
            </a:r>
          </a:p>
          <a:p>
            <a:r>
              <a:rPr lang="ru-RU" b="0" dirty="0"/>
              <a:t>Вскоре стало очевидно: машина должна делать это сама.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444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Идея виртуальной памяти появилась в начале 60-х. Её суть проста и гениальна:</a:t>
            </a:r>
          </a:p>
          <a:p>
            <a:r>
              <a:rPr lang="ru-RU" dirty="0"/>
              <a:t>Каждая программа получает собственное </a:t>
            </a:r>
            <a:r>
              <a:rPr lang="ru-RU" b="1" dirty="0"/>
              <a:t>виртуальное адресное пространство</a:t>
            </a:r>
            <a:r>
              <a:rPr lang="ru-RU" dirty="0"/>
              <a:t> — например, от 0 до 4 ГБ.</a:t>
            </a:r>
          </a:p>
          <a:p>
            <a:r>
              <a:rPr lang="ru-RU" dirty="0"/>
              <a:t>Но реально в памяти находятся только те части программы, которые действительно нужны в данный момент.</a:t>
            </a:r>
          </a:p>
          <a:p>
            <a:r>
              <a:rPr lang="ru-RU" dirty="0"/>
              <a:t>Всё пространство делится на </a:t>
            </a:r>
            <a:r>
              <a:rPr lang="ru-RU" b="1" dirty="0"/>
              <a:t>страницы</a:t>
            </a:r>
            <a:r>
              <a:rPr lang="ru-RU" dirty="0"/>
              <a:t> — небольшие куски (обычно по 4 КБ).</a:t>
            </a:r>
          </a:p>
          <a:p>
            <a:r>
              <a:rPr lang="ru-RU" dirty="0"/>
              <a:t>При обращении к данным, находящимся в памяти, процессор автоматически выполняет преобразование виртуального адреса в физический.</a:t>
            </a:r>
          </a:p>
          <a:p>
            <a:r>
              <a:rPr lang="ru-RU" dirty="0"/>
              <a:t>Если нужная страница отсутствует, возникает </a:t>
            </a:r>
            <a:r>
              <a:rPr lang="ru-RU" b="1" dirty="0"/>
              <a:t>ошибка отсутствия страницы (</a:t>
            </a:r>
            <a:r>
              <a:rPr lang="ru-RU" b="1" dirty="0" err="1"/>
              <a:t>page</a:t>
            </a:r>
            <a:r>
              <a:rPr lang="ru-RU" b="1" dirty="0"/>
              <a:t> </a:t>
            </a:r>
            <a:r>
              <a:rPr lang="ru-RU" b="1" dirty="0" err="1"/>
              <a:t>fault</a:t>
            </a:r>
            <a:r>
              <a:rPr lang="ru-RU" b="1" dirty="0"/>
              <a:t>)</a:t>
            </a:r>
            <a:r>
              <a:rPr lang="ru-RU" dirty="0"/>
              <a:t> — ОС загружает её с диска и повторяет команду.</a:t>
            </a:r>
          </a:p>
          <a:p>
            <a:r>
              <a:rPr lang="ru-RU" dirty="0"/>
              <a:t>Таким образом, создаётся </a:t>
            </a:r>
            <a:r>
              <a:rPr lang="ru-RU" b="1" dirty="0"/>
              <a:t>иллюзия безграничной памяти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350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основе работы виртуальной памяти лежит </a:t>
            </a:r>
            <a:r>
              <a:rPr lang="ru-RU" b="1" dirty="0"/>
              <a:t>таблица соответствия страниц</a:t>
            </a:r>
            <a:r>
              <a:rPr lang="ru-RU" dirty="0"/>
              <a:t>.</a:t>
            </a:r>
          </a:p>
          <a:p>
            <a:r>
              <a:rPr lang="ru-RU" dirty="0"/>
              <a:t>Процессор знает, как преобразовать виртуальный адрес в физический, если страница уже находится в оперативной памяти.</a:t>
            </a:r>
          </a:p>
          <a:p>
            <a:r>
              <a:rPr lang="ru-RU" dirty="0"/>
              <a:t>Если же нет — он посылает сигнал операционной системе: «нужной страницы нет».</a:t>
            </a:r>
            <a:br>
              <a:rPr lang="ru-RU" dirty="0"/>
            </a:br>
            <a:r>
              <a:rPr lang="ru-RU" dirty="0"/>
              <a:t>ОС загружает нужный блок данных с диска, обновляет таблицу и повторяет инструкцию.</a:t>
            </a:r>
          </a:p>
          <a:p>
            <a:r>
              <a:rPr lang="ru-RU" dirty="0"/>
              <a:t>Всё это происходит полностью прозрачно для программы — она даже не подозревает, что часть её данных только что была загружена с SSD.</a:t>
            </a:r>
          </a:p>
          <a:p>
            <a:r>
              <a:rPr lang="ru-RU" dirty="0"/>
              <a:t>Это позволяет системе держать в памяти лишь активные страницы, а остальное хранить во внешней памяти, что экономит ресурсы и даёт многозадачность.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46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Виртуальная память объединила лучшие идеи и устранила слабые стороны старых подходов.</a:t>
            </a:r>
          </a:p>
          <a:p>
            <a:r>
              <a:rPr lang="ru-RU" b="0" dirty="0"/>
              <a:t>В отличие от </a:t>
            </a:r>
            <a:r>
              <a:rPr lang="ru-RU" b="0" dirty="0" err="1"/>
              <a:t>swapping</a:t>
            </a:r>
            <a:r>
              <a:rPr lang="ru-RU" b="0" dirty="0"/>
              <a:t>, она не требует выгружать программу целиком — только её неиспользуемые части.</a:t>
            </a:r>
          </a:p>
          <a:p>
            <a:r>
              <a:rPr lang="ru-RU" b="0" dirty="0"/>
              <a:t>В отличие от </a:t>
            </a:r>
            <a:r>
              <a:rPr lang="ru-RU" b="0" dirty="0" err="1"/>
              <a:t>overlays</a:t>
            </a:r>
            <a:r>
              <a:rPr lang="ru-RU" b="0" dirty="0"/>
              <a:t>, программисту не нужно вручную разбивать код — всё делает ОС.</a:t>
            </a:r>
          </a:p>
          <a:p>
            <a:r>
              <a:rPr lang="ru-RU" b="0" dirty="0"/>
              <a:t>Конечно, виртуальная память требует поддержки со стороны процессора — специального блока MMU (Memory Management Unit), который занимается преобразованием адресов.</a:t>
            </a:r>
          </a:p>
          <a:p>
            <a:r>
              <a:rPr lang="ru-RU" b="0" dirty="0"/>
              <a:t>Но это был переломный момент: теперь программы могли быть больше физической памяти и работать параллельно.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9031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Виртуальная память даёт операционной системе и пользователю сразу несколько ключевых преимуществ:</a:t>
            </a:r>
          </a:p>
          <a:p>
            <a:r>
              <a:rPr lang="ru-RU" b="0" dirty="0"/>
              <a:t>1 Программы могут быть больше физической памяти — подгружается только то, что действительно используется.</a:t>
            </a:r>
          </a:p>
          <a:p>
            <a:r>
              <a:rPr lang="ru-RU" b="0" dirty="0"/>
              <a:t>2 Процессы изолированы: один не может случайно повредить данные другого.</a:t>
            </a:r>
          </a:p>
          <a:p>
            <a:r>
              <a:rPr lang="ru-RU" b="0" dirty="0"/>
              <a:t>3. Многозадачность становится естественной — процессор работает с одним процессом, пока другой ждёт подкачку данных.</a:t>
            </a:r>
          </a:p>
          <a:p>
            <a:r>
              <a:rPr lang="ru-RU" b="0" dirty="0"/>
              <a:t>4 ОС сама управляет памятью: освобождает, подкачивает, перемещает.</a:t>
            </a:r>
          </a:p>
          <a:p>
            <a:r>
              <a:rPr lang="ru-RU" b="0" dirty="0"/>
              <a:t>4. И, наконец, для программиста — всё выглядит просто: «вся память — моя».</a:t>
            </a:r>
          </a:p>
          <a:p>
            <a:r>
              <a:rPr lang="ru-RU" b="0" dirty="0"/>
              <a:t>Это идеальная иллюзия, созданная аппаратурой и операционной системой, — и именно она сделала возможными современные вычислительные системы.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9497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Paging</a:t>
            </a:r>
            <a:r>
              <a:rPr lang="ru-RU" dirty="0"/>
              <a:t> — это базовый механизм, на котором построена вся современная виртуальная память.</a:t>
            </a:r>
          </a:p>
          <a:p>
            <a:r>
              <a:rPr lang="ru-RU" dirty="0"/>
              <a:t>Программа работает как будто у неё есть собственное непрерывное адресное пространство — от 0 до, скажем, 4 ГБ.</a:t>
            </a:r>
          </a:p>
          <a:p>
            <a:r>
              <a:rPr lang="ru-RU" dirty="0"/>
              <a:t>На самом деле память делится на </a:t>
            </a:r>
            <a:r>
              <a:rPr lang="ru-RU" b="1" dirty="0"/>
              <a:t>страницы фиксированного размера</a:t>
            </a:r>
            <a:r>
              <a:rPr lang="ru-RU" dirty="0"/>
              <a:t>, обычно 4 КБ, и только часть из них реально загружена в RAM.</a:t>
            </a:r>
          </a:p>
          <a:p>
            <a:r>
              <a:rPr lang="ru-RU" dirty="0"/>
              <a:t>Преобразование виртуальных адресов в физические выполняет специальное устройство — </a:t>
            </a:r>
            <a:r>
              <a:rPr lang="ru-RU" b="1" dirty="0"/>
              <a:t>MMU</a:t>
            </a:r>
            <a:r>
              <a:rPr lang="ru-RU" dirty="0"/>
              <a:t>, встроенное в процессор.</a:t>
            </a:r>
          </a:p>
          <a:p>
            <a:r>
              <a:rPr lang="ru-RU" dirty="0"/>
              <a:t>Это устройство работает автоматически и обеспечивает изоляцию, защиту и прозрачность работы памяти для программ.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6787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программа выполняет команду вроде</a:t>
            </a:r>
            <a:br>
              <a:rPr lang="ru-RU" dirty="0"/>
            </a:b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 REG, 1000</a:t>
            </a:r>
            <a:br>
              <a:rPr lang="ru-RU" dirty="0"/>
            </a:br>
            <a:r>
              <a:rPr lang="ru-RU" dirty="0"/>
              <a:t>она обращается к </a:t>
            </a:r>
            <a:r>
              <a:rPr lang="ru-RU" b="1" dirty="0"/>
              <a:t>виртуальному адресу 1000</a:t>
            </a:r>
            <a:r>
              <a:rPr lang="ru-RU" dirty="0"/>
              <a:t>.</a:t>
            </a:r>
          </a:p>
          <a:p>
            <a:r>
              <a:rPr lang="ru-RU" dirty="0"/>
              <a:t>Без виртуальной памяти этот адрес напрямую попал бы на шину — процессор просто обращается к ячейке физической памяти с этим номером.</a:t>
            </a:r>
          </a:p>
          <a:p>
            <a:r>
              <a:rPr lang="ru-RU" dirty="0"/>
              <a:t>Но с виртуальной памятью всё иначе.</a:t>
            </a:r>
          </a:p>
          <a:p>
            <a:r>
              <a:rPr lang="ru-RU" dirty="0"/>
              <a:t>Виртуальный адрес поступает в </a:t>
            </a:r>
            <a:r>
              <a:rPr lang="ru-RU" b="1" dirty="0"/>
              <a:t>MMU</a:t>
            </a:r>
            <a:r>
              <a:rPr lang="ru-RU" dirty="0"/>
              <a:t>, и уже она решает, какому </a:t>
            </a:r>
            <a:r>
              <a:rPr lang="ru-RU" b="1" dirty="0"/>
              <a:t>физическому адресу</a:t>
            </a:r>
            <a:r>
              <a:rPr lang="ru-RU" dirty="0"/>
              <a:t> он соответствует.</a:t>
            </a:r>
          </a:p>
          <a:p>
            <a:r>
              <a:rPr lang="ru-RU" dirty="0"/>
              <a:t>Таким образом, программа живёт в «иллюзорном» пространстве, а MMU создаёт между ней и реальной памятью слой абстракции и защиты.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8285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упрощённый пример.</a:t>
            </a:r>
          </a:p>
          <a:p>
            <a:r>
              <a:rPr lang="ru-RU" dirty="0"/>
              <a:t>Пусть у нас 16-битная машина, где программа может адресовать 64 КБ памяти — от 0 до 65 535.</a:t>
            </a:r>
          </a:p>
          <a:p>
            <a:r>
              <a:rPr lang="ru-RU" dirty="0"/>
              <a:t>Физически же установлено только 32 КБ.</a:t>
            </a:r>
          </a:p>
          <a:p>
            <a:r>
              <a:rPr lang="ru-RU" dirty="0"/>
              <a:t>Всё виртуальное пространство делится на 16 страниц по 4 КБ, а физическая память — на 8 </a:t>
            </a:r>
            <a:r>
              <a:rPr lang="ru-RU" b="1" dirty="0" err="1"/>
              <a:t>page</a:t>
            </a:r>
            <a:r>
              <a:rPr lang="ru-RU" b="1" dirty="0"/>
              <a:t> </a:t>
            </a:r>
            <a:r>
              <a:rPr lang="ru-RU" b="1" dirty="0" err="1"/>
              <a:t>frames</a:t>
            </a:r>
            <a:r>
              <a:rPr lang="ru-RU" dirty="0"/>
              <a:t> того же размера.</a:t>
            </a:r>
          </a:p>
          <a:p>
            <a:r>
              <a:rPr lang="ru-RU" dirty="0"/>
              <a:t>Значит, одновременно в RAM могут находиться только половина страниц программы, а остальные хранятся на диске и загружаются по мере надобности.</a:t>
            </a:r>
          </a:p>
          <a:p>
            <a:r>
              <a:rPr lang="ru-RU" dirty="0"/>
              <a:t>Этот механизм даёт возможность запускать программы, </a:t>
            </a:r>
            <a:r>
              <a:rPr lang="ru-RU" b="1" dirty="0"/>
              <a:t>превышающие объём физической памяти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7142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Например, виртуальный адрес 0 попадает в виртуальную страницу 0, которая сопоставлена с </a:t>
            </a:r>
            <a:r>
              <a:rPr lang="ru-RU" b="1" dirty="0"/>
              <a:t>физическим фреймом 2</a:t>
            </a:r>
            <a:r>
              <a:rPr lang="ru-RU" dirty="0"/>
              <a:t> — то есть адрес 8192.</a:t>
            </a:r>
          </a:p>
          <a:p>
            <a:r>
              <a:rPr lang="ru-RU" dirty="0"/>
              <a:t>Поэтому, когда программа выполняет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 REG, 0</a:t>
            </a:r>
            <a:r>
              <a:rPr lang="ru-RU" dirty="0"/>
              <a:t>, процессор на самом деле обращается к адресу </a:t>
            </a:r>
            <a:r>
              <a:rPr lang="ru-RU" b="1" dirty="0"/>
              <a:t>8192</a:t>
            </a:r>
            <a:r>
              <a:rPr lang="ru-RU" dirty="0"/>
              <a:t> в физической памяти.</a:t>
            </a:r>
          </a:p>
          <a:p>
            <a:r>
              <a:rPr lang="ru-RU" dirty="0"/>
              <a:t>Аналогично, если команда ссылается на виртуальный адрес 8192, это страница №2, которая может быть сопоставлена, скажем, с фреймом №6 — физический адрес </a:t>
            </a:r>
            <a:r>
              <a:rPr lang="ru-RU" b="1" dirty="0"/>
              <a:t>24576</a:t>
            </a:r>
            <a:r>
              <a:rPr lang="ru-RU" dirty="0"/>
              <a:t>.</a:t>
            </a:r>
          </a:p>
          <a:p>
            <a:r>
              <a:rPr lang="ru-RU" dirty="0"/>
              <a:t>Все эти преобразования происходят мгновенно и незаметно для программы.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935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Если программа обращается к странице, которая не загружена в память, MMU вызывает исключение — </a:t>
            </a:r>
            <a:r>
              <a:rPr lang="ru-RU" b="0" dirty="0" err="1"/>
              <a:t>page</a:t>
            </a:r>
            <a:r>
              <a:rPr lang="ru-RU" b="0" dirty="0"/>
              <a:t> </a:t>
            </a:r>
            <a:r>
              <a:rPr lang="ru-RU" b="0" dirty="0" err="1"/>
              <a:t>fault</a:t>
            </a:r>
            <a:r>
              <a:rPr lang="ru-RU" b="0" dirty="0"/>
              <a:t>.</a:t>
            </a:r>
          </a:p>
          <a:p>
            <a:r>
              <a:rPr lang="ru-RU" b="0" dirty="0"/>
              <a:t>Операционная система получает сигнал, находит в памяти фрейм, который давно не использовался, и выгружает его содержимое на диск.</a:t>
            </a:r>
          </a:p>
          <a:p>
            <a:r>
              <a:rPr lang="ru-RU" b="0" dirty="0"/>
              <a:t>Затем ОС загружает нужную страницу с диска в освобождённый фрейм, обновляет таблицу сопоставлений и повторяет ту же инструкцию.</a:t>
            </a:r>
          </a:p>
          <a:p>
            <a:r>
              <a:rPr lang="ru-RU" b="0" dirty="0"/>
              <a:t>Для программы всё выглядит как обычная работа — она просто немного «ждёт».</a:t>
            </a:r>
          </a:p>
          <a:p>
            <a:r>
              <a:rPr lang="ru-RU" b="0" dirty="0"/>
              <a:t>Таким образом, даже если в физической памяти всего 8 страниц, программа из 16 страниц может работать полностью, потому что нужные фрагменты подгружаются по мере обращения.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2617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посмотрим, как устроен адрес внутри MMU.</a:t>
            </a:r>
          </a:p>
          <a:p>
            <a:r>
              <a:rPr lang="ru-RU" dirty="0"/>
              <a:t>Допустим, у нас 16-битный виртуальный адрес.</a:t>
            </a:r>
          </a:p>
          <a:p>
            <a:r>
              <a:rPr lang="ru-RU" dirty="0"/>
              <a:t>Верхние 4 бита — это </a:t>
            </a:r>
            <a:r>
              <a:rPr lang="ru-RU" b="1" dirty="0"/>
              <a:t>номер страницы</a:t>
            </a:r>
            <a:r>
              <a:rPr lang="ru-RU" dirty="0"/>
              <a:t>, а оставшиеся 12 — </a:t>
            </a:r>
            <a:r>
              <a:rPr lang="ru-RU" b="1" dirty="0"/>
              <a:t>смещение внутри страницы</a:t>
            </a:r>
            <a:r>
              <a:rPr lang="ru-RU" dirty="0"/>
              <a:t>.</a:t>
            </a:r>
          </a:p>
          <a:p>
            <a:r>
              <a:rPr lang="ru-RU" dirty="0"/>
              <a:t>MMU использует номер страницы как индекс в таблице страниц и получает номер физического фрейма, где лежит нужный блок данных.</a:t>
            </a:r>
          </a:p>
          <a:p>
            <a:r>
              <a:rPr lang="ru-RU" dirty="0"/>
              <a:t>Смещение просто добавляется к адресу начала фрейма.</a:t>
            </a:r>
          </a:p>
          <a:p>
            <a:r>
              <a:rPr lang="ru-RU" dirty="0"/>
              <a:t>Если страница отсутствует, в таблице стоит специальный флаг — </a:t>
            </a:r>
            <a:r>
              <a:rPr lang="ru-RU" b="1" dirty="0" err="1"/>
              <a:t>Present</a:t>
            </a:r>
            <a:r>
              <a:rPr lang="ru-RU" b="1" dirty="0"/>
              <a:t>/</a:t>
            </a:r>
            <a:r>
              <a:rPr lang="ru-RU" b="1" dirty="0" err="1"/>
              <a:t>Absent</a:t>
            </a:r>
            <a:r>
              <a:rPr lang="ru-RU" b="1" dirty="0"/>
              <a:t> </a:t>
            </a:r>
            <a:r>
              <a:rPr lang="ru-RU" b="1" dirty="0" err="1"/>
              <a:t>bit</a:t>
            </a:r>
            <a:r>
              <a:rPr lang="ru-RU" dirty="0"/>
              <a:t> — и MMU вызывает </a:t>
            </a:r>
            <a:r>
              <a:rPr lang="ru-RU" b="1" dirty="0" err="1"/>
              <a:t>page</a:t>
            </a:r>
            <a:r>
              <a:rPr lang="ru-RU" b="1" dirty="0"/>
              <a:t> </a:t>
            </a:r>
            <a:r>
              <a:rPr lang="ru-RU" b="1" dirty="0" err="1"/>
              <a:t>fault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3010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нашем примере таблица страниц мала — всего 16 записей.</a:t>
            </a:r>
            <a:br>
              <a:rPr lang="ru-RU" dirty="0"/>
            </a:br>
            <a:r>
              <a:rPr lang="ru-RU" dirty="0"/>
              <a:t>Но в реальных системах адреса 32- и 64-битные.</a:t>
            </a:r>
          </a:p>
          <a:p>
            <a:r>
              <a:rPr lang="ru-RU" dirty="0"/>
              <a:t>Для 32-битных адресов и страниц по 4 КБ таблица должна содержать более миллиона записей. Это ещё приемлемо.</a:t>
            </a:r>
          </a:p>
          <a:p>
            <a:r>
              <a:rPr lang="ru-RU" dirty="0"/>
              <a:t>Но для 64-битных адресов — это уже </a:t>
            </a:r>
            <a:r>
              <a:rPr lang="ru-RU" b="1" dirty="0"/>
              <a:t>миллиарды терабайтов записей</a:t>
            </a:r>
            <a:r>
              <a:rPr lang="ru-RU" dirty="0"/>
              <a:t>!</a:t>
            </a:r>
          </a:p>
          <a:p>
            <a:r>
              <a:rPr lang="ru-RU" dirty="0"/>
              <a:t>Поэтому современные процессоры используют </a:t>
            </a:r>
            <a:r>
              <a:rPr lang="ru-RU" b="1" dirty="0"/>
              <a:t>иерархические таблицы страниц</a:t>
            </a:r>
            <a:r>
              <a:rPr lang="ru-RU" dirty="0"/>
              <a:t> и </a:t>
            </a:r>
            <a:r>
              <a:rPr lang="ru-RU" b="1" dirty="0"/>
              <a:t>TLB (Translation </a:t>
            </a:r>
            <a:r>
              <a:rPr lang="ru-RU" b="1" dirty="0" err="1"/>
              <a:t>Lookaside</a:t>
            </a:r>
            <a:r>
              <a:rPr lang="ru-RU" b="1" dirty="0"/>
              <a:t> </a:t>
            </a:r>
            <a:r>
              <a:rPr lang="ru-RU" b="1" dirty="0" err="1"/>
              <a:t>Buffer</a:t>
            </a:r>
            <a:r>
              <a:rPr lang="ru-RU" b="1" dirty="0"/>
              <a:t>)</a:t>
            </a:r>
            <a:r>
              <a:rPr lang="ru-RU" dirty="0"/>
              <a:t> — специальный кэш, где хранятся недавно использованные преобразования адресов.</a:t>
            </a:r>
          </a:p>
          <a:p>
            <a:r>
              <a:rPr lang="ru-RU" dirty="0"/>
              <a:t>Эти механизмы мы подробно рассмотрим в следующем разделе.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6452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Paging</a:t>
            </a:r>
            <a:r>
              <a:rPr lang="ru-RU" dirty="0"/>
              <a:t> — это сердце механизма виртуальной памяти.</a:t>
            </a:r>
          </a:p>
          <a:p>
            <a:r>
              <a:rPr lang="ru-RU" dirty="0"/>
              <a:t>Благодаря ему процессор и операционная система могут совместно создавать </a:t>
            </a:r>
            <a:r>
              <a:rPr lang="ru-RU" b="1" dirty="0"/>
              <a:t>иллюзию огромной, непрерывной памяти</a:t>
            </a:r>
            <a:r>
              <a:rPr lang="ru-RU" dirty="0"/>
              <a:t>, хотя физически её гораздо меньше.</a:t>
            </a:r>
          </a:p>
          <a:p>
            <a:r>
              <a:rPr lang="ru-RU" dirty="0"/>
              <a:t>Страничная организация делает возможными многозадачность, изоляцию, и безопасность.</a:t>
            </a:r>
          </a:p>
          <a:p>
            <a:r>
              <a:rPr lang="ru-RU" dirty="0"/>
              <a:t>Это фундаментальная идея, без которой ни одна современная ОС — Windows, Linux, </a:t>
            </a:r>
            <a:r>
              <a:rPr lang="ru-RU" dirty="0" err="1"/>
              <a:t>macOS</a:t>
            </a:r>
            <a:r>
              <a:rPr lang="ru-RU" dirty="0"/>
              <a:t> — не смогла бы существовать.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4035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Страничная организация создаёт две системы координат: виртуальные страницы и физические фреймы.</a:t>
            </a:r>
          </a:p>
          <a:p>
            <a:r>
              <a:rPr lang="ru-RU" dirty="0"/>
              <a:t>Чтобы понять, где реально находится нужная страница программы, используется </a:t>
            </a:r>
            <a:r>
              <a:rPr lang="ru-RU" b="1" dirty="0"/>
              <a:t>таблица страниц</a:t>
            </a:r>
            <a:r>
              <a:rPr lang="ru-RU" dirty="0"/>
              <a:t> — основная структура данных в механизме виртуальной памяти.</a:t>
            </a:r>
          </a:p>
          <a:p>
            <a:r>
              <a:rPr lang="ru-RU" dirty="0"/>
              <a:t>В простейшем случае она просто сопоставляет: «виртуальная страница №N → физический фрейм №M».</a:t>
            </a:r>
          </a:p>
          <a:p>
            <a:r>
              <a:rPr lang="ru-RU" dirty="0"/>
              <a:t>При каждом обращении к памяти MMU заглядывает в таблицу, получает номер фрейма и формирует физический адрес.</a:t>
            </a:r>
          </a:p>
          <a:p>
            <a:r>
              <a:rPr lang="ru-RU" dirty="0"/>
              <a:t>Математически это можно рассматривать как функцию:</a:t>
            </a:r>
            <a:br>
              <a:rPr lang="ru-RU" dirty="0"/>
            </a:br>
            <a:r>
              <a:rPr lang="ru-RU" b="1" dirty="0"/>
              <a:t>f(</a:t>
            </a:r>
            <a:r>
              <a:rPr lang="ru-RU" b="1" dirty="0" err="1"/>
              <a:t>виртуальная_страница</a:t>
            </a:r>
            <a:r>
              <a:rPr lang="ru-RU" b="1" dirty="0"/>
              <a:t>) = </a:t>
            </a:r>
            <a:r>
              <a:rPr lang="ru-RU" b="1" dirty="0" err="1"/>
              <a:t>физический_фрейм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2381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преобразования адресов виртуальный адрес делится на две части.</a:t>
            </a:r>
          </a:p>
          <a:p>
            <a:r>
              <a:rPr lang="ru-RU" dirty="0"/>
              <a:t>Старшие биты определяют </a:t>
            </a:r>
            <a:r>
              <a:rPr lang="ru-RU" b="1" dirty="0"/>
              <a:t>номер страницы</a:t>
            </a:r>
            <a:r>
              <a:rPr lang="ru-RU" dirty="0"/>
              <a:t>, а младшие — </a:t>
            </a:r>
            <a:r>
              <a:rPr lang="ru-RU" b="1" dirty="0"/>
              <a:t>смещение внутри страницы</a:t>
            </a:r>
            <a:r>
              <a:rPr lang="ru-RU" dirty="0"/>
              <a:t>.</a:t>
            </a:r>
          </a:p>
          <a:p>
            <a:r>
              <a:rPr lang="ru-RU" dirty="0"/>
              <a:t>Например, при 16-битных адресах и размере страницы 4 КБ, верхние 4 бита задают одну из 16 виртуальных страниц.</a:t>
            </a:r>
          </a:p>
          <a:p>
            <a:r>
              <a:rPr lang="ru-RU" dirty="0"/>
              <a:t>Остальные 12 бит указывают позицию байта внутри этой страницы — от 0 до 4095.</a:t>
            </a:r>
          </a:p>
          <a:p>
            <a:r>
              <a:rPr lang="ru-RU" dirty="0"/>
              <a:t>MMU использует номер страницы как индекс в таблице страниц, находит номер физического фрейма, и подставляет его вместо виртуального номера страницы, формируя </a:t>
            </a:r>
            <a:r>
              <a:rPr lang="ru-RU" b="1" dirty="0"/>
              <a:t>физический адрес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0083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В таблице страниц каждая строка называется Page </a:t>
            </a:r>
            <a:r>
              <a:rPr lang="ru-RU" b="0" dirty="0" err="1"/>
              <a:t>Table</a:t>
            </a:r>
            <a:r>
              <a:rPr lang="ru-RU" b="0" dirty="0"/>
              <a:t> </a:t>
            </a:r>
            <a:r>
              <a:rPr lang="ru-RU" b="0" dirty="0" err="1"/>
              <a:t>Entry</a:t>
            </a:r>
            <a:r>
              <a:rPr lang="ru-RU" b="0" dirty="0"/>
              <a:t> (PTE).</a:t>
            </a:r>
          </a:p>
          <a:p>
            <a:r>
              <a:rPr lang="ru-RU" b="0" dirty="0"/>
              <a:t>Это небольшая структура (в современных системах — 64 бита), которая содержит всю необходимую информацию о странице.</a:t>
            </a:r>
          </a:p>
          <a:p>
            <a:r>
              <a:rPr lang="ru-RU" b="0" dirty="0"/>
              <a:t>Самое главное поле — номер физического фрейма, в котором сейчас находится страница.</a:t>
            </a:r>
          </a:p>
          <a:p>
            <a:r>
              <a:rPr lang="ru-RU" b="0" dirty="0"/>
              <a:t>Но кроме него в записи есть ещё несколько управляющих битов:</a:t>
            </a:r>
          </a:p>
          <a:p>
            <a:r>
              <a:rPr lang="ru-RU" b="0" dirty="0"/>
              <a:t>🔹 </a:t>
            </a:r>
            <a:r>
              <a:rPr lang="ru-RU" b="0" dirty="0" err="1"/>
              <a:t>Present</a:t>
            </a:r>
            <a:r>
              <a:rPr lang="ru-RU" b="0" dirty="0"/>
              <a:t>/</a:t>
            </a:r>
            <a:r>
              <a:rPr lang="ru-RU" b="0" dirty="0" err="1"/>
              <a:t>Absent</a:t>
            </a:r>
            <a:r>
              <a:rPr lang="ru-RU" b="0" dirty="0"/>
              <a:t> — страница находится в памяти или выгружена на диск;</a:t>
            </a:r>
          </a:p>
          <a:p>
            <a:r>
              <a:rPr lang="ru-RU" b="0" dirty="0"/>
              <a:t>🔹 Protection </a:t>
            </a:r>
            <a:r>
              <a:rPr lang="ru-RU" b="0" dirty="0" err="1"/>
              <a:t>bits</a:t>
            </a:r>
            <a:r>
              <a:rPr lang="ru-RU" b="0" dirty="0"/>
              <a:t> — можно ли страницу читать, записывать, выполнять;</a:t>
            </a:r>
          </a:p>
          <a:p>
            <a:r>
              <a:rPr lang="ru-RU" b="0" dirty="0"/>
              <a:t>🔹 </a:t>
            </a:r>
            <a:r>
              <a:rPr lang="ru-RU" b="0" dirty="0" err="1"/>
              <a:t>Supervisor</a:t>
            </a:r>
            <a:r>
              <a:rPr lang="ru-RU" b="0" dirty="0"/>
              <a:t> </a:t>
            </a:r>
            <a:r>
              <a:rPr lang="ru-RU" b="0" dirty="0" err="1"/>
              <a:t>bit</a:t>
            </a:r>
            <a:r>
              <a:rPr lang="ru-RU" b="0" dirty="0"/>
              <a:t> — страница доступна только ядру или всем процессам;</a:t>
            </a:r>
          </a:p>
          <a:p>
            <a:r>
              <a:rPr lang="ru-RU" b="0" dirty="0"/>
              <a:t>🔹 </a:t>
            </a:r>
            <a:r>
              <a:rPr lang="ru-RU" b="0" dirty="0" err="1"/>
              <a:t>Modified</a:t>
            </a:r>
            <a:r>
              <a:rPr lang="ru-RU" b="0" dirty="0"/>
              <a:t> — страница изменялась (её нужно сохранить при выгрузке);</a:t>
            </a:r>
          </a:p>
          <a:p>
            <a:r>
              <a:rPr lang="ru-RU" b="0" dirty="0"/>
              <a:t>🔹 </a:t>
            </a:r>
            <a:r>
              <a:rPr lang="ru-RU" b="0" dirty="0" err="1"/>
              <a:t>Referenced</a:t>
            </a:r>
            <a:r>
              <a:rPr lang="ru-RU" b="0" dirty="0"/>
              <a:t> — страница недавно использовалась (важно для алгоритмов замещения).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0468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Первое, на что смотрит MMU — это бит </a:t>
            </a:r>
            <a:r>
              <a:rPr lang="ru-RU" b="1" dirty="0" err="1"/>
              <a:t>Present</a:t>
            </a:r>
            <a:r>
              <a:rPr lang="ru-RU" dirty="0"/>
              <a:t>.</a:t>
            </a:r>
          </a:p>
          <a:p>
            <a:r>
              <a:rPr lang="ru-RU" dirty="0"/>
              <a:t>Если он равен 1 — страница находится в оперативной памяти, и можно продолжать работу.</a:t>
            </a:r>
          </a:p>
          <a:p>
            <a:r>
              <a:rPr lang="ru-RU" dirty="0"/>
              <a:t>Если 0 — страница выгружена, и обращение к ней вызовет </a:t>
            </a:r>
            <a:r>
              <a:rPr lang="ru-RU" b="1" dirty="0"/>
              <a:t>исключение </a:t>
            </a:r>
            <a:r>
              <a:rPr lang="ru-RU" b="1" dirty="0" err="1"/>
              <a:t>page</a:t>
            </a:r>
            <a:r>
              <a:rPr lang="ru-RU" b="1" dirty="0"/>
              <a:t> </a:t>
            </a:r>
            <a:r>
              <a:rPr lang="ru-RU" b="1" dirty="0" err="1"/>
              <a:t>fault</a:t>
            </a:r>
            <a:r>
              <a:rPr lang="ru-RU" dirty="0"/>
              <a:t>, чтобы ОС подгрузила её с диска.</a:t>
            </a:r>
          </a:p>
          <a:p>
            <a:r>
              <a:rPr lang="ru-RU" dirty="0"/>
              <a:t>Далее идут </a:t>
            </a:r>
            <a:r>
              <a:rPr lang="ru-RU" b="1" dirty="0"/>
              <a:t>Protection </a:t>
            </a:r>
            <a:r>
              <a:rPr lang="ru-RU" b="1" dirty="0" err="1"/>
              <a:t>bits</a:t>
            </a:r>
            <a:r>
              <a:rPr lang="ru-RU" dirty="0"/>
              <a:t> — они определяют, что разрешено: чтение, запись или выполнение.</a:t>
            </a:r>
          </a:p>
          <a:p>
            <a:r>
              <a:rPr lang="ru-RU" dirty="0"/>
              <a:t>Это основа системы защиты памяти: пользовательский процесс не сможет случайно записать код ядра.</a:t>
            </a:r>
          </a:p>
          <a:p>
            <a:r>
              <a:rPr lang="ru-RU" dirty="0"/>
              <a:t>Также есть </a:t>
            </a:r>
            <a:r>
              <a:rPr lang="ru-RU" b="1" dirty="0" err="1"/>
              <a:t>Supervisor</a:t>
            </a:r>
            <a:r>
              <a:rPr lang="ru-RU" b="1" dirty="0"/>
              <a:t> </a:t>
            </a:r>
            <a:r>
              <a:rPr lang="ru-RU" b="1" dirty="0" err="1"/>
              <a:t>bit</a:t>
            </a:r>
            <a:r>
              <a:rPr lang="ru-RU" dirty="0"/>
              <a:t>, который указывает, доступна ли страница только для ядра (</a:t>
            </a:r>
            <a:r>
              <a:rPr lang="ru-RU" dirty="0" err="1"/>
              <a:t>ring</a:t>
            </a:r>
            <a:r>
              <a:rPr lang="ru-RU" dirty="0"/>
              <a:t> 0) или для всех процессов.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994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Следующие два бита — </a:t>
            </a:r>
            <a:r>
              <a:rPr lang="ru-RU" b="1" dirty="0" err="1"/>
              <a:t>Modified</a:t>
            </a:r>
            <a:r>
              <a:rPr lang="ru-RU" dirty="0"/>
              <a:t> и </a:t>
            </a:r>
            <a:r>
              <a:rPr lang="ru-RU" b="1" dirty="0" err="1"/>
              <a:t>Referenced</a:t>
            </a:r>
            <a:r>
              <a:rPr lang="ru-RU" dirty="0"/>
              <a:t> — позволяют ОС оценивать активность страниц.</a:t>
            </a:r>
          </a:p>
          <a:p>
            <a:r>
              <a:rPr lang="ru-RU" dirty="0"/>
              <a:t>Если страница была изменена, </a:t>
            </a:r>
            <a:r>
              <a:rPr lang="ru-RU" dirty="0" err="1"/>
              <a:t>аппаратно</a:t>
            </a:r>
            <a:r>
              <a:rPr lang="ru-RU" dirty="0"/>
              <a:t> устанавливается бит </a:t>
            </a:r>
            <a:r>
              <a:rPr lang="ru-RU" b="1" dirty="0" err="1"/>
              <a:t>Modified</a:t>
            </a:r>
            <a:r>
              <a:rPr lang="ru-RU" dirty="0"/>
              <a:t> (или </a:t>
            </a:r>
            <a:r>
              <a:rPr lang="ru-RU" i="1" dirty="0" err="1"/>
              <a:t>Dirty</a:t>
            </a:r>
            <a:r>
              <a:rPr lang="ru-RU" dirty="0"/>
              <a:t>).</a:t>
            </a:r>
            <a:br>
              <a:rPr lang="ru-RU" dirty="0"/>
            </a:br>
            <a:r>
              <a:rPr lang="ru-RU" dirty="0"/>
              <a:t>Когда ОС решает выгрузить страницу, она смотрит на этот бит:</a:t>
            </a:r>
            <a:br>
              <a:rPr lang="ru-RU" dirty="0"/>
            </a:br>
            <a:r>
              <a:rPr lang="ru-RU" dirty="0"/>
              <a:t>если он установлен — страницу нужно </a:t>
            </a:r>
            <a:r>
              <a:rPr lang="ru-RU" b="1" dirty="0"/>
              <a:t>сохранить на диск</a:t>
            </a:r>
            <a:r>
              <a:rPr lang="ru-RU" dirty="0"/>
              <a:t>, чтобы не потерять изменения.</a:t>
            </a:r>
          </a:p>
          <a:p>
            <a:r>
              <a:rPr lang="ru-RU" b="1" dirty="0" err="1"/>
              <a:t>Referenced</a:t>
            </a:r>
            <a:r>
              <a:rPr lang="ru-RU" b="1" dirty="0"/>
              <a:t> </a:t>
            </a:r>
            <a:r>
              <a:rPr lang="ru-RU" b="1" dirty="0" err="1"/>
              <a:t>bit</a:t>
            </a:r>
            <a:r>
              <a:rPr lang="ru-RU" dirty="0"/>
              <a:t> показывает, использовалась ли страница недавно.</a:t>
            </a:r>
            <a:br>
              <a:rPr lang="ru-RU" dirty="0"/>
            </a:br>
            <a:r>
              <a:rPr lang="ru-RU" dirty="0"/>
              <a:t>Он помогает системе выбирать, какие страницы оставить в памяти, а какие можно заменить.</a:t>
            </a:r>
          </a:p>
          <a:p>
            <a:r>
              <a:rPr lang="ru-RU" dirty="0"/>
              <a:t>Эти биты устанавливаются автоматически самим процессором при обращениях к памяти.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5952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современных архитектурах, например x86-64, размер записи таблицы страниц составляет </a:t>
            </a:r>
            <a:r>
              <a:rPr lang="ru-RU" b="1" dirty="0"/>
              <a:t>64 бита</a:t>
            </a:r>
            <a:r>
              <a:rPr lang="ru-RU" dirty="0"/>
              <a:t>.</a:t>
            </a:r>
          </a:p>
          <a:p>
            <a:r>
              <a:rPr lang="ru-RU" dirty="0"/>
              <a:t>Из них 52 бита отводятся под </a:t>
            </a:r>
            <a:r>
              <a:rPr lang="ru-RU" b="1" dirty="0"/>
              <a:t>номер физического фрейма</a:t>
            </a:r>
            <a:r>
              <a:rPr lang="ru-RU" dirty="0"/>
              <a:t> — этого достаточно, чтобы адресовать терабайты памяти при размере страницы 4 КБ.</a:t>
            </a:r>
          </a:p>
          <a:p>
            <a:r>
              <a:rPr lang="ru-RU" dirty="0"/>
              <a:t>Остальные 12 бит — это набор служебных флагов, о которых мы только что говорили.</a:t>
            </a:r>
          </a:p>
          <a:p>
            <a:r>
              <a:rPr lang="ru-RU" dirty="0"/>
              <a:t>Несмотря на различия между архитектурами (Intel, ARM, RISC-V и др.), идея везде одинакова:</a:t>
            </a:r>
            <a:br>
              <a:rPr lang="ru-RU" dirty="0"/>
            </a:br>
            <a:r>
              <a:rPr lang="ru-RU" dirty="0"/>
              <a:t>одна таблица страниц хранит, где находятся страницы и какие у них права доступа.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911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Таблицы страниц — это ещё и механизм защиты.</a:t>
            </a:r>
          </a:p>
          <a:p>
            <a:r>
              <a:rPr lang="ru-RU" dirty="0"/>
              <a:t>Обычно страницы ядра и пользовательские страницы хранятся в одном адресном пространстве, но имеют разные флаги доступа.</a:t>
            </a:r>
          </a:p>
          <a:p>
            <a:r>
              <a:rPr lang="ru-RU" dirty="0"/>
              <a:t>Попытка пользователя обратиться к адресу ядра немедленно вызывает </a:t>
            </a:r>
            <a:r>
              <a:rPr lang="ru-RU" b="1" dirty="0" err="1"/>
              <a:t>fault</a:t>
            </a:r>
            <a:r>
              <a:rPr lang="ru-RU" dirty="0"/>
              <a:t>.</a:t>
            </a:r>
          </a:p>
          <a:p>
            <a:r>
              <a:rPr lang="ru-RU" dirty="0"/>
              <a:t>Кроме того, многие ОС специально не выделяют страницы в начале памяти (адрес 0), чтобы ловить ошибки вроде обращения к неинициализированному указателю.</a:t>
            </a:r>
          </a:p>
          <a:p>
            <a:r>
              <a:rPr lang="ru-RU" dirty="0"/>
              <a:t>Например, пользовательские программы часто начинают с </a:t>
            </a:r>
            <a:r>
              <a:rPr lang="ru-RU" b="1" dirty="0"/>
              <a:t>адреса 0x1000 (4К)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Тогда любое обращение к нулю вызывает исключение, и программа может быть безопасно остановлена.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6019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Таблицы страниц — это сердце механизма отображения виртуальной памяти.</a:t>
            </a:r>
          </a:p>
          <a:p>
            <a:r>
              <a:rPr lang="ru-RU" dirty="0"/>
              <a:t>Они решают три задачи одновременно:</a:t>
            </a:r>
          </a:p>
          <a:p>
            <a:r>
              <a:rPr lang="ru-RU" dirty="0"/>
              <a:t>1️⃣ Определяют, где физически хранится каждая страница.</a:t>
            </a:r>
          </a:p>
          <a:p>
            <a:r>
              <a:rPr lang="ru-RU" dirty="0"/>
              <a:t>2️⃣ Контролируют права доступа — чтение, запись, выполнение.</a:t>
            </a:r>
          </a:p>
          <a:p>
            <a:r>
              <a:rPr lang="ru-RU" dirty="0"/>
              <a:t>3️⃣ Позволяют системе следить за использованием страниц и выбирать, какие можно выгрузить.</a:t>
            </a:r>
          </a:p>
          <a:p>
            <a:r>
              <a:rPr lang="ru-RU" dirty="0"/>
              <a:t>Таблицы создаются и заполняются операционной системой, но работают </a:t>
            </a:r>
            <a:r>
              <a:rPr lang="ru-RU" dirty="0" err="1"/>
              <a:t>аппаратно</a:t>
            </a:r>
            <a:r>
              <a:rPr lang="ru-RU" dirty="0"/>
              <a:t> через MMU, что делает систему быстрой и безопасной.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7249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простейшей реализации каждая страница виртуальной памяти имеет свою запись в таблице.</a:t>
            </a:r>
          </a:p>
          <a:p>
            <a:r>
              <a:rPr lang="ru-RU" dirty="0"/>
              <a:t>Но при больших адресных пространствах это становится невозможным.</a:t>
            </a:r>
          </a:p>
          <a:p>
            <a:r>
              <a:rPr lang="ru-RU" dirty="0"/>
              <a:t>В 32-битной системе с 4-КБ страницами требуется миллион записей — это ещё допустимо.</a:t>
            </a:r>
          </a:p>
          <a:p>
            <a:r>
              <a:rPr lang="ru-RU" dirty="0"/>
              <a:t>А в 64-битной — это уже миллионы терабайтов данных!</a:t>
            </a:r>
          </a:p>
          <a:p>
            <a:r>
              <a:rPr lang="ru-RU" dirty="0"/>
              <a:t>Поэтому современные процессоры используют </a:t>
            </a:r>
            <a:r>
              <a:rPr lang="ru-RU" b="1" dirty="0"/>
              <a:t>иерархию таблиц</a:t>
            </a:r>
            <a:r>
              <a:rPr lang="ru-RU" dirty="0"/>
              <a:t>, где таблица делится на несколько уровней, и в памяти хранятся только те части, которые реально используются.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5524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Принцип прост: вместо одной гигантской таблицы создаётся дерево таблиц.</a:t>
            </a:r>
          </a:p>
          <a:p>
            <a:r>
              <a:rPr lang="ru-RU" b="0" dirty="0"/>
              <a:t>Виртуальный адрес теперь делится не на два поля (номер страницы и смещение), а на несколько:</a:t>
            </a:r>
          </a:p>
          <a:p>
            <a:r>
              <a:rPr lang="ru-RU" b="0" dirty="0"/>
              <a:t>— номер записи в главной таблице,</a:t>
            </a:r>
            <a:br>
              <a:rPr lang="ru-RU" b="0" dirty="0"/>
            </a:br>
            <a:r>
              <a:rPr lang="ru-RU" b="0" dirty="0"/>
              <a:t>— номер записи в таблице следующего уровня,</a:t>
            </a:r>
            <a:br>
              <a:rPr lang="ru-RU" b="0" dirty="0"/>
            </a:br>
            <a:r>
              <a:rPr lang="ru-RU" b="0" dirty="0"/>
              <a:t>— и так далее,</a:t>
            </a:r>
            <a:br>
              <a:rPr lang="ru-RU" b="0" dirty="0"/>
            </a:br>
            <a:r>
              <a:rPr lang="ru-RU" b="0" dirty="0"/>
              <a:t>— плюс смещение внутри страницы.</a:t>
            </a:r>
          </a:p>
          <a:p>
            <a:r>
              <a:rPr lang="ru-RU" b="0" dirty="0"/>
              <a:t>Таким образом, память под таблицы выделяется только для реально используемых областей адресного пространства.</a:t>
            </a:r>
          </a:p>
          <a:p>
            <a:r>
              <a:rPr lang="ru-RU" b="0" dirty="0"/>
              <a:t>Если программа не использует определённые диапазоны адресов — соответствующие подтаблицы даже не создаются.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7490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Посмотрим на реальный пример — </a:t>
            </a:r>
            <a:r>
              <a:rPr lang="ru-RU" b="1" dirty="0"/>
              <a:t>двухуровневую таблицу</a:t>
            </a:r>
            <a:r>
              <a:rPr lang="ru-RU" dirty="0"/>
              <a:t>, типичную для 32-битных архитектур.</a:t>
            </a:r>
          </a:p>
          <a:p>
            <a:r>
              <a:rPr lang="ru-RU" dirty="0"/>
              <a:t>32-битный виртуальный адрес делится на три поля:</a:t>
            </a:r>
          </a:p>
          <a:p>
            <a:r>
              <a:rPr lang="ru-RU" dirty="0"/>
              <a:t>🔹 </a:t>
            </a:r>
            <a:r>
              <a:rPr lang="ru-RU" b="1" dirty="0"/>
              <a:t>10 бит</a:t>
            </a:r>
            <a:r>
              <a:rPr lang="ru-RU" dirty="0"/>
              <a:t> — номер записи в таблице верхнего уровня (Page Directory),</a:t>
            </a:r>
            <a:br>
              <a:rPr lang="ru-RU" dirty="0"/>
            </a:br>
            <a:r>
              <a:rPr lang="ru-RU" dirty="0"/>
              <a:t>🔹 </a:t>
            </a:r>
            <a:r>
              <a:rPr lang="ru-RU" b="1" dirty="0"/>
              <a:t>10 бит</a:t>
            </a:r>
            <a:r>
              <a:rPr lang="ru-RU" dirty="0"/>
              <a:t> — номер записи в таблице второго уровня (Page </a:t>
            </a:r>
            <a:r>
              <a:rPr lang="ru-RU" dirty="0" err="1"/>
              <a:t>Table</a:t>
            </a:r>
            <a:r>
              <a:rPr lang="ru-RU" dirty="0"/>
              <a:t>),</a:t>
            </a:r>
            <a:br>
              <a:rPr lang="ru-RU" dirty="0"/>
            </a:br>
            <a:r>
              <a:rPr lang="ru-RU" dirty="0"/>
              <a:t>🔹 </a:t>
            </a:r>
            <a:r>
              <a:rPr lang="ru-RU" b="1" dirty="0"/>
              <a:t>12 бит</a:t>
            </a:r>
            <a:r>
              <a:rPr lang="ru-RU" dirty="0"/>
              <a:t> — смещение внутри страницы.</a:t>
            </a:r>
          </a:p>
          <a:p>
            <a:r>
              <a:rPr lang="ru-RU" dirty="0"/>
              <a:t>Каждая таблица второго уровня описывает 4 МБ виртуальной памяти (1024 страницы × 4 КБ).</a:t>
            </a:r>
          </a:p>
          <a:p>
            <a:r>
              <a:rPr lang="ru-RU" dirty="0"/>
              <a:t>Таким образом, одна таблица верхнего уровня покрывает всё 4-гигабайтное пространство, но в памяти реально находятся только те таблицы второго уровня, которые используются.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8860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Современные 64-битные процессоры (например, архитектура x86-64) используют </a:t>
            </a:r>
            <a:r>
              <a:rPr lang="ru-RU" b="1" dirty="0"/>
              <a:t>четырёхуровневую таблицу страниц</a:t>
            </a:r>
            <a:r>
              <a:rPr lang="ru-RU" dirty="0"/>
              <a:t>.</a:t>
            </a:r>
          </a:p>
          <a:p>
            <a:r>
              <a:rPr lang="ru-RU" dirty="0"/>
              <a:t>Здесь реально используется 48 бит из 64 возможных, и они делятся следующим образом:</a:t>
            </a:r>
          </a:p>
          <a:p>
            <a:r>
              <a:rPr lang="ru-RU" dirty="0"/>
              <a:t>9 бит — для таблицы самого верхнего уровня (PML4),</a:t>
            </a:r>
          </a:p>
          <a:p>
            <a:r>
              <a:rPr lang="ru-RU" dirty="0"/>
              <a:t>9 бит — для следующего уровня (PDPT),</a:t>
            </a:r>
          </a:p>
          <a:p>
            <a:r>
              <a:rPr lang="ru-RU" dirty="0"/>
              <a:t>9 бит — для директории (PD),</a:t>
            </a:r>
          </a:p>
          <a:p>
            <a:r>
              <a:rPr lang="ru-RU" dirty="0"/>
              <a:t>9 бит — для таблицы страниц (PT),</a:t>
            </a:r>
          </a:p>
          <a:p>
            <a:r>
              <a:rPr lang="ru-RU" dirty="0"/>
              <a:t>12 бит — для смещения внутри страницы.</a:t>
            </a:r>
          </a:p>
          <a:p>
            <a:r>
              <a:rPr lang="ru-RU" dirty="0"/>
              <a:t>Каждая таблица содержит 512 записей (2⁹).</a:t>
            </a:r>
          </a:p>
          <a:p>
            <a:r>
              <a:rPr lang="ru-RU" dirty="0"/>
              <a:t>Такая структура создаёт гигантское, но эффективно управляемое адресное пространство, где реально загружается только малая часть таблиц.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2558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Главное преимущество многоуровневой организации — </a:t>
            </a:r>
            <a:r>
              <a:rPr lang="ru-RU" b="1" dirty="0"/>
              <a:t>экономия памяти</a:t>
            </a:r>
            <a:r>
              <a:rPr lang="ru-RU" dirty="0"/>
              <a:t>.</a:t>
            </a:r>
          </a:p>
          <a:p>
            <a:r>
              <a:rPr lang="ru-RU" dirty="0"/>
              <a:t>Система хранит в памяти только те таблицы, которые действительно используются, остальные просто не существуют.</a:t>
            </a:r>
          </a:p>
          <a:p>
            <a:r>
              <a:rPr lang="ru-RU" dirty="0"/>
              <a:t>Это делает возможным использование огромных адресных пространств, не расходуя ресурсы на пустые области.</a:t>
            </a:r>
          </a:p>
          <a:p>
            <a:r>
              <a:rPr lang="ru-RU" dirty="0"/>
              <a:t>Кроме того, иерархическая структура позволяет кэшировать часто используемые части таблиц — через </a:t>
            </a:r>
            <a:r>
              <a:rPr lang="ru-RU" b="1" dirty="0"/>
              <a:t>Translation </a:t>
            </a:r>
            <a:r>
              <a:rPr lang="ru-RU" b="1" dirty="0" err="1"/>
              <a:t>Lookaside</a:t>
            </a:r>
            <a:r>
              <a:rPr lang="ru-RU" b="1" dirty="0"/>
              <a:t> </a:t>
            </a:r>
            <a:r>
              <a:rPr lang="ru-RU" b="1" dirty="0" err="1"/>
              <a:t>Buffer</a:t>
            </a:r>
            <a:r>
              <a:rPr lang="ru-RU" b="1" dirty="0"/>
              <a:t> (TLB)</a:t>
            </a:r>
            <a:r>
              <a:rPr lang="ru-RU" dirty="0"/>
              <a:t>.</a:t>
            </a:r>
          </a:p>
          <a:p>
            <a:r>
              <a:rPr lang="ru-RU" dirty="0"/>
              <a:t>Таким образом, несмотря на глубину вложенности, работа с памятью остаётся быстрой.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25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Конечно, у многоуровневых таблиц есть и цена — при обращении к памяти может потребоваться несколько чтений из таблиц.</a:t>
            </a:r>
          </a:p>
          <a:p>
            <a:r>
              <a:rPr lang="ru-RU" b="0" dirty="0"/>
              <a:t>Например, при четырёх уровнях нужно до четырёх обращений к памяти, прежде чем получить физический адрес.</a:t>
            </a:r>
          </a:p>
          <a:p>
            <a:r>
              <a:rPr lang="ru-RU" b="0" dirty="0"/>
              <a:t>Чтобы избежать замедления, процессоры используют TLB — кэш преобразований адресов.</a:t>
            </a:r>
          </a:p>
          <a:p>
            <a:r>
              <a:rPr lang="ru-RU" b="0" dirty="0"/>
              <a:t>Он хранит результаты последних обращений, и если нужная страница уже есть в TLB, MMU сразу подставляет физический адрес без чтения таблицы.</a:t>
            </a:r>
          </a:p>
          <a:p>
            <a:r>
              <a:rPr lang="ru-RU" b="0" dirty="0"/>
              <a:t>Кроме того, для ускорения иногда применяются большие страницы — по 2 МБ или 1 ГБ, чтобы уменьшить глубину и количество записей.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40066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Многоуровневые таблицы страниц — это компромисс между масштабируемостью и скоростью.</a:t>
            </a:r>
          </a:p>
          <a:p>
            <a:r>
              <a:rPr lang="ru-RU" dirty="0"/>
              <a:t>Они делают возможной работу с терабайтными адресными пространствами, не требуя колоссальных таблиц в памяти.</a:t>
            </a:r>
          </a:p>
          <a:p>
            <a:r>
              <a:rPr lang="ru-RU" dirty="0"/>
              <a:t>При этом за счёт кэширования и больших страниц производительность остаётся высокой.</a:t>
            </a:r>
          </a:p>
          <a:p>
            <a:r>
              <a:rPr lang="ru-RU" dirty="0"/>
              <a:t>Такой подход стал стандартом в x86-64, ARM и RISC-V, и лежит в основе всех современных операционных систем.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2911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x86 исполнение и чтение неразделимы.</a:t>
            </a:r>
            <a:br>
              <a:rPr lang="ru-RU" dirty="0"/>
            </a:br>
            <a:r>
              <a:rPr lang="ru-RU" dirty="0"/>
              <a:t>Это наследие архитектуры, где процессор просто читает байты инструкции, не отличая их от обычных данных.</a:t>
            </a:r>
          </a:p>
          <a:p>
            <a:r>
              <a:rPr lang="ru-RU" dirty="0"/>
              <a:t>Но современные архитектуры вроде ARM и RISC-V пошли дальше — они позволяют </a:t>
            </a:r>
            <a:r>
              <a:rPr lang="ru-RU" dirty="0" err="1"/>
              <a:t>аппаратно</a:t>
            </a:r>
            <a:r>
              <a:rPr lang="ru-RU" dirty="0"/>
              <a:t> ограничить чтение кода, создавая настоящие </a:t>
            </a:r>
            <a:r>
              <a:rPr lang="ru-RU" dirty="0" err="1"/>
              <a:t>execute-only</a:t>
            </a:r>
            <a:r>
              <a:rPr lang="ru-RU" dirty="0"/>
              <a:t> страницы.</a:t>
            </a:r>
          </a:p>
          <a:p>
            <a:r>
              <a:rPr lang="ru-RU" dirty="0"/>
              <a:t>Это важно для безопасности: программа может выполнять код, но не может анализировать его содержимое —</a:t>
            </a:r>
            <a:br>
              <a:rPr lang="ru-RU" dirty="0"/>
            </a:br>
            <a:r>
              <a:rPr lang="ru-RU" dirty="0"/>
              <a:t>то, что раньше требовало «магии» теперь доступно прямо в железе.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881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Иногда кажется, что страница “только для записи” могла бы повысить безопасность,</a:t>
            </a:r>
            <a:br>
              <a:rPr lang="ru-RU" dirty="0"/>
            </a:br>
            <a:r>
              <a:rPr lang="ru-RU" dirty="0"/>
              <a:t>например, защитив данные от чтения.</a:t>
            </a:r>
          </a:p>
          <a:p>
            <a:r>
              <a:rPr lang="ru-RU" dirty="0"/>
              <a:t>Но в действительности, на уровне железа это невозможно:</a:t>
            </a:r>
            <a:br>
              <a:rPr lang="ru-RU" dirty="0"/>
            </a:br>
            <a:r>
              <a:rPr lang="ru-RU" dirty="0"/>
              <a:t>чтобы что-то записать, процессор должен предварительно считать строку памяти.</a:t>
            </a:r>
          </a:p>
          <a:p>
            <a:r>
              <a:rPr lang="ru-RU" dirty="0"/>
              <a:t>На x86 и других популярных архитектурах — </a:t>
            </a:r>
            <a:r>
              <a:rPr lang="ru-RU" b="1" dirty="0"/>
              <a:t>бит RW всегда включает чтение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а “</a:t>
            </a:r>
            <a:r>
              <a:rPr lang="ru-RU" dirty="0" err="1"/>
              <a:t>write-only</a:t>
            </a:r>
            <a:r>
              <a:rPr lang="ru-RU" dirty="0"/>
              <a:t>” режим существует лишь в теории.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02911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 включения механизма страничной адресации процессор видит память «как есть» — просто набор физических адресов.</a:t>
            </a:r>
          </a:p>
          <a:p>
            <a:r>
              <a:rPr lang="ru-RU" dirty="0"/>
              <a:t>Поэтому операционная система не может сразу включить виртуальную память.</a:t>
            </a:r>
            <a:br>
              <a:rPr lang="ru-RU" dirty="0"/>
            </a:br>
            <a:r>
              <a:rPr lang="ru-RU" dirty="0"/>
              <a:t>Сначала она должна </a:t>
            </a:r>
            <a:r>
              <a:rPr lang="ru-RU" b="1" dirty="0"/>
              <a:t>сама руками</a:t>
            </a:r>
            <a:r>
              <a:rPr lang="ru-RU" dirty="0"/>
              <a:t> создать таблицу страниц, где каждая запись указывает на </a:t>
            </a:r>
            <a:r>
              <a:rPr lang="ru-RU" b="1" dirty="0"/>
              <a:t>физические адреса страниц памяти</a:t>
            </a:r>
            <a:r>
              <a:rPr lang="ru-RU" dirty="0"/>
              <a:t>.</a:t>
            </a:r>
          </a:p>
          <a:p>
            <a:r>
              <a:rPr lang="ru-RU" dirty="0"/>
              <a:t>Эта таблица создаётся в физической памяти, и именно её адрес загружается в регистр </a:t>
            </a:r>
            <a:r>
              <a:rPr lang="ru-RU" b="1" dirty="0"/>
              <a:t>CR3</a:t>
            </a:r>
            <a:r>
              <a:rPr lang="ru-RU" dirty="0"/>
              <a:t> — это физический адрес, а не виртуальный.</a:t>
            </a:r>
            <a:r>
              <a:rPr lang="en-US" dirty="0"/>
              <a:t> </a:t>
            </a:r>
            <a:r>
              <a:rPr lang="ru-RU" dirty="0"/>
              <a:t>Затем ОС включает бит </a:t>
            </a:r>
            <a:r>
              <a:rPr lang="ru-RU" b="1" dirty="0"/>
              <a:t>PG</a:t>
            </a:r>
            <a:r>
              <a:rPr lang="ru-RU" dirty="0"/>
              <a:t> в регистре </a:t>
            </a:r>
            <a:r>
              <a:rPr lang="ru-RU" b="1" dirty="0"/>
              <a:t>CR0</a:t>
            </a:r>
            <a:r>
              <a:rPr lang="ru-RU" dirty="0"/>
              <a:t>, и процессор начинает интерпретировать все адреса как виртуальные, проходящие через таблицу трансляции.</a:t>
            </a:r>
          </a:p>
          <a:p>
            <a:r>
              <a:rPr lang="ru-RU" dirty="0"/>
              <a:t>Но если в таблице не будет подходящих записей — процессор просто «потеряет» саму ОС.</a:t>
            </a:r>
            <a:br>
              <a:rPr lang="ru-RU" dirty="0"/>
            </a:br>
            <a:r>
              <a:rPr lang="ru-RU" dirty="0"/>
              <a:t>Поэтому сначала всегда создают </a:t>
            </a:r>
            <a:r>
              <a:rPr lang="ru-RU" b="1" dirty="0" err="1"/>
              <a:t>identity</a:t>
            </a:r>
            <a:r>
              <a:rPr lang="ru-RU" b="1" dirty="0"/>
              <a:t> </a:t>
            </a:r>
            <a:r>
              <a:rPr lang="ru-RU" b="1" dirty="0" err="1"/>
              <a:t>mapping</a:t>
            </a:r>
            <a:r>
              <a:rPr lang="ru-RU" dirty="0"/>
              <a:t> — временное отображение, где виртуальные адреса совпадают с физическими.</a:t>
            </a:r>
            <a:br>
              <a:rPr lang="ru-RU" dirty="0"/>
            </a:br>
            <a:r>
              <a:rPr lang="ru-RU" dirty="0"/>
              <a:t>Это позволяет системе безопасно включить </a:t>
            </a:r>
            <a:r>
              <a:rPr lang="ru-RU" dirty="0" err="1"/>
              <a:t>paging</a:t>
            </a:r>
            <a:r>
              <a:rPr lang="ru-RU" dirty="0"/>
              <a:t> и перейти в новый, виртуальный мир.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79205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Многоуровневая таблица страниц даёт гибкость, но у неё есть проблема — медленное обращение.</a:t>
            </a:r>
          </a:p>
          <a:p>
            <a:r>
              <a:rPr lang="ru-RU" b="0" dirty="0"/>
              <a:t>Чтобы вычислить физический адрес, MMU должна пройти через несколько уровней таблиц, а это может занять до четырёх обращений к памяти.</a:t>
            </a:r>
          </a:p>
          <a:p>
            <a:r>
              <a:rPr lang="ru-RU" b="0" dirty="0"/>
              <a:t>Каждое обращение к памяти может занимать десятки наносекунд — а программа делает миллионы таких обращений в секунду.</a:t>
            </a:r>
          </a:p>
          <a:p>
            <a:r>
              <a:rPr lang="ru-RU" b="0" dirty="0"/>
              <a:t>Поэтому без ускорения система просто «задохнулась» бы от накладных расходов.</a:t>
            </a:r>
          </a:p>
          <a:p>
            <a:r>
              <a:rPr lang="ru-RU" b="0" dirty="0"/>
              <a:t>Решение — специальный кэш преобразований адресов, называемый TLB (Translation </a:t>
            </a:r>
            <a:r>
              <a:rPr lang="ru-RU" b="0" dirty="0" err="1"/>
              <a:t>Lookaside</a:t>
            </a:r>
            <a:r>
              <a:rPr lang="ru-RU" b="0" dirty="0"/>
              <a:t> </a:t>
            </a:r>
            <a:r>
              <a:rPr lang="ru-RU" b="0" dirty="0" err="1"/>
              <a:t>Buffer</a:t>
            </a:r>
            <a:r>
              <a:rPr lang="ru-RU" b="0" dirty="0"/>
              <a:t>).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3354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Translation </a:t>
            </a:r>
            <a:r>
              <a:rPr lang="ru-RU" b="0" dirty="0" err="1"/>
              <a:t>Lookaside</a:t>
            </a:r>
            <a:r>
              <a:rPr lang="ru-RU" b="0" dirty="0"/>
              <a:t> </a:t>
            </a:r>
            <a:r>
              <a:rPr lang="ru-RU" b="0" dirty="0" err="1"/>
              <a:t>Buffer</a:t>
            </a:r>
            <a:r>
              <a:rPr lang="ru-RU" b="0" dirty="0"/>
              <a:t> — это очень быстрая память, встроенная прямо в процессор.</a:t>
            </a:r>
          </a:p>
          <a:p>
            <a:r>
              <a:rPr lang="ru-RU" b="0" dirty="0"/>
              <a:t>В ней хранятся несколько десятков или сотен последних преобразований из виртуальных страниц в физические фреймы.</a:t>
            </a:r>
          </a:p>
          <a:p>
            <a:r>
              <a:rPr lang="ru-RU" b="0" dirty="0"/>
              <a:t>Когда программа обращается к памяти, MMU сначала смотрит в TLB.</a:t>
            </a:r>
          </a:p>
          <a:p>
            <a:r>
              <a:rPr lang="ru-RU" b="0" dirty="0"/>
              <a:t>Если соответствие найдено (TLB </a:t>
            </a:r>
            <a:r>
              <a:rPr lang="ru-RU" b="0" dirty="0" err="1"/>
              <a:t>hit</a:t>
            </a:r>
            <a:r>
              <a:rPr lang="ru-RU" b="0" dirty="0"/>
              <a:t>) — физический адрес извлекается немедленно, без чтения таблиц.</a:t>
            </a:r>
          </a:p>
          <a:p>
            <a:r>
              <a:rPr lang="ru-RU" b="0" dirty="0"/>
              <a:t>Если запись не найдена (TLB </a:t>
            </a:r>
            <a:r>
              <a:rPr lang="ru-RU" b="0" dirty="0" err="1"/>
              <a:t>miss</a:t>
            </a:r>
            <a:r>
              <a:rPr lang="ru-RU" b="0" dirty="0"/>
              <a:t>) — MMU вынуждена пройти через таблицы страниц, а затем добавить найденную запись обратно в TLB, чтобы ускорить последующие обращения.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33294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Внутренне TLB устроен как ассоциативный кэш.</a:t>
            </a:r>
          </a:p>
          <a:p>
            <a:r>
              <a:rPr lang="ru-RU" b="0" dirty="0"/>
              <a:t>Каждая запись хранит номер виртуальной страницы, физический фрейм и сопутствующие флаги — такие же, как в таблице страниц: права доступа, флаг присутствия, модификации и т. д.</a:t>
            </a:r>
          </a:p>
          <a:p>
            <a:r>
              <a:rPr lang="ru-RU" b="0" dirty="0"/>
              <a:t>Размер TLB зависит от архитектуры: от нескольких десятков записей в простых CPU до нескольких тысяч в современных многоядерных системах.</a:t>
            </a:r>
          </a:p>
          <a:p>
            <a:r>
              <a:rPr lang="ru-RU" b="0" dirty="0"/>
              <a:t>Часто существует два TLB:</a:t>
            </a:r>
            <a:br>
              <a:rPr lang="ru-RU" b="0" dirty="0"/>
            </a:br>
            <a:r>
              <a:rPr lang="ru-RU" b="0" dirty="0"/>
              <a:t>— ITLB (</a:t>
            </a:r>
            <a:r>
              <a:rPr lang="ru-RU" b="0" dirty="0" err="1"/>
              <a:t>Instruction</a:t>
            </a:r>
            <a:r>
              <a:rPr lang="ru-RU" b="0" dirty="0"/>
              <a:t> TLB) — для инструкций,</a:t>
            </a:r>
            <a:br>
              <a:rPr lang="ru-RU" b="0" dirty="0"/>
            </a:br>
            <a:r>
              <a:rPr lang="ru-RU" b="0" dirty="0"/>
              <a:t>— DTLB (Data TLB) — для данных.</a:t>
            </a:r>
          </a:p>
          <a:p>
            <a:r>
              <a:rPr lang="ru-RU" b="0" dirty="0"/>
              <a:t>В некоторых архитектурах — единый </a:t>
            </a:r>
            <a:r>
              <a:rPr lang="ru-RU" b="0" dirty="0" err="1"/>
              <a:t>unified</a:t>
            </a:r>
            <a:r>
              <a:rPr lang="ru-RU" b="0" dirty="0"/>
              <a:t> TLB.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23064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</a:t>
            </a:r>
            <a:r>
              <a:rPr lang="ru-RU" b="1" dirty="0"/>
              <a:t>TLB </a:t>
            </a:r>
            <a:r>
              <a:rPr lang="ru-RU" b="1" dirty="0" err="1"/>
              <a:t>miss</a:t>
            </a:r>
            <a:r>
              <a:rPr lang="ru-RU" dirty="0"/>
              <a:t> процессор должен найти запись в таблице страниц.</a:t>
            </a:r>
          </a:p>
          <a:p>
            <a:r>
              <a:rPr lang="ru-RU" dirty="0"/>
              <a:t>Это может происходить двумя способами:</a:t>
            </a:r>
          </a:p>
          <a:p>
            <a:r>
              <a:rPr lang="ru-RU" dirty="0"/>
              <a:t>🔹 </a:t>
            </a:r>
            <a:r>
              <a:rPr lang="ru-RU" b="1" dirty="0" err="1"/>
              <a:t>Hardware-managed</a:t>
            </a:r>
            <a:r>
              <a:rPr lang="ru-RU" dirty="0"/>
              <a:t> — как в x86: поиск и обновление TLB полностью выполняются железом, прозрачно для ОС.</a:t>
            </a:r>
          </a:p>
          <a:p>
            <a:r>
              <a:rPr lang="ru-RU" dirty="0"/>
              <a:t>🔹 </a:t>
            </a:r>
            <a:r>
              <a:rPr lang="ru-RU" b="1" dirty="0"/>
              <a:t>Software-</a:t>
            </a:r>
            <a:r>
              <a:rPr lang="ru-RU" b="1" dirty="0" err="1"/>
              <a:t>managed</a:t>
            </a:r>
            <a:r>
              <a:rPr lang="ru-RU" dirty="0"/>
              <a:t> — как в архитектурах MIPS или SPARC: при промахе процессор вызывает ОС, и ядро само находит нужный фрейм и записывает его в TLB.</a:t>
            </a:r>
          </a:p>
          <a:p>
            <a:r>
              <a:rPr lang="ru-RU" dirty="0"/>
              <a:t>После этого команда, вызвавшая обращение, выполняется повторно, уже с обновлённым TLB.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274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При переключении между процессами возникает новая проблема: у каждого процесса — своя таблица страниц.</a:t>
            </a:r>
          </a:p>
          <a:p>
            <a:r>
              <a:rPr lang="ru-RU" b="0" dirty="0"/>
              <a:t>Значит, записи, оставшиеся в TLB от предыдущего процесса, становятся недействительными.</a:t>
            </a:r>
          </a:p>
          <a:p>
            <a:r>
              <a:rPr lang="ru-RU" b="0" dirty="0"/>
              <a:t>Один вариант — просто очищать TLB при каждом переключении контекста, но это дорого.</a:t>
            </a:r>
          </a:p>
          <a:p>
            <a:r>
              <a:rPr lang="ru-RU" b="0" dirty="0"/>
              <a:t>Поэтому в современных архитектурах введён ASID (Address Space </a:t>
            </a:r>
            <a:r>
              <a:rPr lang="ru-RU" b="0" dirty="0" err="1"/>
              <a:t>Identifier</a:t>
            </a:r>
            <a:r>
              <a:rPr lang="ru-RU" b="0" dirty="0"/>
              <a:t>) — уникальный номер пространства адресов.</a:t>
            </a:r>
          </a:p>
          <a:p>
            <a:r>
              <a:rPr lang="ru-RU" b="0" dirty="0"/>
              <a:t>С его помощью процессор различает, какие записи TLB принадлежат какому процессу, и может хранить их вместе, не очищая весь буфер.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48826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 обычная кэш-память, TLB бывает </a:t>
            </a:r>
            <a:r>
              <a:rPr lang="ru-RU" b="1" dirty="0"/>
              <a:t>многоуровневым</a:t>
            </a:r>
            <a:r>
              <a:rPr lang="ru-RU" dirty="0"/>
              <a:t>.</a:t>
            </a:r>
          </a:p>
          <a:p>
            <a:r>
              <a:rPr lang="ru-RU" dirty="0"/>
              <a:t>Например, L1 TLB — очень быстрый, но маленький (16–64 записей).</a:t>
            </a:r>
          </a:p>
          <a:p>
            <a:r>
              <a:rPr lang="ru-RU" dirty="0"/>
              <a:t>Если нужной записи нет в L1, MMU ищет её в L2 TLB — большом, но более медленном буфере.</a:t>
            </a:r>
          </a:p>
          <a:p>
            <a:r>
              <a:rPr lang="ru-RU" dirty="0"/>
              <a:t>Это позволяет поддерживать высокий уровень попаданий даже при множестве одновременно работающих процессов.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3331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Важно понимать: обращение к кэшу процессора происходит по физическому адресу.</a:t>
            </a:r>
          </a:p>
          <a:p>
            <a:r>
              <a:rPr lang="ru-RU" b="0" dirty="0"/>
              <a:t>Поэтому перед каждым чтением данных MMU должна преобразовать виртуальный адрес → физический.</a:t>
            </a:r>
          </a:p>
          <a:p>
            <a:r>
              <a:rPr lang="ru-RU" b="0" dirty="0"/>
              <a:t>И если в TLB есть нужная запись — это происходит мгновенно.</a:t>
            </a:r>
          </a:p>
          <a:p>
            <a:r>
              <a:rPr lang="ru-RU" b="0" dirty="0"/>
              <a:t>Но если её нет — CPU вынужден ждать, пока произойдёт доступ к таблице страниц и, возможно, даже к диску.</a:t>
            </a:r>
          </a:p>
          <a:p>
            <a:r>
              <a:rPr lang="ru-RU" b="0" dirty="0"/>
              <a:t>Именно поэтому эффективность TLB напрямую определяет скорость всей системы.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11499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Подведём итог.</a:t>
            </a:r>
          </a:p>
          <a:p>
            <a:r>
              <a:rPr lang="ru-RU" dirty="0"/>
              <a:t>Translation </a:t>
            </a:r>
            <a:r>
              <a:rPr lang="ru-RU" dirty="0" err="1"/>
              <a:t>Lookaside</a:t>
            </a:r>
            <a:r>
              <a:rPr lang="ru-RU" dirty="0"/>
              <a:t> </a:t>
            </a:r>
            <a:r>
              <a:rPr lang="ru-RU" dirty="0" err="1"/>
              <a:t>Buffer</a:t>
            </a:r>
            <a:r>
              <a:rPr lang="ru-RU" dirty="0"/>
              <a:t> — это аппаратный кэш, который делает возможным использование виртуальной памяти на практике.</a:t>
            </a:r>
          </a:p>
          <a:p>
            <a:r>
              <a:rPr lang="ru-RU" dirty="0"/>
              <a:t>Он хранит последние преобразования адресов, позволяет мгновенно находить физические страницы и поддерживает многозадачность без потери скорости.</a:t>
            </a:r>
          </a:p>
          <a:p>
            <a:r>
              <a:rPr lang="ru-RU" dirty="0"/>
              <a:t>Без TLB многоуровневые таблицы страниц сделали бы систему крайне медленной.</a:t>
            </a:r>
          </a:p>
          <a:p>
            <a:r>
              <a:rPr lang="ru-RU" dirty="0"/>
              <a:t>Поэтому TLB — один из самых важных элементов архитектуры современных процессоров.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84341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операционная система изменяет таблицу страниц, например добавляет новую страницу, изменяет права доступа или освобождает память, процессор об этом не узнаёт автоматически.</a:t>
            </a:r>
          </a:p>
          <a:p>
            <a:r>
              <a:rPr lang="ru-RU" dirty="0"/>
              <a:t>MMU продолжает использовать старые трансляции, </a:t>
            </a:r>
            <a:r>
              <a:rPr lang="ru-RU" dirty="0" err="1"/>
              <a:t>закэшированные</a:t>
            </a:r>
            <a:r>
              <a:rPr lang="ru-RU" dirty="0"/>
              <a:t> в TLB.</a:t>
            </a:r>
            <a:br>
              <a:rPr lang="ru-RU" dirty="0"/>
            </a:br>
            <a:r>
              <a:rPr lang="ru-RU" dirty="0"/>
              <a:t>Поэтому после каждого изменения в таблице страниц ОС обязана выполнить явное «обновление реальности» — то есть </a:t>
            </a:r>
            <a:r>
              <a:rPr lang="ru-RU" dirty="0" err="1"/>
              <a:t>инвалидировать</a:t>
            </a:r>
            <a:r>
              <a:rPr lang="ru-RU" dirty="0"/>
              <a:t> записи TLB.</a:t>
            </a:r>
          </a:p>
          <a:p>
            <a:r>
              <a:rPr lang="ru-RU" dirty="0"/>
              <a:t>На x86 это делается инструкцией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invlpg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[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addr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</a:t>
            </a:r>
            <a:r>
              <a:rPr lang="ru-RU" dirty="0"/>
              <a:t>, которая сбрасывает конкретный адрес, или через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cr3, cr3</a:t>
            </a:r>
            <a:r>
              <a:rPr lang="ru-RU" dirty="0"/>
              <a:t>, если нужно сбросить весь TLB.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29822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Процессор не сверяется с таблицей страниц при каждом обращении.</a:t>
            </a:r>
            <a:br>
              <a:rPr lang="ru-RU" dirty="0"/>
            </a:br>
            <a:r>
              <a:rPr lang="ru-RU" dirty="0"/>
              <a:t>Он доверяет своему TLB, где хранится всё — и физический адрес, и права доступа.</a:t>
            </a:r>
            <a:br>
              <a:rPr lang="ru-RU" dirty="0"/>
            </a:br>
            <a:r>
              <a:rPr lang="ru-RU" dirty="0"/>
              <a:t>Если TLB не обновить после изменения PTE, процессор может позволить запись туда, где уже запрещено.</a:t>
            </a:r>
            <a:br>
              <a:rPr lang="ru-RU" dirty="0"/>
            </a:br>
            <a:r>
              <a:rPr lang="ru-RU" dirty="0"/>
              <a:t>Поэтому любое изменение, которое делает доступ менее разрешающим — требует немедленного TLB </a:t>
            </a:r>
            <a:r>
              <a:rPr lang="ru-RU" dirty="0" err="1"/>
              <a:t>flush</a:t>
            </a:r>
            <a:r>
              <a:rPr lang="ru-RU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54253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многопроцессорных системах TLB не синхронизируются </a:t>
            </a:r>
            <a:r>
              <a:rPr lang="ru-RU" dirty="0" err="1"/>
              <a:t>аппаратно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Каждое ядро имеет свой кэш трансляций и не знает, что другие ядра изменили таблицу страниц.</a:t>
            </a:r>
            <a:br>
              <a:rPr lang="ru-RU" dirty="0"/>
            </a:br>
            <a:r>
              <a:rPr lang="ru-RU" dirty="0"/>
              <a:t>Поэтому операционная система использует специальный механизм — </a:t>
            </a:r>
            <a:r>
              <a:rPr lang="ru-RU" b="1" dirty="0"/>
              <a:t>TLB </a:t>
            </a:r>
            <a:r>
              <a:rPr lang="ru-RU" b="1" dirty="0" err="1"/>
              <a:t>shootdown</a:t>
            </a:r>
            <a:r>
              <a:rPr lang="ru-RU" dirty="0"/>
              <a:t>.</a:t>
            </a:r>
          </a:p>
          <a:p>
            <a:r>
              <a:rPr lang="ru-RU" dirty="0"/>
              <a:t>Одно ядро рассылает межпроцессорные прерывания, и все остальные ядра выполняют очистку TLB для затронутых адресов.</a:t>
            </a:r>
            <a:br>
              <a:rPr lang="ru-RU" dirty="0"/>
            </a:br>
            <a:r>
              <a:rPr lang="ru-RU" dirty="0"/>
              <a:t>Только после того, как все подтвердят, что завершили </a:t>
            </a:r>
            <a:r>
              <a:rPr lang="ru-RU" dirty="0" err="1"/>
              <a:t>flush</a:t>
            </a:r>
            <a:r>
              <a:rPr lang="ru-RU" dirty="0"/>
              <a:t>, ОС может продолжить работу с памятью.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31548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Представьте себе: процесс обращается к странице, которой нет в памяти.</a:t>
            </a:r>
            <a:br>
              <a:rPr lang="ru-RU" b="0" dirty="0"/>
            </a:br>
            <a:r>
              <a:rPr lang="ru-RU" b="0" dirty="0"/>
              <a:t>Возникает Page </a:t>
            </a:r>
            <a:r>
              <a:rPr lang="ru-RU" b="0" dirty="0" err="1"/>
              <a:t>Fault</a:t>
            </a:r>
            <a:r>
              <a:rPr lang="ru-RU" b="0" dirty="0"/>
              <a:t>, и управление передаётся в ядро, в обработчик.</a:t>
            </a:r>
          </a:p>
          <a:p>
            <a:r>
              <a:rPr lang="ru-RU" b="0" dirty="0"/>
              <a:t>Но если в этот момент сам обработчик пытается обратиться к странице, которая тоже выгружена — например, стек ядра оказался на диске или таблица страниц ещё не подгружена — то возникает ещё один Page </a:t>
            </a:r>
            <a:r>
              <a:rPr lang="ru-RU" b="0" dirty="0" err="1"/>
              <a:t>Fault</a:t>
            </a:r>
            <a:r>
              <a:rPr lang="ru-RU" b="0" dirty="0"/>
              <a:t>, пока система уже находится </a:t>
            </a:r>
            <a:r>
              <a:rPr lang="ru-RU" b="0" i="1" dirty="0"/>
              <a:t>внутри</a:t>
            </a:r>
            <a:r>
              <a:rPr lang="ru-RU" b="0" dirty="0"/>
              <a:t> обработчика.</a:t>
            </a:r>
          </a:p>
          <a:p>
            <a:r>
              <a:rPr lang="ru-RU" b="0" dirty="0"/>
              <a:t>На аппаратном уровне в процессорах x86 это называется Double </a:t>
            </a:r>
            <a:r>
              <a:rPr lang="ru-RU" b="0" dirty="0" err="1"/>
              <a:t>Fault</a:t>
            </a:r>
            <a:r>
              <a:rPr lang="ru-RU" b="0" dirty="0"/>
              <a:t>.</a:t>
            </a:r>
            <a:br>
              <a:rPr lang="ru-RU" b="0" dirty="0"/>
            </a:br>
            <a:r>
              <a:rPr lang="ru-RU" b="0" dirty="0"/>
              <a:t>Процессор понимает, что исключение возникло во время обработки другого исключения — и, если нет специального «резервного обработчика», система просто падает в Triple </a:t>
            </a:r>
            <a:r>
              <a:rPr lang="ru-RU" b="0" dirty="0" err="1"/>
              <a:t>Fault</a:t>
            </a:r>
            <a:r>
              <a:rPr lang="ru-RU" b="0" dirty="0"/>
              <a:t>, что означает немедленную перезагрузку.</a:t>
            </a:r>
          </a:p>
          <a:p>
            <a:r>
              <a:rPr lang="ru-RU" b="0" dirty="0"/>
              <a:t>В нашей модели мы будем считать это «фатальной ошибкой ядра» — 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KernelPanic</a:t>
            </a:r>
            <a:r>
              <a:rPr lang="ru-RU" b="0" dirty="0"/>
              <a:t>..</a:t>
            </a:r>
          </a:p>
          <a:p>
            <a:r>
              <a:rPr lang="ru-RU" b="0" dirty="0"/>
              <a:t>В реальных ОС такая ситуация крайне редкая — но если она всё-таки произошла, мы действительно увидим синий экран смерти в Windows, или </a:t>
            </a:r>
            <a:r>
              <a:rPr lang="ru-RU" b="0" dirty="0" err="1"/>
              <a:t>kernel</a:t>
            </a:r>
            <a:r>
              <a:rPr lang="ru-RU" b="0" dirty="0"/>
              <a:t> </a:t>
            </a:r>
            <a:r>
              <a:rPr lang="ru-RU" b="0" dirty="0" err="1"/>
              <a:t>panic</a:t>
            </a:r>
            <a:r>
              <a:rPr lang="ru-RU" b="0" dirty="0"/>
              <a:t> в Linux и </a:t>
            </a:r>
            <a:r>
              <a:rPr lang="ru-RU" b="0" dirty="0" err="1"/>
              <a:t>macOS</a:t>
            </a:r>
            <a:r>
              <a:rPr lang="ru-RU" b="0" dirty="0"/>
              <a:t>.</a:t>
            </a:r>
          </a:p>
          <a:p>
            <a:r>
              <a:rPr lang="ru-RU" b="0" dirty="0"/>
              <a:t>Например, в Windows </a:t>
            </a:r>
            <a:r>
              <a:rPr lang="ru-RU" b="0" dirty="0" err="1"/>
              <a:t>bugcheck</a:t>
            </a:r>
            <a:r>
              <a:rPr lang="ru-RU" b="0" dirty="0"/>
              <a:t> 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0x7F – UNEXPECTED_KERNEL_MODE_TRAP</a:t>
            </a:r>
            <a:r>
              <a:rPr lang="ru-RU" b="0" dirty="0"/>
              <a:t> или 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0xD1 – DRIVER_IRQL_NOT_LESS_OR_EQUAL</a:t>
            </a:r>
            <a:r>
              <a:rPr lang="ru-RU" b="0" dirty="0"/>
              <a:t> часто означают, что код ядра попытался обратиться к недоступной или выгруженной странице.</a:t>
            </a:r>
          </a:p>
          <a:p>
            <a:r>
              <a:rPr lang="ru-RU" b="0" dirty="0"/>
              <a:t>Поэтому основная задача разработчика ядра — не допустить </a:t>
            </a:r>
            <a:r>
              <a:rPr lang="ru-RU" b="0" dirty="0" err="1"/>
              <a:t>page</a:t>
            </a:r>
            <a:r>
              <a:rPr lang="ru-RU" b="0" dirty="0"/>
              <a:t> </a:t>
            </a:r>
            <a:r>
              <a:rPr lang="ru-RU" b="0" dirty="0" err="1"/>
              <a:t>fault</a:t>
            </a:r>
            <a:r>
              <a:rPr lang="ru-RU" b="0" dirty="0"/>
              <a:t> внутри </a:t>
            </a:r>
            <a:r>
              <a:rPr lang="ru-RU" b="0" dirty="0" err="1"/>
              <a:t>page</a:t>
            </a:r>
            <a:r>
              <a:rPr lang="ru-RU" b="0" dirty="0"/>
              <a:t> </a:t>
            </a:r>
            <a:r>
              <a:rPr lang="ru-RU" b="0" dirty="0" err="1"/>
              <a:t>fault</a:t>
            </a:r>
            <a:r>
              <a:rPr lang="ru-RU" b="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37283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/>
              <a:t>В современных системах (Linux, Windows, </a:t>
            </a:r>
            <a:r>
              <a:rPr lang="ru-RU" b="0" dirty="0" err="1"/>
              <a:t>macOS</a:t>
            </a:r>
            <a:r>
              <a:rPr lang="ru-RU" b="0" dirty="0"/>
              <a:t>) есть целый набор защитных механизмов, чтобы обработчик </a:t>
            </a:r>
            <a:r>
              <a:rPr lang="ru-RU" b="0" dirty="0" err="1"/>
              <a:t>page</a:t>
            </a:r>
            <a:r>
              <a:rPr lang="ru-RU" b="0" dirty="0"/>
              <a:t> </a:t>
            </a:r>
            <a:r>
              <a:rPr lang="ru-RU" b="0" dirty="0" err="1"/>
              <a:t>fault</a:t>
            </a:r>
            <a:r>
              <a:rPr lang="ru-RU" b="0" dirty="0"/>
              <a:t> был </a:t>
            </a:r>
            <a:r>
              <a:rPr lang="ru-RU" b="0" i="1" dirty="0"/>
              <a:t>неуязвим</a:t>
            </a:r>
            <a:r>
              <a:rPr lang="ru-RU" b="0" dirty="0"/>
              <a:t>.</a:t>
            </a:r>
          </a:p>
          <a:p>
            <a:r>
              <a:rPr lang="ru-RU" b="0" dirty="0"/>
              <a:t>Во-первых, страницы кода и данных ядра закрепляются в памяти.</a:t>
            </a:r>
            <a:br>
              <a:rPr lang="ru-RU" b="0" dirty="0"/>
            </a:br>
            <a:r>
              <a:rPr lang="ru-RU" b="0" dirty="0"/>
              <a:t>Это называется </a:t>
            </a:r>
            <a:r>
              <a:rPr lang="ru-RU" b="0" dirty="0" err="1"/>
              <a:t>pinning</a:t>
            </a:r>
            <a:r>
              <a:rPr lang="ru-RU" b="0" dirty="0"/>
              <a:t> или </a:t>
            </a:r>
            <a:r>
              <a:rPr lang="ru-RU" b="0" dirty="0" err="1"/>
              <a:t>wired</a:t>
            </a:r>
            <a:r>
              <a:rPr lang="ru-RU" b="0" dirty="0"/>
              <a:t> </a:t>
            </a:r>
            <a:r>
              <a:rPr lang="ru-RU" b="0" dirty="0" err="1"/>
              <a:t>pages</a:t>
            </a:r>
            <a:r>
              <a:rPr lang="ru-RU" b="0" dirty="0"/>
              <a:t>.</a:t>
            </a:r>
            <a:br>
              <a:rPr lang="ru-RU" b="0" dirty="0"/>
            </a:br>
            <a:r>
              <a:rPr lang="ru-RU" b="0" dirty="0"/>
              <a:t>В Linux вы можете встретить такие термины, как 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__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init_text_section</a:t>
            </a:r>
            <a:r>
              <a:rPr lang="ru-RU" b="0" dirty="0"/>
              <a:t> или 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vmalloc_exec</a:t>
            </a:r>
            <a:r>
              <a:rPr lang="ru-RU" b="0" dirty="0"/>
              <a:t>, а также флаг 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PG_reserved</a:t>
            </a:r>
            <a:r>
              <a:rPr lang="ru-RU" b="0" dirty="0"/>
              <a:t>. Эти страницы никогда не попадают под замену — они считаются «</a:t>
            </a:r>
            <a:r>
              <a:rPr lang="ru-RU" b="0" dirty="0" err="1"/>
              <a:t>wired</a:t>
            </a:r>
            <a:r>
              <a:rPr lang="ru-RU" b="0" dirty="0"/>
              <a:t>».</a:t>
            </a:r>
            <a:br>
              <a:rPr lang="ru-RU" b="0" dirty="0"/>
            </a:br>
            <a:r>
              <a:rPr lang="ru-RU" b="0" dirty="0"/>
              <a:t>В </a:t>
            </a:r>
            <a:r>
              <a:rPr lang="ru-RU" b="0" dirty="0" err="1"/>
              <a:t>macOS</a:t>
            </a:r>
            <a:r>
              <a:rPr lang="ru-RU" b="0" dirty="0"/>
              <a:t> и </a:t>
            </a:r>
            <a:r>
              <a:rPr lang="ru-RU" b="0" dirty="0" err="1"/>
              <a:t>iOS</a:t>
            </a:r>
            <a:r>
              <a:rPr lang="ru-RU" b="0" dirty="0"/>
              <a:t> ядро хранится в области, отмеченной как </a:t>
            </a:r>
            <a:r>
              <a:rPr lang="ru-RU" b="0" dirty="0" err="1"/>
              <a:t>wired</a:t>
            </a:r>
            <a:r>
              <a:rPr lang="ru-RU" b="0" dirty="0"/>
              <a:t> </a:t>
            </a:r>
            <a:r>
              <a:rPr lang="ru-RU" b="0" dirty="0" err="1"/>
              <a:t>memory</a:t>
            </a:r>
            <a:r>
              <a:rPr lang="ru-RU" b="0" dirty="0"/>
              <a:t> — её нельзя ни выгрузить, ни освободить.</a:t>
            </a:r>
          </a:p>
          <a:p>
            <a:r>
              <a:rPr lang="ru-RU" b="0" dirty="0"/>
              <a:t>Во-вторых, обработчики исключений и прерываний всегда выполняются на отдельном стеке ядра, который выделяется при старте процессора и никогда не выгружается.</a:t>
            </a:r>
            <a:br>
              <a:rPr lang="ru-RU" b="0" dirty="0"/>
            </a:br>
            <a:r>
              <a:rPr lang="ru-RU" b="0" dirty="0"/>
              <a:t>В Linux это 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per-cpu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kernel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</a:t>
            </a:r>
            <a:r>
              <a:rPr lang="ru-RU" b="0" dirty="0"/>
              <a:t>, обычно 16 или 32 КБ, всегда в оперативной памяти.</a:t>
            </a:r>
          </a:p>
          <a:p>
            <a:r>
              <a:rPr lang="ru-RU" b="0" dirty="0"/>
              <a:t>В-третьих, операционная система разделяет пулы страниц для ядра и для пользователя.</a:t>
            </a:r>
            <a:br>
              <a:rPr lang="ru-RU" b="0" dirty="0"/>
            </a:br>
            <a:r>
              <a:rPr lang="ru-RU" b="0" dirty="0"/>
              <a:t>Алгоритм вытеснения не может случайно удалить страницы, помеченные как принадлежащие ядру. В Linux это управляется флагом 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PG_reserved</a:t>
            </a:r>
            <a:r>
              <a:rPr lang="ru-RU" b="0" dirty="0"/>
              <a:t> или зонами памяти (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ZONE_NORMAL</a:t>
            </a:r>
            <a:r>
              <a:rPr lang="ru-RU" b="0" dirty="0"/>
              <a:t>, 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ZONE_DMA</a:t>
            </a:r>
            <a:r>
              <a:rPr lang="ru-RU" b="0" dirty="0"/>
              <a:t>, 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ZONE_HIGHMEM</a:t>
            </a:r>
            <a:r>
              <a:rPr lang="ru-RU" b="0" dirty="0"/>
              <a:t>).</a:t>
            </a:r>
          </a:p>
          <a:p>
            <a:r>
              <a:rPr lang="ru-RU" b="0" dirty="0"/>
              <a:t>Кроме того, перед тем как выполнить потенциально опасные операции, ядро может сделать </a:t>
            </a:r>
            <a:r>
              <a:rPr lang="ru-RU" b="0" dirty="0" err="1"/>
              <a:t>prefaulting</a:t>
            </a:r>
            <a:r>
              <a:rPr lang="ru-RU" b="0" dirty="0"/>
              <a:t> — принудительно прочитать нужные страницы в память, чтобы гарантировать их присутствие.</a:t>
            </a:r>
            <a:br>
              <a:rPr lang="ru-RU" b="0" dirty="0"/>
            </a:br>
            <a:r>
              <a:rPr lang="ru-RU" b="0" dirty="0"/>
              <a:t>Это особенно важно для драйверов и файловых систем, когда может быть обращение к свопу или диску.</a:t>
            </a:r>
          </a:p>
          <a:p>
            <a:r>
              <a:rPr lang="ru-RU" b="0" dirty="0"/>
              <a:t>И, наконец, есть </a:t>
            </a:r>
            <a:r>
              <a:rPr lang="ru-RU" b="0" dirty="0" err="1"/>
              <a:t>fail-safe</a:t>
            </a:r>
            <a:r>
              <a:rPr lang="ru-RU" b="0" dirty="0"/>
              <a:t>: если несмотря на все меры возникает </a:t>
            </a:r>
            <a:r>
              <a:rPr lang="ru-RU" b="0" dirty="0" err="1"/>
              <a:t>page</a:t>
            </a:r>
            <a:r>
              <a:rPr lang="ru-RU" b="0" dirty="0"/>
              <a:t> </a:t>
            </a:r>
            <a:r>
              <a:rPr lang="ru-RU" b="0" dirty="0" err="1"/>
              <a:t>fault</a:t>
            </a:r>
            <a:r>
              <a:rPr lang="ru-RU" b="0" dirty="0"/>
              <a:t> в режиме ядра, ОС это обнаруживает.</a:t>
            </a:r>
            <a:br>
              <a:rPr lang="ru-RU" b="0" dirty="0"/>
            </a:br>
            <a:r>
              <a:rPr lang="ru-RU" b="0" dirty="0"/>
              <a:t>Linux пишет в 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dmesg</a:t>
            </a:r>
            <a:r>
              <a:rPr lang="ru-RU" b="0" dirty="0"/>
              <a:t> стек вызовов и делает </a:t>
            </a:r>
            <a:r>
              <a:rPr lang="ru-RU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panic</a:t>
            </a:r>
            <a:r>
              <a: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b="0" dirty="0"/>
              <a:t>, Windows выдаёт BSOD, </a:t>
            </a:r>
            <a:r>
              <a:rPr lang="ru-RU" b="0" dirty="0" err="1"/>
              <a:t>macOS</a:t>
            </a:r>
            <a:r>
              <a:rPr lang="ru-RU" b="0" dirty="0"/>
              <a:t> — “You </a:t>
            </a:r>
            <a:r>
              <a:rPr lang="ru-RU" b="0" dirty="0" err="1"/>
              <a:t>need</a:t>
            </a:r>
            <a:r>
              <a:rPr lang="ru-RU" b="0" dirty="0"/>
              <a:t> </a:t>
            </a:r>
            <a:r>
              <a:rPr lang="ru-RU" b="0" dirty="0" err="1"/>
              <a:t>to</a:t>
            </a:r>
            <a:r>
              <a:rPr lang="ru-RU" b="0" dirty="0"/>
              <a:t> </a:t>
            </a:r>
            <a:r>
              <a:rPr lang="ru-RU" b="0" dirty="0" err="1"/>
              <a:t>restart</a:t>
            </a:r>
            <a:r>
              <a:rPr lang="ru-RU" b="0" dirty="0"/>
              <a:t> </a:t>
            </a:r>
            <a:r>
              <a:rPr lang="ru-RU" b="0" dirty="0" err="1"/>
              <a:t>your</a:t>
            </a:r>
            <a:r>
              <a:rPr lang="ru-RU" b="0" dirty="0"/>
              <a:t> </a:t>
            </a:r>
            <a:r>
              <a:rPr lang="ru-RU" b="0" dirty="0" err="1"/>
              <a:t>computer</a:t>
            </a:r>
            <a:r>
              <a:rPr lang="ru-RU" b="0" dirty="0"/>
              <a:t>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628C5-B289-46A0-A8C0-80C1CDEFBF17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858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7F253-FD4E-711E-D0DC-7CEFDBECD8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76AC67-6AC4-5AB2-A031-3F83D99F7C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4B849-079E-E6CB-BF9B-9D16594B6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F302-4669-48F0-BDC5-3A92BFE05298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13B5A-DA5C-8626-8D9F-933669B02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064D9-5F25-F424-DE49-2CF760FD2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544C-D7BF-4CCA-B889-96A0906CE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237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FB737-651B-665D-874E-2B5B93C53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8546F-6230-217D-8EEC-519AB5A49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0A11C-6216-403F-C950-991430C6B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F302-4669-48F0-BDC5-3A92BFE05298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EB564-0648-8914-A23C-92EE9B8F8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75D1-81D0-AFE9-6191-3215F5E28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544C-D7BF-4CCA-B889-96A0906CE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87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3DF28-0341-6E20-BD8C-AA29C111C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0AA9B-5DD9-9CE1-0B67-EA92607E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FE4E6-E8BF-340A-1934-2B14DA53D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F302-4669-48F0-BDC5-3A92BFE05298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9756B-AB39-4CCD-2559-DA1961DFB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9A4DC-255A-031F-1602-8A31FB7DE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544C-D7BF-4CCA-B889-96A0906CE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638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D7CC0-F81E-CBEA-14D0-571423032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FB285-71CF-9CE7-3A6A-F340BF2024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34782-9648-02DE-875D-2C4FAB70CF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BFCFD9-D07F-250D-CD93-07153003F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F302-4669-48F0-BDC5-3A92BFE05298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DAAB7D-EBAE-20BC-90AA-C9EBD756A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8D7CB-7738-C2EB-9C34-6BD904656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544C-D7BF-4CCA-B889-96A0906CE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892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85FA0-05ED-9900-073E-60AB28AED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D55992-E490-048E-41E9-9EE2E4ED0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873D69-35B1-D944-72BE-651DEF962D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F4B974-CF24-C90F-65AE-E54116452B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9D68E5-E0A3-2E92-81DE-3F869FA089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88C8F7-DA38-2BC9-54B5-18EAF9DEA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F302-4669-48F0-BDC5-3A92BFE05298}" type="datetimeFigureOut">
              <a:rPr lang="en-US" smtClean="0"/>
              <a:t>12/1/25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0B376E-D1DC-08BA-176B-83E2A6393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08AD39-A439-BFBD-D8D2-FE8CA185B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544C-D7BF-4CCA-B889-96A0906CE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71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DAD1B-2EE6-EDB4-ED2D-666D7CEA5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53686F-0E49-1E7F-98B0-38312E58A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F302-4669-48F0-BDC5-3A92BFE05298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F962FA-DF60-E6A7-8FF7-F01A15606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D0EF60-1D19-0126-8E1F-BB464D147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544C-D7BF-4CCA-B889-96A0906CE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44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E793D8-A5CB-E03B-FF83-136115793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F302-4669-48F0-BDC5-3A92BFE05298}" type="datetimeFigureOut">
              <a:rPr lang="en-US" smtClean="0"/>
              <a:t>12/1/25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16D766-B4DE-59B3-6DC5-0064835E3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8256F-DA4C-6B46-FC2B-253C415F2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544C-D7BF-4CCA-B889-96A0906CE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035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06A60-FA68-4BFB-DF06-D5D840E1F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DFCBD-A336-87B7-E849-7AA74F4E9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F7E1DD-1BD0-7DD5-A715-DBFBBE8A6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7D3F6-AC93-21DD-E629-FAE09B340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F302-4669-48F0-BDC5-3A92BFE05298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9E1F81-96FF-0615-1842-D47D62D76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CBE6F-574F-AFC5-221B-D5CC01C36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544C-D7BF-4CCA-B889-96A0906CE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21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37106-5E1C-5F7A-F0E0-9E48DEE8D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5FF9AA-0123-E7BF-9177-7FA06F1B08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419279-9000-8C26-8EF1-C287850E2C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1A4181-BB1D-252C-03A2-CCF913591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F302-4669-48F0-BDC5-3A92BFE05298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CC0F93-319A-B0D1-3B51-FC68DC4F5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759794-8121-DAA9-3558-EDB591065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544C-D7BF-4CCA-B889-96A0906CE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710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D9008-A140-2B4B-1508-656DA9D73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A7FF39-A43E-FE17-01DB-A84E5C8F9A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3200D-B8CE-97E5-2CDA-0956F4AE0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F302-4669-48F0-BDC5-3A92BFE05298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0FBB0-FE7B-95C7-F006-93045E982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D792E-0BC4-FB54-D96D-1D2585A8F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544C-D7BF-4CCA-B889-96A0906CE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853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EC03AD-D454-842A-BF7B-E174A80A75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BD673A-556D-272F-3FEF-6286C41B6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1C7D9-7D09-4F09-5F9E-A73075A52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F302-4669-48F0-BDC5-3A92BFE05298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D903B-F2FA-BE5B-2EFA-CD8BDF3D2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DEB25-7584-FA0E-5BD9-E684D86BF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7544C-D7BF-4CCA-B889-96A0906CE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81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1A6FB5-5B6E-98C5-4945-CB228D07F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FA976-C11A-5FB6-6AD8-3C26385E1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211BB-A077-37B2-94E3-326D15F8B7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04F302-4669-48F0-BDC5-3A92BFE05298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07420-7D69-C70A-1683-30C6458DBB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E9498-7E0D-6B02-0FC2-CB3D95B4A9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B7544C-D7BF-4CCA-B889-96A0906CE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39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E54C7-55A6-C035-B3E6-F30FE2ABEF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Операционные системы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FF2474-7F2B-B714-0758-5A483FD08F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Лекция 10. Управление памятью. Часть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710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9FB6C9-B254-5CF5-A261-B2A4D2B12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Виртуальная память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762B20-35A4-2F1D-170B-C92E14399A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программы видят больше памяти, чем есть на самом деле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211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D026CE-1793-36AF-E1FF-59EA86D12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не достаточно регистров </a:t>
            </a:r>
            <a:r>
              <a:rPr lang="en-US" dirty="0"/>
              <a:t>Base </a:t>
            </a:r>
            <a:r>
              <a:rPr lang="ru-RU" dirty="0"/>
              <a:t>и </a:t>
            </a:r>
            <a:r>
              <a:rPr lang="en-US" dirty="0"/>
              <a:t>Limit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A2656C-3136-1A27-941A-E0E3B163E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Base/</a:t>
            </a:r>
            <a:r>
              <a:rPr lang="ru-RU" dirty="0" err="1"/>
              <a:t>Limit</a:t>
            </a:r>
            <a:r>
              <a:rPr lang="ru-RU" dirty="0"/>
              <a:t> регистры создают адресные пространства, но не решают всё</a:t>
            </a:r>
          </a:p>
          <a:p>
            <a:r>
              <a:rPr lang="ru-RU" dirty="0"/>
              <a:t>Современные программы занимают гигабайты памяти</a:t>
            </a:r>
          </a:p>
          <a:p>
            <a:r>
              <a:rPr lang="ru-RU" dirty="0"/>
              <a:t>Физическая память ограничена</a:t>
            </a:r>
          </a:p>
          <a:p>
            <a:r>
              <a:rPr lang="ru-RU" dirty="0"/>
              <a:t>Нужно запускать много больших программ одновременно</a:t>
            </a:r>
            <a:endParaRPr lang="en-US" dirty="0"/>
          </a:p>
          <a:p>
            <a:r>
              <a:rPr lang="ru-RU" dirty="0"/>
              <a:t>Требуется более продвинутый подход</a:t>
            </a:r>
          </a:p>
        </p:txBody>
      </p:sp>
    </p:spTree>
    <p:extLst>
      <p:ext uri="{BB962C8B-B14F-4D97-AF65-F5344CB8AC3E}">
        <p14:creationId xmlns:p14="http://schemas.microsoft.com/office/powerpoint/2010/main" val="3482485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29776-E48F-4C68-0286-9C1AFB724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Эпоха оверлеев (</a:t>
            </a:r>
            <a:r>
              <a:rPr lang="en-US" dirty="0"/>
              <a:t>overlays)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A140C-4AD0-7243-89AA-5FD6933A1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1960-х программы разбивали вручную на части — </a:t>
            </a:r>
            <a:r>
              <a:rPr lang="ru-RU" dirty="0" err="1"/>
              <a:t>overlays</a:t>
            </a:r>
            <a:endParaRPr lang="ru-RU" dirty="0"/>
          </a:p>
          <a:p>
            <a:r>
              <a:rPr lang="ru-RU" dirty="0"/>
              <a:t>В память загружалась только нужная часть программы</a:t>
            </a:r>
          </a:p>
          <a:p>
            <a:r>
              <a:rPr lang="ru-RU" dirty="0"/>
              <a:t>Программист сам определял, что и когда подгружать</a:t>
            </a:r>
          </a:p>
          <a:p>
            <a:r>
              <a:rPr lang="ru-RU" dirty="0"/>
              <a:t>Недостатки:</a:t>
            </a:r>
          </a:p>
          <a:p>
            <a:pPr lvl="1"/>
            <a:r>
              <a:rPr lang="ru-RU" dirty="0"/>
              <a:t>сложность,</a:t>
            </a:r>
          </a:p>
          <a:p>
            <a:pPr lvl="1"/>
            <a:r>
              <a:rPr lang="ru-RU" dirty="0"/>
              <a:t>ошибки,</a:t>
            </a:r>
          </a:p>
          <a:p>
            <a:pPr lvl="1"/>
            <a:r>
              <a:rPr lang="ru-RU" dirty="0"/>
              <a:t>медленная разработка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491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5A187-6A4A-3CF7-3FF3-43B3C9494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86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ru-RU" dirty="0"/>
              <a:t>Идея виртуальной памяти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FA2BB-864E-1FE3-01FD-A4A1AC042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986" y="851519"/>
            <a:ext cx="5972014" cy="617696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Идея виртуальной памяти появилась в начале 60-х. Её суть проста и гениальна:</a:t>
            </a:r>
          </a:p>
          <a:p>
            <a:r>
              <a:rPr lang="ru-RU" dirty="0"/>
              <a:t>Каждая программа получает собственное </a:t>
            </a:r>
            <a:r>
              <a:rPr lang="ru-RU" b="1" dirty="0"/>
              <a:t>виртуальное адресное пространство</a:t>
            </a:r>
            <a:r>
              <a:rPr lang="ru-RU" dirty="0"/>
              <a:t> — например, от 0 до 4 ГБ.</a:t>
            </a:r>
          </a:p>
          <a:p>
            <a:r>
              <a:rPr lang="ru-RU" dirty="0"/>
              <a:t>Но реально в памяти находятся только те части программы, которые действительно нужны в данный момент.</a:t>
            </a:r>
          </a:p>
          <a:p>
            <a:r>
              <a:rPr lang="ru-RU" dirty="0"/>
              <a:t>Всё пространство делится на </a:t>
            </a:r>
            <a:r>
              <a:rPr lang="ru-RU" b="1" dirty="0"/>
              <a:t>страницы</a:t>
            </a:r>
            <a:r>
              <a:rPr lang="ru-RU" dirty="0"/>
              <a:t> — небольшие куски (обычно по 4 КБ).</a:t>
            </a:r>
          </a:p>
          <a:p>
            <a:r>
              <a:rPr lang="ru-RU" dirty="0"/>
              <a:t>При обращении к данным, находящимся в памяти, процессор автоматически выполняет преобразование виртуального адреса в физический.</a:t>
            </a:r>
          </a:p>
          <a:p>
            <a:r>
              <a:rPr lang="ru-RU" dirty="0"/>
              <a:t>Если нужная страница отсутствует, возникает </a:t>
            </a:r>
            <a:r>
              <a:rPr lang="ru-RU" b="1" dirty="0"/>
              <a:t>ошибка отсутствия страницы (</a:t>
            </a:r>
            <a:r>
              <a:rPr lang="ru-RU" b="1" dirty="0" err="1"/>
              <a:t>page</a:t>
            </a:r>
            <a:r>
              <a:rPr lang="ru-RU" b="1" dirty="0"/>
              <a:t> </a:t>
            </a:r>
            <a:r>
              <a:rPr lang="ru-RU" b="1" dirty="0" err="1"/>
              <a:t>fault</a:t>
            </a:r>
            <a:r>
              <a:rPr lang="ru-RU" b="1" dirty="0"/>
              <a:t>)</a:t>
            </a:r>
            <a:r>
              <a:rPr lang="ru-RU" dirty="0"/>
              <a:t> — ОС загружает её с диска и повторяет команду.</a:t>
            </a:r>
          </a:p>
          <a:p>
            <a:r>
              <a:rPr lang="ru-RU" dirty="0"/>
              <a:t>Таким образом, создаётся </a:t>
            </a:r>
            <a:r>
              <a:rPr lang="ru-RU" b="1" dirty="0"/>
              <a:t>иллюзия безграничной памяти</a:t>
            </a:r>
            <a:r>
              <a:rPr lang="ru-RU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55C2A8-C3FE-EA49-505D-46D660C6B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364" y="138834"/>
            <a:ext cx="6112636" cy="388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423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5780A-8F7C-5746-E985-D08BF7ADF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работает виртуальная память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A2437-9CD1-60F6-EDF1-0683AD247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Процессор + ОС создают таблицу соответствия:</a:t>
            </a:r>
          </a:p>
          <a:p>
            <a:pPr lvl="1"/>
            <a:r>
              <a:rPr lang="ru-RU" dirty="0"/>
              <a:t>виртуальный адрес → физический адрес / диск</a:t>
            </a:r>
          </a:p>
          <a:p>
            <a:r>
              <a:rPr lang="ru-RU" dirty="0"/>
              <a:t>Если страница есть в RAM, то доступ мгновенный</a:t>
            </a:r>
          </a:p>
          <a:p>
            <a:r>
              <a:rPr lang="ru-RU" dirty="0"/>
              <a:t>Если нет, ОС подгружает её с диска</a:t>
            </a:r>
          </a:p>
          <a:p>
            <a:r>
              <a:rPr lang="ru-RU" dirty="0"/>
              <a:t>После загрузки инструкция повторяется автоматически</a:t>
            </a:r>
          </a:p>
          <a:p>
            <a:r>
              <a:rPr lang="ru-RU" dirty="0"/>
              <a:t>Работает даже при множестве активных процессов</a:t>
            </a:r>
          </a:p>
        </p:txBody>
      </p:sp>
    </p:spTree>
    <p:extLst>
      <p:ext uri="{BB962C8B-B14F-4D97-AF65-F5344CB8AC3E}">
        <p14:creationId xmlns:p14="http://schemas.microsoft.com/office/powerpoint/2010/main" val="484413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A76A1-A856-E5C9-B6BC-1A27FBDFF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27E8896-1649-3248-2D3C-D75E0E84A4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9658176"/>
              </p:ext>
            </p:extLst>
          </p:nvPr>
        </p:nvGraphicFramePr>
        <p:xfrm>
          <a:off x="838200" y="1825625"/>
          <a:ext cx="10515597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68925007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945594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2759192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/>
                        <a:t>Метод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/>
                        <a:t>Особенности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/>
                        <a:t>Недостатки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4096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Swapping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Процесс целиком выгружается и загружается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Медленно, требует много ввода-вывода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051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Overlays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Программист вручную делит код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Сложно, чревато ошибками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200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Virtual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ОС и </a:t>
                      </a:r>
                      <a:r>
                        <a:rPr lang="ru-RU" dirty="0" err="1"/>
                        <a:t>аппаратно</a:t>
                      </a:r>
                      <a:r>
                        <a:rPr lang="ru-RU" dirty="0"/>
                        <a:t> автоматически подгружают нужные страницы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Требует поддержки аппаратуры (</a:t>
                      </a:r>
                      <a:r>
                        <a:rPr lang="en-US" dirty="0"/>
                        <a:t>MMU)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942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6412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4ED8B-7DFE-2B6C-CCB9-D71AC8A89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виртуальной памяти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FA118-3094-2959-1B08-5696CC3DF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0" dirty="0"/>
              <a:t>1. Программы могут быть больше физической памяти — подгружается только то, что действительно используется.</a:t>
            </a:r>
          </a:p>
          <a:p>
            <a:r>
              <a:rPr lang="ru-RU" b="0" dirty="0"/>
              <a:t>2. Процессы изолированы: один не может случайно повредить данные другого.</a:t>
            </a:r>
          </a:p>
          <a:p>
            <a:r>
              <a:rPr lang="ru-RU" b="0" dirty="0"/>
              <a:t>3. Многозадачность становится естественной — процессор работает с одним процессом, пока другой ждёт подкачку данных.</a:t>
            </a:r>
          </a:p>
          <a:p>
            <a:r>
              <a:rPr lang="ru-RU" b="0" dirty="0"/>
              <a:t>4. ОС сама управляет памятью: освобождает, подкачивает, перемещает.</a:t>
            </a:r>
          </a:p>
          <a:p>
            <a:r>
              <a:rPr lang="ru-RU" dirty="0"/>
              <a:t>5</a:t>
            </a:r>
            <a:r>
              <a:rPr lang="ru-RU" b="0" dirty="0"/>
              <a:t>. И, наконец, для программиста — всё выглядит просто: «вся память — моя».</a:t>
            </a:r>
          </a:p>
          <a:p>
            <a:pPr marL="0" indent="0">
              <a:buNone/>
            </a:pPr>
            <a:r>
              <a:rPr lang="ru-RU" b="0" dirty="0"/>
              <a:t>Это идеальная иллюзия, созданная аппаратурой и операционной системой, — и именно она сделала возможными современные вычислительные системы.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011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E854B0-7C2C-38D5-E0F0-BE26C1D9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Страничная адресация памяти (</a:t>
            </a:r>
            <a:r>
              <a:rPr lang="en-US" dirty="0"/>
              <a:t>Paging)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9A5BE9-490E-ADA5-E403-ACCEA900F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123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8644BC-B714-D1AB-A339-998F402D7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paging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D0EABA-32D4-146A-4C7F-D1A4AE0519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598156" cy="4667250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Большинство систем виртуальной памяти используют страничную организацию</a:t>
            </a:r>
          </a:p>
          <a:p>
            <a:r>
              <a:rPr lang="ru-RU" dirty="0"/>
              <a:t>Программа обращается к виртуальным адресам</a:t>
            </a:r>
          </a:p>
          <a:p>
            <a:r>
              <a:rPr lang="ru-RU" dirty="0"/>
              <a:t>MMU (Memory Management Unit) преобразует их в физические адреса</a:t>
            </a:r>
          </a:p>
          <a:p>
            <a:r>
              <a:rPr lang="ru-RU" dirty="0"/>
              <a:t>Только часть страниц реально находится в памяти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4573C6-F30F-4D47-5ED1-A4E83B5F5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356" y="1690688"/>
            <a:ext cx="6755644" cy="339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787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834709-72C0-D110-FEFB-FF0331861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Виртуальные и физические адреса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9D2967-E658-3743-4919-AAB296C68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Когда программа выполняет команду вроде</a:t>
            </a:r>
            <a:br>
              <a:rPr lang="ru-RU" dirty="0"/>
            </a:br>
            <a:r>
              <a:rPr lang="ru-RU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 REG, 1000</a:t>
            </a:r>
            <a:br>
              <a:rPr lang="ru-RU" dirty="0"/>
            </a:br>
            <a:r>
              <a:rPr lang="ru-RU" dirty="0"/>
              <a:t>она обращается к </a:t>
            </a:r>
            <a:r>
              <a:rPr lang="ru-RU" b="1" dirty="0"/>
              <a:t>виртуальному адресу 1000</a:t>
            </a:r>
            <a:r>
              <a:rPr lang="ru-RU" dirty="0"/>
              <a:t>.</a:t>
            </a:r>
          </a:p>
          <a:p>
            <a:r>
              <a:rPr lang="ru-RU" dirty="0"/>
              <a:t>Без виртуальной памяти этот адрес напрямую попал бы на шину — процессор просто обращается к ячейке физической памяти с этим номером.</a:t>
            </a:r>
          </a:p>
          <a:p>
            <a:r>
              <a:rPr lang="ru-RU" dirty="0"/>
              <a:t>Но с виртуальной памятью всё иначе.</a:t>
            </a:r>
          </a:p>
          <a:p>
            <a:r>
              <a:rPr lang="ru-RU" dirty="0"/>
              <a:t>Виртуальный адрес поступает в </a:t>
            </a:r>
            <a:r>
              <a:rPr lang="ru-RU" b="1" dirty="0"/>
              <a:t>MMU</a:t>
            </a:r>
            <a:r>
              <a:rPr lang="ru-RU" dirty="0"/>
              <a:t>, и уже она решает, какому </a:t>
            </a:r>
            <a:r>
              <a:rPr lang="ru-RU" b="1" dirty="0"/>
              <a:t>физическому адресу</a:t>
            </a:r>
            <a:r>
              <a:rPr lang="ru-RU" dirty="0"/>
              <a:t> он соответствует.</a:t>
            </a:r>
          </a:p>
          <a:p>
            <a:r>
              <a:rPr lang="ru-RU" dirty="0"/>
              <a:t>Таким образом, программа живёт в «иллюзорном» пространстве, а MMU создаёт между ней и реальной памятью слой абстракции и защиты.</a:t>
            </a:r>
          </a:p>
        </p:txBody>
      </p:sp>
    </p:spTree>
    <p:extLst>
      <p:ext uri="{BB962C8B-B14F-4D97-AF65-F5344CB8AC3E}">
        <p14:creationId xmlns:p14="http://schemas.microsoft.com/office/powerpoint/2010/main" val="756065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86E9A-2B0F-8530-15BB-0E8E504CB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– 16-битная система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94268-73BA-B9DD-4CF1-0D906AF48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Виртуальное пространство — 64 КБ (16 страниц × 4 КБ)</a:t>
            </a:r>
          </a:p>
          <a:p>
            <a:r>
              <a:rPr lang="ru-RU" dirty="0"/>
              <a:t>Физическая память — только 32 КБ (8 страниц × 4 КБ)</a:t>
            </a:r>
          </a:p>
          <a:p>
            <a:r>
              <a:rPr lang="ru-RU" dirty="0"/>
              <a:t>Значит, не все страницы могут быть в памяти одновременно</a:t>
            </a:r>
          </a:p>
          <a:p>
            <a:r>
              <a:rPr lang="ru-RU" dirty="0"/>
              <a:t>Остальные хранятся на диске и подгружаются при обращении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807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33FB5-C52D-5179-5D22-7B61803ED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преобразования адресов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BC4AB42-32FB-E262-8C90-03D458FF34E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Каждая страница имеет диапазон (0–4К, 4–8К, 8–12К, …)</a:t>
            </a:r>
          </a:p>
          <a:p>
            <a:r>
              <a:rPr lang="ru-RU" dirty="0"/>
              <a:t>Пример: виртуальная страница 0 → физический фрейм 2</a:t>
            </a:r>
          </a:p>
          <a:p>
            <a:pPr lvl="1"/>
            <a:r>
              <a:rPr lang="ru-RU" dirty="0"/>
              <a:t>MOV REG, 0 → фактически MOV REG, 8192</a:t>
            </a:r>
          </a:p>
          <a:p>
            <a:r>
              <a:rPr lang="ru-RU" dirty="0"/>
              <a:t>Пример: страница 2 → фрейм 6</a:t>
            </a:r>
          </a:p>
          <a:p>
            <a:pPr lvl="1"/>
            <a:r>
              <a:rPr lang="ru-RU" dirty="0"/>
              <a:t>MOV REG, 8192 → фактически MOV REG, 24576</a:t>
            </a:r>
          </a:p>
          <a:p>
            <a:r>
              <a:rPr lang="ru-RU" dirty="0"/>
              <a:t>MMU прозрачно подставляет физические адреса</a:t>
            </a:r>
          </a:p>
        </p:txBody>
      </p:sp>
      <p:pic>
        <p:nvPicPr>
          <p:cNvPr id="8" name="Content Placeholder 5">
            <a:extLst>
              <a:ext uri="{FF2B5EF4-FFF2-40B4-BE49-F238E27FC236}">
                <a16:creationId xmlns:a16="http://schemas.microsoft.com/office/drawing/2014/main" id="{77A78AF7-452D-310D-9393-81BC15931D2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84171" y="1825625"/>
            <a:ext cx="415765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706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166706E-39E0-1BFA-640D-8DB8B47DC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Обращение к отсутствующей странице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EE8614-A93C-DFE7-32E1-C970AB9DD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 все виртуальные страницы загружены</a:t>
            </a:r>
          </a:p>
          <a:p>
            <a:r>
              <a:rPr lang="ru-RU" dirty="0"/>
              <a:t>Если программа обращается к отсутствующей →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endParaRPr lang="ru-RU" dirty="0"/>
          </a:p>
          <a:p>
            <a:r>
              <a:rPr lang="ru-RU" dirty="0"/>
              <a:t>ОС:</a:t>
            </a:r>
          </a:p>
          <a:p>
            <a:pPr lvl="1"/>
            <a:r>
              <a:rPr lang="ru-RU" dirty="0"/>
              <a:t>Находит редко используемую страницу</a:t>
            </a:r>
          </a:p>
          <a:p>
            <a:pPr lvl="1"/>
            <a:r>
              <a:rPr lang="ru-RU" dirty="0"/>
              <a:t>Сохраняет её на диск</a:t>
            </a:r>
          </a:p>
          <a:p>
            <a:pPr lvl="1"/>
            <a:r>
              <a:rPr lang="ru-RU" dirty="0"/>
              <a:t>Загружает нужную страницу</a:t>
            </a:r>
          </a:p>
          <a:p>
            <a:pPr lvl="1"/>
            <a:r>
              <a:rPr lang="ru-RU" dirty="0"/>
              <a:t>Обновляет таблицу MMU</a:t>
            </a:r>
          </a:p>
          <a:p>
            <a:pPr lvl="1"/>
            <a:r>
              <a:rPr lang="ru-RU" dirty="0"/>
              <a:t>Повторяет команду</a:t>
            </a:r>
          </a:p>
        </p:txBody>
      </p:sp>
    </p:spTree>
    <p:extLst>
      <p:ext uri="{BB962C8B-B14F-4D97-AF65-F5344CB8AC3E}">
        <p14:creationId xmlns:p14="http://schemas.microsoft.com/office/powerpoint/2010/main" val="2016717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25A8-1078-E3EF-1CCC-5282CDF0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виртуального адреса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FD20C-072B-5267-211E-B5093FD7C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Виртуальный адрес делится на:</a:t>
            </a:r>
          </a:p>
          <a:p>
            <a:pPr lvl="1"/>
            <a:r>
              <a:rPr lang="ru-RU" b="1" dirty="0"/>
              <a:t>номер страницы</a:t>
            </a:r>
            <a:endParaRPr lang="ru-RU" dirty="0"/>
          </a:p>
          <a:p>
            <a:pPr lvl="1"/>
            <a:r>
              <a:rPr lang="ru-RU" b="1" dirty="0"/>
              <a:t>смещение (</a:t>
            </a:r>
            <a:r>
              <a:rPr lang="ru-RU" b="1" dirty="0" err="1"/>
              <a:t>offset</a:t>
            </a:r>
            <a:r>
              <a:rPr lang="ru-RU" b="1" dirty="0"/>
              <a:t>)</a:t>
            </a:r>
            <a:endParaRPr lang="ru-RU" dirty="0"/>
          </a:p>
          <a:p>
            <a:r>
              <a:rPr lang="ru-RU" dirty="0"/>
              <a:t>Пример: 16-битный адрес = 4 бита номера страницы + 12 бит смещения</a:t>
            </a:r>
          </a:p>
          <a:p>
            <a:r>
              <a:rPr lang="ru-RU" dirty="0"/>
              <a:t>Номер страницы используется как индекс в </a:t>
            </a:r>
            <a:r>
              <a:rPr lang="ru-RU" b="1" dirty="0"/>
              <a:t>таблице страниц (</a:t>
            </a:r>
            <a:r>
              <a:rPr lang="ru-RU" b="1" dirty="0" err="1"/>
              <a:t>page</a:t>
            </a:r>
            <a:r>
              <a:rPr lang="ru-RU" b="1" dirty="0"/>
              <a:t> </a:t>
            </a:r>
            <a:r>
              <a:rPr lang="ru-RU" b="1" dirty="0" err="1"/>
              <a:t>table</a:t>
            </a:r>
            <a:r>
              <a:rPr lang="ru-RU" b="1" dirty="0"/>
              <a:t>)</a:t>
            </a:r>
            <a:endParaRPr lang="ru-RU" dirty="0"/>
          </a:p>
          <a:p>
            <a:r>
              <a:rPr lang="ru-RU" dirty="0"/>
              <a:t>Таблица возвращает </a:t>
            </a:r>
            <a:r>
              <a:rPr lang="ru-RU" b="1" dirty="0"/>
              <a:t>номер физического фрейма</a:t>
            </a:r>
            <a:endParaRPr lang="ru-RU" dirty="0"/>
          </a:p>
          <a:p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5652FA4-4103-512D-E345-3C4C8BD34A42}"/>
              </a:ext>
            </a:extLst>
          </p:cNvPr>
          <p:cNvGrpSpPr/>
          <p:nvPr/>
        </p:nvGrpSpPr>
        <p:grpSpPr>
          <a:xfrm>
            <a:off x="2400301" y="6115049"/>
            <a:ext cx="9093200" cy="568325"/>
            <a:chOff x="1035050" y="5924550"/>
            <a:chExt cx="6197600" cy="387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9D18BA1-0F6B-3492-8688-1E061C7429F7}"/>
                </a:ext>
              </a:extLst>
            </p:cNvPr>
            <p:cNvSpPr/>
            <p:nvPr/>
          </p:nvSpPr>
          <p:spPr>
            <a:xfrm>
              <a:off x="1035050" y="5924550"/>
              <a:ext cx="387350" cy="3873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15</a:t>
              </a:r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AB204A9-965E-B245-5958-D754F735B851}"/>
                </a:ext>
              </a:extLst>
            </p:cNvPr>
            <p:cNvSpPr/>
            <p:nvPr/>
          </p:nvSpPr>
          <p:spPr>
            <a:xfrm>
              <a:off x="1422400" y="5924550"/>
              <a:ext cx="387350" cy="3873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0215683-9D6F-FBA2-C135-4F2673F3F88A}"/>
                </a:ext>
              </a:extLst>
            </p:cNvPr>
            <p:cNvSpPr/>
            <p:nvPr/>
          </p:nvSpPr>
          <p:spPr>
            <a:xfrm>
              <a:off x="1809750" y="5924550"/>
              <a:ext cx="387350" cy="3873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02AB94A-2401-9D16-A667-94DEAF85FF98}"/>
                </a:ext>
              </a:extLst>
            </p:cNvPr>
            <p:cNvSpPr/>
            <p:nvPr/>
          </p:nvSpPr>
          <p:spPr>
            <a:xfrm>
              <a:off x="2197100" y="5924550"/>
              <a:ext cx="387350" cy="3873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12</a:t>
              </a:r>
              <a:endParaRPr 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E81B25-9AF1-5E88-AC65-54A8E7C4ECCF}"/>
                </a:ext>
              </a:extLst>
            </p:cNvPr>
            <p:cNvSpPr/>
            <p:nvPr/>
          </p:nvSpPr>
          <p:spPr>
            <a:xfrm>
              <a:off x="2584450" y="5924550"/>
              <a:ext cx="387350" cy="3873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11</a:t>
              </a:r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1754029-0B32-C3CA-8183-F1650CD924B4}"/>
                </a:ext>
              </a:extLst>
            </p:cNvPr>
            <p:cNvSpPr/>
            <p:nvPr/>
          </p:nvSpPr>
          <p:spPr>
            <a:xfrm>
              <a:off x="2971800" y="5924550"/>
              <a:ext cx="387350" cy="3873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2B4EE0E-E289-BD31-C8E9-5439C60ADE1B}"/>
                </a:ext>
              </a:extLst>
            </p:cNvPr>
            <p:cNvSpPr/>
            <p:nvPr/>
          </p:nvSpPr>
          <p:spPr>
            <a:xfrm>
              <a:off x="3359150" y="5924550"/>
              <a:ext cx="387350" cy="3873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5318CD0-26D6-41FE-073E-9A86AB92CF12}"/>
                </a:ext>
              </a:extLst>
            </p:cNvPr>
            <p:cNvSpPr/>
            <p:nvPr/>
          </p:nvSpPr>
          <p:spPr>
            <a:xfrm>
              <a:off x="3746500" y="5924550"/>
              <a:ext cx="387350" cy="3873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A7D518E-7939-27C5-4516-8AE9CD6CA536}"/>
                </a:ext>
              </a:extLst>
            </p:cNvPr>
            <p:cNvSpPr/>
            <p:nvPr/>
          </p:nvSpPr>
          <p:spPr>
            <a:xfrm>
              <a:off x="4133850" y="5924550"/>
              <a:ext cx="387350" cy="3873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E114EEB-7C3B-3CC0-AE02-8223FD57BA1B}"/>
                </a:ext>
              </a:extLst>
            </p:cNvPr>
            <p:cNvSpPr/>
            <p:nvPr/>
          </p:nvSpPr>
          <p:spPr>
            <a:xfrm>
              <a:off x="4521200" y="5924550"/>
              <a:ext cx="387350" cy="3873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16EFD6C-6456-C44D-F577-8CF57BA5028A}"/>
                </a:ext>
              </a:extLst>
            </p:cNvPr>
            <p:cNvSpPr/>
            <p:nvPr/>
          </p:nvSpPr>
          <p:spPr>
            <a:xfrm>
              <a:off x="4908550" y="5924550"/>
              <a:ext cx="387350" cy="3873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0DCE346-F693-4D03-E19B-49629FB1F493}"/>
                </a:ext>
              </a:extLst>
            </p:cNvPr>
            <p:cNvSpPr/>
            <p:nvPr/>
          </p:nvSpPr>
          <p:spPr>
            <a:xfrm>
              <a:off x="5295900" y="5924550"/>
              <a:ext cx="387350" cy="3873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32F9058-884F-C9B7-0345-B55FF8BA8994}"/>
                </a:ext>
              </a:extLst>
            </p:cNvPr>
            <p:cNvSpPr/>
            <p:nvPr/>
          </p:nvSpPr>
          <p:spPr>
            <a:xfrm>
              <a:off x="5683250" y="5924550"/>
              <a:ext cx="387350" cy="3873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82B4B6B-2DFC-0828-02C7-13CDDBDBD9E1}"/>
                </a:ext>
              </a:extLst>
            </p:cNvPr>
            <p:cNvSpPr/>
            <p:nvPr/>
          </p:nvSpPr>
          <p:spPr>
            <a:xfrm>
              <a:off x="6070600" y="5924550"/>
              <a:ext cx="387350" cy="3873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ABCE549-0ED9-8AE1-BDB1-6105A9043CC0}"/>
                </a:ext>
              </a:extLst>
            </p:cNvPr>
            <p:cNvSpPr/>
            <p:nvPr/>
          </p:nvSpPr>
          <p:spPr>
            <a:xfrm>
              <a:off x="6457950" y="5924550"/>
              <a:ext cx="387350" cy="3873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0463748-B6AF-05D6-88D8-CDD343C09EB8}"/>
                </a:ext>
              </a:extLst>
            </p:cNvPr>
            <p:cNvSpPr/>
            <p:nvPr/>
          </p:nvSpPr>
          <p:spPr>
            <a:xfrm>
              <a:off x="6845300" y="5924550"/>
              <a:ext cx="387350" cy="3873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dirty="0"/>
                <a:t>0</a:t>
              </a:r>
              <a:endParaRPr lang="en-US" dirty="0"/>
            </a:p>
          </p:txBody>
        </p:sp>
      </p:grpSp>
      <p:sp>
        <p:nvSpPr>
          <p:cNvPr id="21" name="Right Brace 20">
            <a:extLst>
              <a:ext uri="{FF2B5EF4-FFF2-40B4-BE49-F238E27FC236}">
                <a16:creationId xmlns:a16="http://schemas.microsoft.com/office/drawing/2014/main" id="{0FE2CC22-8EBE-0192-B56B-502CAF495CA4}"/>
              </a:ext>
            </a:extLst>
          </p:cNvPr>
          <p:cNvSpPr/>
          <p:nvPr/>
        </p:nvSpPr>
        <p:spPr>
          <a:xfrm rot="16200000">
            <a:off x="3400426" y="4729163"/>
            <a:ext cx="203200" cy="220345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7F33126D-A37D-8005-64DD-F782B27E9585}"/>
              </a:ext>
            </a:extLst>
          </p:cNvPr>
          <p:cNvSpPr/>
          <p:nvPr/>
        </p:nvSpPr>
        <p:spPr>
          <a:xfrm rot="16200000">
            <a:off x="8003858" y="2442845"/>
            <a:ext cx="203200" cy="677608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CC21C4-D90C-35F7-7B0D-FC222AD174C1}"/>
              </a:ext>
            </a:extLst>
          </p:cNvPr>
          <p:cNvSpPr txBox="1"/>
          <p:nvPr/>
        </p:nvSpPr>
        <p:spPr>
          <a:xfrm>
            <a:off x="2355214" y="5359955"/>
            <a:ext cx="2085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Номер страницы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60127DB-91F8-CBB3-EBBE-E65BD14FB434}"/>
              </a:ext>
            </a:extLst>
          </p:cNvPr>
          <p:cNvSpPr txBox="1"/>
          <p:nvPr/>
        </p:nvSpPr>
        <p:spPr>
          <a:xfrm>
            <a:off x="4717414" y="5359955"/>
            <a:ext cx="6776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Смещение внутри страницы</a:t>
            </a:r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4D9B2F8-01B0-0C7F-AF74-C2C014D52B80}"/>
              </a:ext>
            </a:extLst>
          </p:cNvPr>
          <p:cNvSpPr txBox="1"/>
          <p:nvPr/>
        </p:nvSpPr>
        <p:spPr>
          <a:xfrm>
            <a:off x="56513" y="6176963"/>
            <a:ext cx="2298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Виртуальный адрес: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742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7105F-7F95-D850-7260-1C63BEB53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Масштаб и ограничения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66108-93E5-079A-C7BF-4841868D9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Для 16-битных адресов всё просто</a:t>
            </a:r>
          </a:p>
          <a:p>
            <a:r>
              <a:rPr lang="ru-RU" dirty="0"/>
              <a:t>Для 32-битных адресов (4 ГБ, страницы по 4К) нужно 1 048 576 записей</a:t>
            </a:r>
          </a:p>
          <a:p>
            <a:pPr lvl="1"/>
            <a:r>
              <a:rPr lang="ru-RU" dirty="0"/>
              <a:t>Ещё терпимо</a:t>
            </a:r>
          </a:p>
          <a:p>
            <a:r>
              <a:rPr lang="ru-RU" dirty="0"/>
              <a:t>Для 64-битных адресов — около 4,5×10¹⁵ записей (!), что невозможно</a:t>
            </a:r>
          </a:p>
          <a:p>
            <a:r>
              <a:rPr lang="ru-RU" dirty="0"/>
              <a:t>Поэтому нужны иерархические таблицы и TLB-кэш</a:t>
            </a:r>
          </a:p>
          <a:p>
            <a:pPr lvl="1"/>
            <a:r>
              <a:rPr lang="en-US" dirty="0"/>
              <a:t>TLB – Translation Lookaside Buffer </a:t>
            </a:r>
            <a:r>
              <a:rPr lang="ru-RU" dirty="0"/>
              <a:t>– кеш для недавно используемых преобразований адресов</a:t>
            </a:r>
          </a:p>
          <a:p>
            <a:r>
              <a:rPr lang="ru-RU" dirty="0"/>
              <a:t>Эти решения рассматриваются далее</a:t>
            </a:r>
          </a:p>
        </p:txBody>
      </p:sp>
    </p:spTree>
    <p:extLst>
      <p:ext uri="{BB962C8B-B14F-4D97-AF65-F5344CB8AC3E}">
        <p14:creationId xmlns:p14="http://schemas.microsoft.com/office/powerpoint/2010/main" val="19251205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BB226-6FEA-5499-811A-39F075F24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Paging: </a:t>
            </a:r>
            <a:r>
              <a:rPr lang="ru-RU" dirty="0"/>
              <a:t>ключевые идеи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67611-C20B-0C00-B29B-FBBD92460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/>
              <a:t>Память </a:t>
            </a:r>
            <a:r>
              <a:rPr lang="ru-RU" dirty="0"/>
              <a:t>делится на </a:t>
            </a:r>
            <a:r>
              <a:rPr lang="ru-RU" b="1" dirty="0"/>
              <a:t>страницы</a:t>
            </a:r>
            <a:r>
              <a:rPr lang="ru-RU" dirty="0"/>
              <a:t> (виртуальные) и </a:t>
            </a:r>
            <a:r>
              <a:rPr lang="ru-RU" b="1" dirty="0"/>
              <a:t>фреймы</a:t>
            </a:r>
            <a:r>
              <a:rPr lang="ru-RU" dirty="0"/>
              <a:t> (физические)</a:t>
            </a:r>
          </a:p>
          <a:p>
            <a:r>
              <a:rPr lang="ru-RU" dirty="0"/>
              <a:t>MMU отображает страницы на фреймы</a:t>
            </a:r>
          </a:p>
          <a:p>
            <a:r>
              <a:rPr lang="ru-RU" dirty="0"/>
              <a:t>Отсутствующие страницы подгружаются при обращении</a:t>
            </a:r>
          </a:p>
          <a:p>
            <a:r>
              <a:rPr lang="ru-RU" dirty="0"/>
              <a:t>Обеспечивается:</a:t>
            </a:r>
          </a:p>
          <a:p>
            <a:pPr lvl="1"/>
            <a:r>
              <a:rPr lang="ru-RU" dirty="0"/>
              <a:t>изоляция процессов</a:t>
            </a:r>
          </a:p>
          <a:p>
            <a:pPr lvl="1"/>
            <a:r>
              <a:rPr lang="ru-RU" dirty="0"/>
              <a:t>эффективное использование RAM</a:t>
            </a:r>
          </a:p>
          <a:p>
            <a:pPr lvl="1"/>
            <a:r>
              <a:rPr lang="ru-RU" dirty="0"/>
              <a:t>возможность программ, больше объёма памяти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92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EF1172-991F-10F6-92F8-93A60816F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Таблицы страниц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F7F773-A8DC-1318-AC27-2C96FFF935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41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F25565-F29E-503B-4682-D61B9683C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нужны таблицы страниц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A114C9-1D56-B27B-DAA1-70193BF65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Paging</a:t>
            </a:r>
            <a:r>
              <a:rPr lang="ru-RU" dirty="0"/>
              <a:t> делит память на виртуальные страницы и физические фреймы</a:t>
            </a:r>
          </a:p>
          <a:p>
            <a:r>
              <a:rPr lang="ru-RU" dirty="0"/>
              <a:t>Нужно хранить, какие страницы → каким фреймам соответствуют</a:t>
            </a:r>
          </a:p>
          <a:p>
            <a:r>
              <a:rPr lang="ru-RU" dirty="0"/>
              <a:t>Для этого существует таблица страниц (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table</a:t>
            </a:r>
            <a:r>
              <a:rPr lang="ru-RU" dirty="0"/>
              <a:t>)</a:t>
            </a:r>
          </a:p>
          <a:p>
            <a:r>
              <a:rPr lang="ru-RU" dirty="0"/>
              <a:t>Она выполняет функцию:</a:t>
            </a:r>
            <a:br>
              <a:rPr lang="ru-RU" dirty="0"/>
            </a:br>
            <a:r>
              <a:rPr lang="ru-RU" i="1" dirty="0"/>
              <a:t>виртуальный номер страницы → номер физического фрейма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8416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9B8F5DB-B778-EE0B-7C81-4B6981186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разбиения виртуального адреса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F28B4C0-6C68-AFA8-DC07-CD110DB3A1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Виртуальный адрес делится на две части:</a:t>
            </a:r>
          </a:p>
          <a:p>
            <a:pPr lvl="1"/>
            <a:r>
              <a:rPr lang="ru-RU" b="1" dirty="0"/>
              <a:t>номер страницы</a:t>
            </a:r>
            <a:r>
              <a:rPr lang="ru-RU" dirty="0"/>
              <a:t> — старшие биты</a:t>
            </a:r>
          </a:p>
          <a:p>
            <a:pPr lvl="1"/>
            <a:r>
              <a:rPr lang="ru-RU" b="1" dirty="0"/>
              <a:t>смещение (</a:t>
            </a:r>
            <a:r>
              <a:rPr lang="ru-RU" b="1" dirty="0" err="1"/>
              <a:t>offset</a:t>
            </a:r>
            <a:r>
              <a:rPr lang="ru-RU" b="1" dirty="0"/>
              <a:t>)</a:t>
            </a:r>
            <a:r>
              <a:rPr lang="ru-RU" dirty="0"/>
              <a:t> — младшие биты</a:t>
            </a:r>
          </a:p>
          <a:p>
            <a:r>
              <a:rPr lang="ru-RU" dirty="0"/>
              <a:t>Пример:</a:t>
            </a:r>
          </a:p>
          <a:p>
            <a:pPr lvl="1"/>
            <a:r>
              <a:rPr lang="ru-RU" dirty="0"/>
              <a:t>16-битный адрес = 4 бита страницы + 12 бит смещения</a:t>
            </a:r>
          </a:p>
          <a:p>
            <a:pPr lvl="1"/>
            <a:r>
              <a:rPr lang="ru-RU" dirty="0"/>
              <a:t>4 бита → 16 виртуальных страниц</a:t>
            </a:r>
          </a:p>
          <a:p>
            <a:pPr lvl="1"/>
            <a:r>
              <a:rPr lang="ru-RU" dirty="0"/>
              <a:t>каждая страница — 4 КБ</a:t>
            </a:r>
          </a:p>
          <a:p>
            <a:endParaRPr lang="en-US" dirty="0"/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9EEF8D78-3F3F-6D79-1CC4-54B4D97A052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955482" y="1825625"/>
            <a:ext cx="361503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3997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510D9-6754-078C-EA1C-F0ED08B6C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работает таблица страниц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88746-FD12-B5AA-90F4-CFB239700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Таблица хранится в памяти и управляется ОС</a:t>
            </a:r>
          </a:p>
          <a:p>
            <a:r>
              <a:rPr lang="ru-RU" dirty="0"/>
              <a:t>Для каждой страницы — </a:t>
            </a:r>
            <a:r>
              <a:rPr lang="ru-RU" b="1" dirty="0"/>
              <a:t>запись (</a:t>
            </a:r>
            <a:r>
              <a:rPr lang="en-US" b="1" dirty="0"/>
              <a:t>Page Table Entry, PTE)</a:t>
            </a:r>
            <a:endParaRPr lang="en-US" dirty="0"/>
          </a:p>
          <a:p>
            <a:r>
              <a:rPr lang="ru-RU" dirty="0"/>
              <a:t>Содержимое записи:</a:t>
            </a:r>
          </a:p>
          <a:p>
            <a:pPr lvl="1"/>
            <a:r>
              <a:rPr lang="ru-RU" dirty="0"/>
              <a:t>Номер физического фрейма</a:t>
            </a:r>
          </a:p>
          <a:p>
            <a:pPr lvl="1"/>
            <a:r>
              <a:rPr lang="ru-RU" dirty="0"/>
              <a:t>Бит присутствия (</a:t>
            </a:r>
            <a:r>
              <a:rPr lang="en-US" dirty="0"/>
              <a:t>Present/Absent)</a:t>
            </a:r>
          </a:p>
          <a:p>
            <a:pPr lvl="1"/>
            <a:r>
              <a:rPr lang="ru-RU" dirty="0"/>
              <a:t>Биты защиты (</a:t>
            </a:r>
            <a:r>
              <a:rPr lang="en-US" dirty="0"/>
              <a:t>Protection bits)</a:t>
            </a:r>
          </a:p>
          <a:p>
            <a:pPr lvl="1"/>
            <a:r>
              <a:rPr lang="ru-RU" dirty="0"/>
              <a:t>Биты состояния (</a:t>
            </a:r>
            <a:r>
              <a:rPr lang="en-US" dirty="0"/>
              <a:t>Modified, Referenced)</a:t>
            </a:r>
          </a:p>
          <a:p>
            <a:pPr lvl="1"/>
            <a:r>
              <a:rPr lang="ru-RU" dirty="0"/>
              <a:t>Бит режима (</a:t>
            </a:r>
            <a:r>
              <a:rPr lang="en-US" dirty="0"/>
              <a:t>Supervisor/User)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78DBFB-9527-6DA9-2DD9-BE9130D15E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3115"/>
          <a:stretch>
            <a:fillRect/>
          </a:stretch>
        </p:blipFill>
        <p:spPr>
          <a:xfrm>
            <a:off x="2251635" y="5201118"/>
            <a:ext cx="7516480" cy="1656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1392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69539-BD9D-4AC8-417D-F3CA214A4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Биты присутствия и защиты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97357-5E7C-E0F2-559E-01CE410AD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 err="1"/>
              <a:t>Present</a:t>
            </a:r>
            <a:r>
              <a:rPr lang="ru-RU" b="1" dirty="0"/>
              <a:t> (P)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1 — страница загружена</a:t>
            </a:r>
          </a:p>
          <a:p>
            <a:pPr lvl="1"/>
            <a:r>
              <a:rPr lang="ru-RU" dirty="0"/>
              <a:t>0 — отсутствует (вызовет </a:t>
            </a:r>
            <a:r>
              <a:rPr lang="ru-RU" i="1" dirty="0" err="1"/>
              <a:t>page</a:t>
            </a:r>
            <a:r>
              <a:rPr lang="ru-RU" i="1" dirty="0"/>
              <a:t> </a:t>
            </a:r>
            <a:r>
              <a:rPr lang="ru-RU" i="1" dirty="0" err="1"/>
              <a:t>fault</a:t>
            </a:r>
            <a:r>
              <a:rPr lang="ru-RU" dirty="0"/>
              <a:t>)</a:t>
            </a:r>
          </a:p>
          <a:p>
            <a:r>
              <a:rPr lang="ru-RU" b="1" dirty="0"/>
              <a:t>Protection </a:t>
            </a:r>
            <a:r>
              <a:rPr lang="ru-RU" b="1" dirty="0" err="1"/>
              <a:t>bits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Контролируют права доступа: чтение, запись, выполнение</a:t>
            </a:r>
          </a:p>
          <a:p>
            <a:pPr lvl="1"/>
            <a:r>
              <a:rPr lang="ru-RU" dirty="0"/>
              <a:t>Пример: R, W, X</a:t>
            </a:r>
          </a:p>
          <a:p>
            <a:r>
              <a:rPr lang="ru-RU" b="1" dirty="0" err="1"/>
              <a:t>Supervisor</a:t>
            </a:r>
            <a:r>
              <a:rPr lang="ru-RU" b="1" dirty="0"/>
              <a:t> </a:t>
            </a:r>
            <a:r>
              <a:rPr lang="ru-RU" b="1" dirty="0" err="1"/>
              <a:t>bit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1 — только ядро</a:t>
            </a:r>
          </a:p>
          <a:p>
            <a:pPr lvl="1"/>
            <a:r>
              <a:rPr lang="ru-RU" dirty="0"/>
              <a:t>0 — доступна пользователю</a:t>
            </a:r>
          </a:p>
        </p:txBody>
      </p:sp>
    </p:spTree>
    <p:extLst>
      <p:ext uri="{BB962C8B-B14F-4D97-AF65-F5344CB8AC3E}">
        <p14:creationId xmlns:p14="http://schemas.microsoft.com/office/powerpoint/2010/main" val="3520081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E58EB-E29C-3375-3C38-0D6F286BC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Биты состояния: </a:t>
            </a:r>
            <a:r>
              <a:rPr lang="en-US" dirty="0"/>
              <a:t>Modified </a:t>
            </a:r>
            <a:r>
              <a:rPr lang="ru-RU" dirty="0"/>
              <a:t>и </a:t>
            </a:r>
            <a:r>
              <a:rPr lang="en-US" dirty="0"/>
              <a:t>Referenced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1DF2B-B2FA-374C-8627-8352F81D4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Modified</a:t>
            </a:r>
            <a:r>
              <a:rPr lang="ru-RU" b="1" dirty="0"/>
              <a:t> (</a:t>
            </a:r>
            <a:r>
              <a:rPr lang="ru-RU" b="1" dirty="0" err="1"/>
              <a:t>Dirty</a:t>
            </a:r>
            <a:r>
              <a:rPr lang="ru-RU" b="1" dirty="0"/>
              <a:t> </a:t>
            </a:r>
            <a:r>
              <a:rPr lang="ru-RU" b="1" dirty="0" err="1"/>
              <a:t>bit</a:t>
            </a:r>
            <a:r>
              <a:rPr lang="ru-RU" b="1" dirty="0"/>
              <a:t>)</a:t>
            </a:r>
            <a:r>
              <a:rPr lang="ru-RU" dirty="0"/>
              <a:t> — страница изменялась</a:t>
            </a:r>
          </a:p>
          <a:p>
            <a:pPr lvl="1"/>
            <a:r>
              <a:rPr lang="ru-RU" dirty="0"/>
              <a:t>Нужен при выгрузке на диск</a:t>
            </a:r>
          </a:p>
          <a:p>
            <a:r>
              <a:rPr lang="ru-RU" b="1" dirty="0" err="1"/>
              <a:t>Referenced</a:t>
            </a:r>
            <a:r>
              <a:rPr lang="ru-RU" b="1" dirty="0"/>
              <a:t> </a:t>
            </a:r>
            <a:r>
              <a:rPr lang="ru-RU" b="1" dirty="0" err="1"/>
              <a:t>bit</a:t>
            </a:r>
            <a:r>
              <a:rPr lang="ru-RU" dirty="0"/>
              <a:t> — страница недавно использовалась</a:t>
            </a:r>
          </a:p>
          <a:p>
            <a:pPr lvl="1"/>
            <a:r>
              <a:rPr lang="ru-RU" dirty="0"/>
              <a:t>Помогает алгоритмам замещения (LRU и др.)</a:t>
            </a:r>
          </a:p>
          <a:p>
            <a:r>
              <a:rPr lang="ru-RU" dirty="0"/>
              <a:t>Эти биты автоматически устанавливаются </a:t>
            </a:r>
            <a:r>
              <a:rPr lang="ru-RU" b="1" dirty="0" err="1"/>
              <a:t>аппаратно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298272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0965F-03D3-33D6-F87E-3D05AC394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Размер и структура записи в таблице страниц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B05EE-206C-EA64-D150-BCAF7B64D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Современная запись таблицы страниц — </a:t>
            </a:r>
            <a:r>
              <a:rPr lang="ru-RU" b="1" dirty="0"/>
              <a:t>64 бита</a:t>
            </a:r>
            <a:endParaRPr lang="ru-RU" dirty="0"/>
          </a:p>
          <a:p>
            <a:r>
              <a:rPr lang="ru-RU" dirty="0"/>
              <a:t>52 бита - номер фрейма (при размере страницы 4К)</a:t>
            </a:r>
          </a:p>
          <a:p>
            <a:r>
              <a:rPr lang="ru-RU" dirty="0"/>
              <a:t>12 бит - служебная информация (флаги, разрешения и т. д.)</a:t>
            </a:r>
          </a:p>
          <a:p>
            <a:r>
              <a:rPr lang="ru-RU" dirty="0"/>
              <a:t>Структура аппаратно-зависима, но смысл одинаков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1636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FC0FE-A774-29FE-0AB0-A606782D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Защита и изоляция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F291D-84DF-CB81-32DA-3AD5B2D5A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Таблицы страниц — это ещё и механизм защиты.</a:t>
            </a:r>
          </a:p>
          <a:p>
            <a:r>
              <a:rPr lang="ru-RU" dirty="0"/>
              <a:t>Обычно страницы ядра и пользовательские страницы хранятся в одном адресном пространстве, но имеют разные флаги доступа.</a:t>
            </a:r>
          </a:p>
          <a:p>
            <a:r>
              <a:rPr lang="ru-RU" dirty="0"/>
              <a:t>Попытка пользователя обратиться к адресу ядра немедленно вызывает </a:t>
            </a:r>
            <a:r>
              <a:rPr lang="ru-RU" b="1" dirty="0" err="1"/>
              <a:t>fault</a:t>
            </a:r>
            <a:r>
              <a:rPr lang="ru-RU" dirty="0"/>
              <a:t>.</a:t>
            </a:r>
          </a:p>
          <a:p>
            <a:r>
              <a:rPr lang="ru-RU" dirty="0"/>
              <a:t>Кроме того, многие ОС специально не выделяют страницы в начале памяти (адрес 0), чтобы ловить ошибки вроде обращения к неинициализированному указателю.</a:t>
            </a:r>
          </a:p>
          <a:p>
            <a:r>
              <a:rPr lang="ru-RU" dirty="0"/>
              <a:t>Например, пользовательские программы часто начинают с </a:t>
            </a:r>
            <a:r>
              <a:rPr lang="ru-RU" b="1" dirty="0"/>
              <a:t>адреса 0x1000 (4К)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Тогда любое обращение к нулю вызывает исключение, и программа может быть безопасно остановлена.</a:t>
            </a:r>
          </a:p>
        </p:txBody>
      </p:sp>
    </p:spTree>
    <p:extLst>
      <p:ext uri="{BB962C8B-B14F-4D97-AF65-F5344CB8AC3E}">
        <p14:creationId xmlns:p14="http://schemas.microsoft.com/office/powerpoint/2010/main" val="16694327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88AF8-3B6A-ED79-98F9-7242CA41D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Итог: роль таблицы страниц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CED33-5415-649E-4CC9-A2CD618A8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Таблица страниц — ключевая структура виртуальной памяти</a:t>
            </a:r>
          </a:p>
          <a:p>
            <a:r>
              <a:rPr lang="ru-RU" dirty="0"/>
              <a:t>Обеспечивает:</a:t>
            </a:r>
          </a:p>
          <a:p>
            <a:pPr lvl="1"/>
            <a:r>
              <a:rPr lang="ru-RU" dirty="0"/>
              <a:t>отображение виртуальных страниц в физические</a:t>
            </a:r>
          </a:p>
          <a:p>
            <a:pPr lvl="1"/>
            <a:r>
              <a:rPr lang="ru-RU" dirty="0"/>
              <a:t>контроль доступа</a:t>
            </a:r>
          </a:p>
          <a:p>
            <a:pPr lvl="1"/>
            <a:r>
              <a:rPr lang="ru-RU" dirty="0"/>
              <a:t>отслеживание активности страниц</a:t>
            </a:r>
          </a:p>
          <a:p>
            <a:r>
              <a:rPr lang="ru-RU" dirty="0"/>
              <a:t>Управляется ОС, но используется </a:t>
            </a:r>
            <a:r>
              <a:rPr lang="ru-RU" b="1" dirty="0"/>
              <a:t>MMU </a:t>
            </a:r>
            <a:r>
              <a:rPr lang="ru-RU" b="1" dirty="0" err="1"/>
              <a:t>аппаратно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28859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F1E35B-F524-D4D1-A62D-44FE0D2C0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Многоуровневые таблицы страниц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1CE8BA-F856-1222-4595-C1AEC4363E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6053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F4475B-A81C-B7BC-C114-DF5889E7D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большого размера таблиц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0D13AB1-D3B9-5264-7E4A-88D133F87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32-битной системы (4 ГБ адресов, страницы по 4К): нужно </a:t>
            </a:r>
            <a:r>
              <a:rPr lang="ru-RU" b="1" dirty="0"/>
              <a:t>1 048 576 записей</a:t>
            </a:r>
            <a:r>
              <a:rPr lang="ru-RU" dirty="0"/>
              <a:t> (1 млн строк, десятки мегабайт на процесс)</a:t>
            </a:r>
          </a:p>
          <a:p>
            <a:r>
              <a:rPr lang="ru-RU" dirty="0"/>
              <a:t>Для 64-битной системы: потребовалось бы ≈ 4,5 × 10¹⁵ записей (!)</a:t>
            </a:r>
          </a:p>
          <a:p>
            <a:r>
              <a:rPr lang="ru-RU" dirty="0"/>
              <a:t>Таблицу невозможно хранить целиком в памяти</a:t>
            </a:r>
          </a:p>
          <a:p>
            <a:r>
              <a:rPr lang="ru-RU" dirty="0"/>
              <a:t>Решение: иерархическая структура (</a:t>
            </a:r>
            <a:r>
              <a:rPr lang="ru-RU" dirty="0" err="1"/>
              <a:t>multi-level</a:t>
            </a:r>
            <a:r>
              <a:rPr lang="ru-RU" dirty="0"/>
              <a:t>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tables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431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33A75-1CEF-0E26-B407-01B056F14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Многоуровневые таблицы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CF7DB-AEF5-94F4-EBDB-8A5D5FE22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Таблица делится на страницы второго, третьего и четвёртого уровня</a:t>
            </a:r>
          </a:p>
          <a:p>
            <a:r>
              <a:rPr lang="ru-RU" dirty="0"/>
              <a:t>Виртуальный адрес разделяется на несколько полей:</a:t>
            </a:r>
          </a:p>
          <a:p>
            <a:pPr lvl="1"/>
            <a:r>
              <a:rPr lang="ru-RU" dirty="0"/>
              <a:t>номер таблицы верхнего уровня</a:t>
            </a:r>
          </a:p>
          <a:p>
            <a:pPr lvl="1"/>
            <a:r>
              <a:rPr lang="ru-RU" dirty="0"/>
              <a:t>номера подтаблиц</a:t>
            </a:r>
          </a:p>
          <a:p>
            <a:pPr lvl="1"/>
            <a:r>
              <a:rPr lang="ru-RU" dirty="0"/>
              <a:t>смещение в странице</a:t>
            </a:r>
          </a:p>
          <a:p>
            <a:r>
              <a:rPr lang="ru-RU" dirty="0"/>
              <a:t>Неиспользуемые подтаблицы просто не создаются</a:t>
            </a:r>
          </a:p>
        </p:txBody>
      </p:sp>
    </p:spTree>
    <p:extLst>
      <p:ext uri="{BB962C8B-B14F-4D97-AF65-F5344CB8AC3E}">
        <p14:creationId xmlns:p14="http://schemas.microsoft.com/office/powerpoint/2010/main" val="13431621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18EA6-969D-5C71-DE0F-BA0E3BB35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двухуровневая таблица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1FE44-C003-4926-16C8-E18682899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Виртуальный адрес (32 бита) делится на 3 части:</a:t>
            </a:r>
          </a:p>
          <a:p>
            <a:pPr lvl="1"/>
            <a:r>
              <a:rPr lang="ru-RU" dirty="0"/>
              <a:t>10 бит </a:t>
            </a:r>
            <a:r>
              <a:rPr lang="en-US" dirty="0"/>
              <a:t>-</a:t>
            </a:r>
            <a:r>
              <a:rPr lang="ru-RU" dirty="0"/>
              <a:t> индекс в таблице верхнего уровня (</a:t>
            </a:r>
            <a:r>
              <a:rPr lang="en-US" dirty="0"/>
              <a:t>Page Directory)</a:t>
            </a:r>
            <a:endParaRPr lang="ru-RU" dirty="0"/>
          </a:p>
          <a:p>
            <a:pPr lvl="1"/>
            <a:r>
              <a:rPr lang="ru-RU" dirty="0"/>
              <a:t>10 бит </a:t>
            </a:r>
            <a:r>
              <a:rPr lang="en-US" dirty="0"/>
              <a:t>-</a:t>
            </a:r>
            <a:r>
              <a:rPr lang="ru-RU" dirty="0"/>
              <a:t> индекс во второй таблице</a:t>
            </a:r>
            <a:r>
              <a:rPr lang="en-US" dirty="0"/>
              <a:t> (Page Table)</a:t>
            </a:r>
            <a:endParaRPr lang="ru-RU" dirty="0"/>
          </a:p>
          <a:p>
            <a:pPr lvl="1"/>
            <a:r>
              <a:rPr lang="ru-RU" dirty="0"/>
              <a:t>12 бит </a:t>
            </a:r>
            <a:r>
              <a:rPr lang="en-US" dirty="0"/>
              <a:t>-</a:t>
            </a:r>
            <a:r>
              <a:rPr lang="ru-RU" dirty="0"/>
              <a:t> смещение внутри страницы</a:t>
            </a:r>
          </a:p>
          <a:p>
            <a:r>
              <a:rPr lang="ru-RU" dirty="0"/>
              <a:t>Таблица верхнего уровня: 1024 записей</a:t>
            </a:r>
          </a:p>
          <a:p>
            <a:pPr lvl="1"/>
            <a:r>
              <a:rPr lang="ru-RU" dirty="0"/>
              <a:t>Каждая запись указывает на таблицу второго уровня (тоже 1024 записей)</a:t>
            </a:r>
          </a:p>
          <a:p>
            <a:r>
              <a:rPr lang="ru-RU" dirty="0"/>
              <a:t>В сумме: покрывается всё пространство в 4 ГБ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2853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C5253-B9B3-D51D-3B18-BB46590A6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Двухуровневая таблица страниц на </a:t>
            </a:r>
            <a:r>
              <a:rPr lang="en-US" dirty="0"/>
              <a:t>x86 (</a:t>
            </a:r>
            <a:r>
              <a:rPr lang="ru-RU" dirty="0"/>
              <a:t>без </a:t>
            </a:r>
            <a:r>
              <a:rPr lang="en-US" dirty="0"/>
              <a:t>PAE</a:t>
            </a:r>
            <a:r>
              <a:rPr lang="ru-RU" dirty="0"/>
              <a:t> и </a:t>
            </a:r>
            <a:r>
              <a:rPr lang="en-US" dirty="0"/>
              <a:t>PSE)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A64509-DD08-4DCF-8BDF-086B578464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717" y="1831607"/>
            <a:ext cx="6815528" cy="4895327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DA0DFF-E161-E81D-7C96-C93C5CE474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793" y="1831607"/>
            <a:ext cx="4500841" cy="446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9943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4DB5A-64AB-B51D-0AF8-5B999F971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Четырехуровневая структура в </a:t>
            </a:r>
            <a:r>
              <a:rPr lang="en-US" dirty="0"/>
              <a:t>x86-64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8BAAD-1ACA-0E7D-724B-3A88D2A7B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</a:t>
            </a:r>
            <a:r>
              <a:rPr lang="en-US" dirty="0"/>
              <a:t>x86-64 </a:t>
            </a:r>
            <a:r>
              <a:rPr lang="ru-RU" dirty="0"/>
              <a:t>адрес (48 бит используемых) делится на:</a:t>
            </a:r>
          </a:p>
          <a:p>
            <a:pPr lvl="1"/>
            <a:r>
              <a:rPr lang="ru-RU" dirty="0"/>
              <a:t>9 бит — </a:t>
            </a:r>
            <a:r>
              <a:rPr lang="en-US" dirty="0"/>
              <a:t>Page Map Level 4 (PML4)</a:t>
            </a:r>
          </a:p>
          <a:p>
            <a:pPr lvl="1"/>
            <a:r>
              <a:rPr lang="en-US" dirty="0"/>
              <a:t>9 </a:t>
            </a:r>
            <a:r>
              <a:rPr lang="ru-RU" dirty="0"/>
              <a:t>бит — </a:t>
            </a:r>
            <a:r>
              <a:rPr lang="en-US" dirty="0"/>
              <a:t>Page Directory Pointer Table (PDPT)</a:t>
            </a:r>
          </a:p>
          <a:p>
            <a:pPr lvl="1"/>
            <a:r>
              <a:rPr lang="en-US" dirty="0"/>
              <a:t>9 </a:t>
            </a:r>
            <a:r>
              <a:rPr lang="ru-RU" dirty="0"/>
              <a:t>бит — </a:t>
            </a:r>
            <a:r>
              <a:rPr lang="en-US" dirty="0"/>
              <a:t>Page Directory (PD)</a:t>
            </a:r>
          </a:p>
          <a:p>
            <a:pPr lvl="1"/>
            <a:r>
              <a:rPr lang="en-US" dirty="0"/>
              <a:t>9 </a:t>
            </a:r>
            <a:r>
              <a:rPr lang="ru-RU" dirty="0"/>
              <a:t>бит — </a:t>
            </a:r>
            <a:r>
              <a:rPr lang="en-US" dirty="0"/>
              <a:t>Page Table (PT)</a:t>
            </a:r>
          </a:p>
          <a:p>
            <a:pPr lvl="1"/>
            <a:r>
              <a:rPr lang="en-US" dirty="0"/>
              <a:t>12 </a:t>
            </a:r>
            <a:r>
              <a:rPr lang="ru-RU" dirty="0"/>
              <a:t>бит — </a:t>
            </a:r>
            <a:r>
              <a:rPr lang="en-US" dirty="0"/>
              <a:t>Offset</a:t>
            </a:r>
          </a:p>
          <a:p>
            <a:r>
              <a:rPr lang="ru-RU" dirty="0"/>
              <a:t>Каждая таблица содержит 512 записей (2⁹)</a:t>
            </a:r>
          </a:p>
          <a:p>
            <a:r>
              <a:rPr lang="ru-RU" dirty="0"/>
              <a:t>Итого 4 уровня вложенности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9257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786CB-A14F-53F2-654E-2D5979E8A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4-</a:t>
            </a:r>
            <a:r>
              <a:rPr lang="ru-RU" dirty="0"/>
              <a:t>х уровневая таблица в </a:t>
            </a:r>
            <a:r>
              <a:rPr lang="en-US" dirty="0"/>
              <a:t>x86/64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7AD8F7-AFE7-FC72-95F3-7E658D572A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9621" y="1825625"/>
            <a:ext cx="919275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0795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A520A-1C77-9593-8C47-E721D19D1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многоуровневого подхода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70E95-49D7-306C-8F6B-BC90BEE66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 нужно держать всю таблицу в памяти</a:t>
            </a:r>
          </a:p>
          <a:p>
            <a:r>
              <a:rPr lang="ru-RU" dirty="0"/>
              <a:t>Таблицы создаются </a:t>
            </a:r>
            <a:r>
              <a:rPr lang="ru-RU" b="1" dirty="0"/>
              <a:t>по требованию</a:t>
            </a:r>
            <a:endParaRPr lang="ru-RU" dirty="0"/>
          </a:p>
          <a:p>
            <a:r>
              <a:rPr lang="ru-RU" dirty="0"/>
              <a:t>Экономия памяти и гибкость</a:t>
            </a:r>
          </a:p>
          <a:p>
            <a:r>
              <a:rPr lang="ru-RU" dirty="0"/>
              <a:t>Упрощается работа с большими адресными пространствами</a:t>
            </a:r>
          </a:p>
          <a:p>
            <a:r>
              <a:rPr lang="ru-RU" dirty="0"/>
              <a:t>Легче кэшировать части таблицы (через </a:t>
            </a:r>
            <a:r>
              <a:rPr lang="ru-RU" b="1" dirty="0"/>
              <a:t>TLB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855733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265E2-255E-DC1E-F034-4193B71FA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Недостатки и компромиссы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48299-0657-64C6-8F77-022C164FF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Многоуровневая структура увеличивает </a:t>
            </a:r>
            <a:r>
              <a:rPr lang="ru-RU" b="1" dirty="0"/>
              <a:t>время поиска</a:t>
            </a:r>
            <a:r>
              <a:rPr lang="ru-RU" dirty="0"/>
              <a:t> (до 4 обращений)</a:t>
            </a:r>
          </a:p>
          <a:p>
            <a:r>
              <a:rPr lang="ru-RU" dirty="0"/>
              <a:t>Используется </a:t>
            </a:r>
            <a:r>
              <a:rPr lang="ru-RU" b="1" dirty="0"/>
              <a:t>TLB</a:t>
            </a:r>
            <a:r>
              <a:rPr lang="ru-RU" dirty="0"/>
              <a:t> (</a:t>
            </a:r>
            <a:r>
              <a:rPr lang="en-US" dirty="0"/>
              <a:t>Translation Lookaside Buffer)</a:t>
            </a:r>
            <a:r>
              <a:rPr lang="ru-RU" dirty="0"/>
              <a:t>, чтобы ускорить преобразование</a:t>
            </a:r>
            <a:r>
              <a:rPr lang="en-US" dirty="0"/>
              <a:t> </a:t>
            </a:r>
            <a:r>
              <a:rPr lang="ru-RU" dirty="0"/>
              <a:t>виртуальных адресов в физические</a:t>
            </a:r>
          </a:p>
          <a:p>
            <a:r>
              <a:rPr lang="ru-RU" dirty="0"/>
              <a:t>Переключение контекста требует обновления TLB</a:t>
            </a:r>
          </a:p>
          <a:p>
            <a:r>
              <a:rPr lang="ru-RU" dirty="0"/>
              <a:t>Возможен компромисс — большие страницы (2 МБ, 1 ГБ)</a:t>
            </a:r>
          </a:p>
        </p:txBody>
      </p:sp>
    </p:spTree>
    <p:extLst>
      <p:ext uri="{BB962C8B-B14F-4D97-AF65-F5344CB8AC3E}">
        <p14:creationId xmlns:p14="http://schemas.microsoft.com/office/powerpoint/2010/main" val="37946506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786DA-21BD-F77C-DAC4-80E3EA4BC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Итоги: Зачем нужны многоуровневые таблицы страниц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4FF0D-78C3-BC3D-E88C-0D5A123EA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Позволяют работать с огромными адресными пространствами</a:t>
            </a:r>
          </a:p>
          <a:p>
            <a:r>
              <a:rPr lang="ru-RU" dirty="0"/>
              <a:t>Экономят память — создаются только нужные таблицы</a:t>
            </a:r>
          </a:p>
          <a:p>
            <a:r>
              <a:rPr lang="ru-RU" dirty="0"/>
              <a:t>Ускоряются с помощью TLB</a:t>
            </a:r>
          </a:p>
          <a:p>
            <a:r>
              <a:rPr lang="ru-RU" dirty="0"/>
              <a:t>Являются стандартом во всех современных архитектурах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5024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DDA8E-F899-CA2C-46E6-34E22CE2C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исполняемая страница должна быть читаемой</a:t>
            </a:r>
            <a:r>
              <a:rPr lang="en-US" dirty="0"/>
              <a:t> (</a:t>
            </a:r>
            <a:r>
              <a:rPr lang="ru-RU" dirty="0"/>
              <a:t>на </a:t>
            </a:r>
            <a:r>
              <a:rPr lang="en-US" dirty="0"/>
              <a:t>x86)?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C7C80-15D8-D5FC-1B42-A53BCA68E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Процессор выполняет инструкцию, считывая байты из памяти</a:t>
            </a:r>
            <a:r>
              <a:rPr lang="en-US" dirty="0"/>
              <a:t> </a:t>
            </a:r>
            <a:r>
              <a:rPr lang="ru-RU" dirty="0"/>
              <a:t>—</a:t>
            </a:r>
            <a:r>
              <a:rPr lang="en-US" dirty="0"/>
              <a:t> </a:t>
            </a:r>
            <a:r>
              <a:rPr lang="ru-RU" dirty="0"/>
              <a:t>исполнение = особая форма чтения.</a:t>
            </a:r>
          </a:p>
          <a:p>
            <a:r>
              <a:rPr lang="ru-RU" dirty="0"/>
              <a:t>В PTE нет отдельного “</a:t>
            </a:r>
            <a:r>
              <a:rPr lang="ru-RU" dirty="0" err="1"/>
              <a:t>Read</a:t>
            </a:r>
            <a:r>
              <a:rPr lang="ru-RU" dirty="0"/>
              <a:t>” бита:</a:t>
            </a:r>
            <a:r>
              <a:rPr lang="en-US" dirty="0"/>
              <a:t> </a:t>
            </a:r>
            <a:r>
              <a:rPr lang="ru-RU" dirty="0"/>
              <a:t>если страница присутствует (P=1) и не помечена NX,</a:t>
            </a:r>
            <a:r>
              <a:rPr lang="en-US" dirty="0"/>
              <a:t> </a:t>
            </a:r>
            <a:r>
              <a:rPr lang="ru-RU" dirty="0"/>
              <a:t>то чтение и исполнение всегда разрешены вместе.</a:t>
            </a:r>
          </a:p>
          <a:p>
            <a:r>
              <a:rPr lang="ru-RU" dirty="0" err="1"/>
              <a:t>Execute-only</a:t>
            </a:r>
            <a:r>
              <a:rPr lang="ru-RU" dirty="0"/>
              <a:t> страниц на x86-64 не существует.</a:t>
            </a:r>
          </a:p>
          <a:p>
            <a:r>
              <a:rPr lang="ru-RU" dirty="0"/>
              <a:t>Бит NX (No </a:t>
            </a:r>
            <a:r>
              <a:rPr lang="ru-RU" dirty="0" err="1"/>
              <a:t>Execute</a:t>
            </a:r>
            <a:r>
              <a:rPr lang="ru-RU" dirty="0"/>
              <a:t>) лишь </a:t>
            </a:r>
            <a:r>
              <a:rPr lang="ru-RU" i="1" dirty="0"/>
              <a:t>запрещает выполнение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но не запрещает чтение.</a:t>
            </a:r>
            <a:endParaRPr lang="en-US" dirty="0"/>
          </a:p>
          <a:p>
            <a:r>
              <a:rPr lang="ru-RU" dirty="0"/>
              <a:t>На других архитектурах (</a:t>
            </a:r>
            <a:r>
              <a:rPr lang="en-US" dirty="0"/>
              <a:t>ARMv8-A, RISC-V </a:t>
            </a:r>
            <a:r>
              <a:rPr lang="ru-RU" dirty="0"/>
              <a:t>можно сделать </a:t>
            </a:r>
            <a:r>
              <a:rPr lang="en-US" dirty="0"/>
              <a:t>Execute-Only Memory)</a:t>
            </a:r>
          </a:p>
          <a:p>
            <a:pPr lvl="1"/>
            <a:r>
              <a:rPr lang="ru-RU" dirty="0"/>
              <a:t>Повышает безопасность, так как код нельзя просканировать или считать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708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C5184-0703-86B6-E72C-62B55C8A2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на </a:t>
            </a:r>
            <a:r>
              <a:rPr lang="en-US" dirty="0"/>
              <a:t>x86</a:t>
            </a:r>
            <a:r>
              <a:rPr lang="ru-RU" dirty="0"/>
              <a:t> нет </a:t>
            </a:r>
            <a:r>
              <a:rPr lang="en-US" dirty="0"/>
              <a:t>Write-Only </a:t>
            </a:r>
            <a:r>
              <a:rPr lang="ru-RU" dirty="0"/>
              <a:t>страниц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0F5E3-AFF3-281F-F61A-51F5A9A7D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Архитектура x86: бит R/W разрешает запись </a:t>
            </a:r>
            <a:r>
              <a:rPr lang="ru-RU" i="1" dirty="0"/>
              <a:t>в дополнение</a:t>
            </a:r>
            <a:r>
              <a:rPr lang="ru-RU" dirty="0"/>
              <a:t> к чтению</a:t>
            </a:r>
          </a:p>
          <a:p>
            <a:r>
              <a:rPr lang="ru-RU" dirty="0"/>
              <a:t>В таблице страниц (PTE) всего один бит доступа R/W:</a:t>
            </a:r>
          </a:p>
          <a:p>
            <a:pPr lvl="1"/>
            <a:r>
              <a:rPr lang="ru-RU" dirty="0"/>
              <a:t>R/W = 0 → только чтение</a:t>
            </a:r>
          </a:p>
          <a:p>
            <a:pPr lvl="1"/>
            <a:r>
              <a:rPr lang="ru-RU" dirty="0"/>
              <a:t>R/W = 1 → чтение и запись</a:t>
            </a:r>
          </a:p>
          <a:p>
            <a:r>
              <a:rPr lang="ru-RU" dirty="0"/>
              <a:t>Нет комбинации, разрешающей запись без чтения.</a:t>
            </a:r>
          </a:p>
          <a:p>
            <a:r>
              <a:rPr lang="ru-RU" dirty="0"/>
              <a:t>Режим “</a:t>
            </a:r>
            <a:r>
              <a:rPr lang="ru-RU" dirty="0" err="1"/>
              <a:t>write-only</a:t>
            </a:r>
            <a:r>
              <a:rPr lang="ru-RU" dirty="0"/>
              <a:t>” </a:t>
            </a:r>
            <a:r>
              <a:rPr lang="ru-RU" dirty="0" err="1"/>
              <a:t>аппаратно</a:t>
            </a:r>
            <a:r>
              <a:rPr lang="ru-RU" dirty="0"/>
              <a:t> невозможен — чтение всегда включено, если разрешена запись.</a:t>
            </a:r>
            <a:endParaRPr lang="en-US" dirty="0"/>
          </a:p>
          <a:p>
            <a:r>
              <a:rPr lang="ru-RU" dirty="0"/>
              <a:t>Почему так сделано</a:t>
            </a:r>
          </a:p>
          <a:p>
            <a:pPr lvl="1"/>
            <a:r>
              <a:rPr lang="ru-RU" dirty="0"/>
              <a:t>Процессор при записи должен читать строку кэша → без чтения невозможно.</a:t>
            </a:r>
          </a:p>
          <a:p>
            <a:pPr lvl="1"/>
            <a:r>
              <a:rPr lang="ru-RU" dirty="0"/>
              <a:t>“</a:t>
            </a:r>
            <a:r>
              <a:rPr lang="ru-RU" dirty="0" err="1"/>
              <a:t>Write-only</a:t>
            </a:r>
            <a:r>
              <a:rPr lang="ru-RU" dirty="0"/>
              <a:t>” не даёт новых гарантий безопасности, но усложняет аппарат.</a:t>
            </a:r>
          </a:p>
          <a:p>
            <a:pPr lvl="1"/>
            <a:r>
              <a:rPr lang="ru-RU" dirty="0"/>
              <a:t>Вся модель памяти x86 построена на принципе </a:t>
            </a:r>
            <a:r>
              <a:rPr lang="ru-RU" i="1" dirty="0" err="1"/>
              <a:t>read-modify-write</a:t>
            </a:r>
            <a:r>
              <a:rPr lang="ru-RU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8757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B0C73-7A22-FA70-33B8-E179015A1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Разрешённые и запрещённые комбинации прав доступа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95675BE-7FE4-55F8-A540-1A35C265F7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4624667"/>
              </p:ext>
            </p:extLst>
          </p:nvPr>
        </p:nvGraphicFramePr>
        <p:xfrm>
          <a:off x="838200" y="1825625"/>
          <a:ext cx="10515600" cy="458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1150">
                  <a:extLst>
                    <a:ext uri="{9D8B030D-6E8A-4147-A177-3AD203B41FA5}">
                      <a16:colId xmlns:a16="http://schemas.microsoft.com/office/drawing/2014/main" val="4234862049"/>
                    </a:ext>
                  </a:extLst>
                </a:gridCol>
                <a:gridCol w="2335530">
                  <a:extLst>
                    <a:ext uri="{9D8B030D-6E8A-4147-A177-3AD203B41FA5}">
                      <a16:colId xmlns:a16="http://schemas.microsoft.com/office/drawing/2014/main" val="2615357206"/>
                    </a:ext>
                  </a:extLst>
                </a:gridCol>
                <a:gridCol w="955040">
                  <a:extLst>
                    <a:ext uri="{9D8B030D-6E8A-4147-A177-3AD203B41FA5}">
                      <a16:colId xmlns:a16="http://schemas.microsoft.com/office/drawing/2014/main" val="2409163768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1649807419"/>
                    </a:ext>
                  </a:extLst>
                </a:gridCol>
                <a:gridCol w="1137920">
                  <a:extLst>
                    <a:ext uri="{9D8B030D-6E8A-4147-A177-3AD203B41FA5}">
                      <a16:colId xmlns:a16="http://schemas.microsoft.com/office/drawing/2014/main" val="3500467358"/>
                    </a:ext>
                  </a:extLst>
                </a:gridCol>
                <a:gridCol w="3225800">
                  <a:extLst>
                    <a:ext uri="{9D8B030D-6E8A-4147-A177-3AD203B41FA5}">
                      <a16:colId xmlns:a16="http://schemas.microsoft.com/office/drawing/2014/main" val="36986239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Комбинация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Значение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X86-64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ARMv8-A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RISC-V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Комментарий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093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Только чтение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Стандартный режим данных и кода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323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Чтение и запись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Обычные данные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857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Только запись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Архитектурно невозможно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310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Только исполнение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Execute-only </a:t>
                      </a:r>
                      <a:r>
                        <a:rPr lang="ru-RU" dirty="0"/>
                        <a:t>доступ возможен только на </a:t>
                      </a:r>
                      <a:r>
                        <a:rPr lang="en-US" dirty="0"/>
                        <a:t>ARM/Risc-V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3494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Чтение + исполнение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Обычные страницы кода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6411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RWX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Чтение + запись + исполнение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Обычно запрещено ОС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03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Только данные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Используется для защиты стека и данных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524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36342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45D393-245E-B1CB-807C-302A8CEBA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ОС включает виртуальную память</a:t>
            </a:r>
            <a:r>
              <a:rPr lang="en-US" dirty="0"/>
              <a:t>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9E5C4B-D0FC-F734-192D-68D1B2DC7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До включения </a:t>
            </a:r>
            <a:r>
              <a:rPr lang="ru-RU" dirty="0" err="1"/>
              <a:t>paging</a:t>
            </a:r>
            <a:r>
              <a:rPr lang="ru-RU" dirty="0"/>
              <a:t> процессор работает </a:t>
            </a:r>
            <a:r>
              <a:rPr lang="ru-RU" b="1" dirty="0"/>
              <a:t>в физическом адресном пространстве</a:t>
            </a:r>
            <a:r>
              <a:rPr lang="ru-RU" dirty="0"/>
              <a:t>.</a:t>
            </a:r>
          </a:p>
          <a:p>
            <a:r>
              <a:rPr lang="ru-RU" dirty="0"/>
              <a:t>Таблица страниц должна быть </a:t>
            </a:r>
            <a:r>
              <a:rPr lang="ru-RU" b="1" dirty="0"/>
              <a:t>создана заранее</a:t>
            </a:r>
            <a:r>
              <a:rPr lang="ru-RU" dirty="0"/>
              <a:t> и содержать </a:t>
            </a:r>
            <a:r>
              <a:rPr lang="ru-RU" b="1" dirty="0"/>
              <a:t>физические адреса страниц</a:t>
            </a:r>
            <a:r>
              <a:rPr lang="ru-RU" dirty="0"/>
              <a:t>.</a:t>
            </a:r>
          </a:p>
          <a:p>
            <a:r>
              <a:rPr lang="ru-RU" dirty="0"/>
              <a:t>Адрес корневой таблицы страниц записывается в </a:t>
            </a:r>
            <a:r>
              <a:rPr lang="ru-RU" b="1" dirty="0"/>
              <a:t>CR3 (только физический адрес)</a:t>
            </a:r>
            <a:r>
              <a:rPr lang="ru-RU" dirty="0"/>
              <a:t>.</a:t>
            </a:r>
          </a:p>
          <a:p>
            <a:r>
              <a:rPr lang="ru-RU" dirty="0"/>
              <a:t>Затем ОС устанавливает бит </a:t>
            </a:r>
            <a:r>
              <a:rPr lang="ru-RU" b="1" dirty="0"/>
              <a:t>PG</a:t>
            </a:r>
            <a:r>
              <a:rPr lang="ru-RU" dirty="0"/>
              <a:t> в регистре </a:t>
            </a:r>
            <a:r>
              <a:rPr lang="ru-RU" b="1" dirty="0"/>
              <a:t>CR0</a:t>
            </a:r>
            <a:r>
              <a:rPr lang="ru-RU" dirty="0"/>
              <a:t>, включая страничную трансляцию.</a:t>
            </a:r>
          </a:p>
          <a:p>
            <a:r>
              <a:rPr lang="ru-RU" dirty="0"/>
              <a:t>После этого все обращения к памяти становятся </a:t>
            </a:r>
            <a:r>
              <a:rPr lang="ru-RU" b="1" dirty="0"/>
              <a:t>виртуальными</a:t>
            </a:r>
            <a:r>
              <a:rPr lang="ru-RU" dirty="0"/>
              <a:t>.</a:t>
            </a:r>
          </a:p>
          <a:p>
            <a:r>
              <a:rPr lang="ru-RU" dirty="0"/>
              <a:t>Чтобы не потерять доступ к коду, создаётся </a:t>
            </a:r>
            <a:r>
              <a:rPr lang="ru-RU" b="1" dirty="0" err="1"/>
              <a:t>identity</a:t>
            </a:r>
            <a:r>
              <a:rPr lang="ru-RU" b="1" dirty="0"/>
              <a:t> </a:t>
            </a:r>
            <a:r>
              <a:rPr lang="ru-RU" b="1" dirty="0" err="1"/>
              <a:t>mapping</a:t>
            </a:r>
            <a:r>
              <a:rPr lang="ru-RU" dirty="0"/>
              <a:t> (вирт. = физ.)</a:t>
            </a:r>
          </a:p>
        </p:txBody>
      </p:sp>
    </p:spTree>
    <p:extLst>
      <p:ext uri="{BB962C8B-B14F-4D97-AF65-F5344CB8AC3E}">
        <p14:creationId xmlns:p14="http://schemas.microsoft.com/office/powerpoint/2010/main" val="14382229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6A2E52-DC82-4C18-89AC-2DC6DB5C7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Translation Lookaside Buffer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E4588A-A80C-A1FB-F690-AC27B3DD4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2838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1A5634-DC6A-D130-17EA-996F45D98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слишком медленного преобразования адресов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0101CD-8299-D513-6C2D-35BE07ABC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 многоуровневых таблицах для каждого обращения к памяти нужно 2–4 чтения таблиц перед доступом к данным</a:t>
            </a:r>
          </a:p>
          <a:p>
            <a:r>
              <a:rPr lang="ru-RU" dirty="0"/>
              <a:t>Это делает систему медленной</a:t>
            </a:r>
          </a:p>
          <a:p>
            <a:r>
              <a:rPr lang="ru-RU" dirty="0"/>
              <a:t>Решение — TLB: кэш недавно использованных преобразований</a:t>
            </a:r>
          </a:p>
          <a:p>
            <a:r>
              <a:rPr lang="ru-RU" dirty="0"/>
              <a:t>Работает по принципу "адрес → фрейм"</a:t>
            </a:r>
          </a:p>
        </p:txBody>
      </p:sp>
    </p:spTree>
    <p:extLst>
      <p:ext uri="{BB962C8B-B14F-4D97-AF65-F5344CB8AC3E}">
        <p14:creationId xmlns:p14="http://schemas.microsoft.com/office/powerpoint/2010/main" val="26457089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B76F5-532F-9E4E-C319-50601A39C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TLB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F7D27-CA30-04C6-A9B2-CB7B5DF88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TLB — это кэш внутри процессора, хранящий недавно использованные записи сопоставлений:</a:t>
            </a:r>
            <a:endParaRPr lang="en-US" dirty="0"/>
          </a:p>
          <a:p>
            <a:pPr lvl="1"/>
            <a:r>
              <a:rPr lang="ru-RU" i="1" dirty="0"/>
              <a:t>виртуальная страница → физический фрейм</a:t>
            </a:r>
            <a:endParaRPr lang="ru-RU" dirty="0"/>
          </a:p>
          <a:p>
            <a:r>
              <a:rPr lang="ru-RU" dirty="0"/>
              <a:t>При обращении к памяти MMU сначала проверяет TLB</a:t>
            </a:r>
          </a:p>
          <a:p>
            <a:pPr lvl="1"/>
            <a:r>
              <a:rPr lang="ru-RU" dirty="0"/>
              <a:t>Если нужное преобразование найдено (TLB </a:t>
            </a:r>
            <a:r>
              <a:rPr lang="ru-RU" dirty="0" err="1"/>
              <a:t>hit</a:t>
            </a:r>
            <a:r>
              <a:rPr lang="ru-RU" dirty="0"/>
              <a:t>)</a:t>
            </a:r>
            <a:r>
              <a:rPr lang="en-US" dirty="0"/>
              <a:t>,</a:t>
            </a:r>
            <a:r>
              <a:rPr lang="ru-RU" dirty="0"/>
              <a:t> адрес вычисляется мгновенно</a:t>
            </a:r>
          </a:p>
          <a:p>
            <a:pPr lvl="1"/>
            <a:r>
              <a:rPr lang="ru-RU" dirty="0"/>
              <a:t>Если нет (TLB </a:t>
            </a:r>
            <a:r>
              <a:rPr lang="ru-RU" dirty="0" err="1"/>
              <a:t>miss</a:t>
            </a:r>
            <a:r>
              <a:rPr lang="ru-RU" dirty="0"/>
              <a:t>)</a:t>
            </a:r>
            <a:r>
              <a:rPr lang="en-US" dirty="0"/>
              <a:t>,</a:t>
            </a:r>
            <a:r>
              <a:rPr lang="ru-RU" dirty="0"/>
              <a:t> MMU обращается к таблице страниц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0482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2548E-91EE-DB0E-3BBB-07ACD6550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Скорость и эффективность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AA5FD-72E3-5B31-56B9-C11CC468B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Доступ к TLB занимает 1–2 такта процессора</a:t>
            </a:r>
          </a:p>
          <a:p>
            <a:r>
              <a:rPr lang="ru-RU" dirty="0"/>
              <a:t>Без TLB — до 100–200 тактов на обращение</a:t>
            </a:r>
          </a:p>
          <a:p>
            <a:r>
              <a:rPr lang="ru-RU" dirty="0"/>
              <a:t>При TLB </a:t>
            </a:r>
            <a:r>
              <a:rPr lang="ru-RU" dirty="0" err="1"/>
              <a:t>hit</a:t>
            </a:r>
            <a:r>
              <a:rPr lang="ru-RU" dirty="0"/>
              <a:t> трансляция происходит мгновенно</a:t>
            </a:r>
          </a:p>
          <a:p>
            <a:r>
              <a:rPr lang="ru-RU" dirty="0"/>
              <a:t>TLB </a:t>
            </a:r>
            <a:r>
              <a:rPr lang="ru-RU" dirty="0" err="1"/>
              <a:t>miss</a:t>
            </a:r>
            <a:r>
              <a:rPr lang="ru-RU" dirty="0"/>
              <a:t> вызывает обращение к таблицам и возможный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endParaRPr lang="ru-RU" dirty="0"/>
          </a:p>
          <a:p>
            <a:r>
              <a:rPr lang="ru-RU" dirty="0"/>
              <a:t>TLB критически важен для производительности</a:t>
            </a:r>
          </a:p>
        </p:txBody>
      </p:sp>
    </p:spTree>
    <p:extLst>
      <p:ext uri="{BB962C8B-B14F-4D97-AF65-F5344CB8AC3E}">
        <p14:creationId xmlns:p14="http://schemas.microsoft.com/office/powerpoint/2010/main" val="27754556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E9B8C-3253-3C92-34D2-E85F3234C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</a:t>
            </a:r>
            <a:r>
              <a:rPr lang="en-US" dirty="0"/>
              <a:t>TLB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7818D-B4E1-16A6-4BB5-C2DF5DC65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TLB обычно реализован как ассоциативный кэш</a:t>
            </a:r>
          </a:p>
          <a:p>
            <a:r>
              <a:rPr lang="ru-RU" dirty="0"/>
              <a:t>Каждая запись содержит:</a:t>
            </a:r>
          </a:p>
          <a:p>
            <a:pPr lvl="1"/>
            <a:r>
              <a:rPr lang="ru-RU" dirty="0"/>
              <a:t>Номер виртуальной страницы</a:t>
            </a:r>
          </a:p>
          <a:p>
            <a:pPr lvl="1"/>
            <a:r>
              <a:rPr lang="ru-RU" dirty="0"/>
              <a:t>Номер физического фрейма</a:t>
            </a:r>
          </a:p>
          <a:p>
            <a:pPr lvl="1"/>
            <a:r>
              <a:rPr lang="ru-RU" dirty="0"/>
              <a:t>Биты защиты и состояния</a:t>
            </a:r>
          </a:p>
          <a:p>
            <a:r>
              <a:rPr lang="ru-RU" dirty="0"/>
              <a:t>Размер: от 16 до нескольких тысяч записей</a:t>
            </a:r>
          </a:p>
          <a:p>
            <a:r>
              <a:rPr lang="ru-RU" dirty="0"/>
              <a:t>Виды:</a:t>
            </a:r>
          </a:p>
          <a:p>
            <a:pPr lvl="1"/>
            <a:r>
              <a:rPr lang="ru-RU" dirty="0"/>
              <a:t>Инструкционный (ITLB)</a:t>
            </a:r>
          </a:p>
          <a:p>
            <a:pPr lvl="1"/>
            <a:r>
              <a:rPr lang="ru-RU" dirty="0"/>
              <a:t>Данных (DTLB)</a:t>
            </a:r>
          </a:p>
          <a:p>
            <a:pPr lvl="1"/>
            <a:r>
              <a:rPr lang="ru-RU" dirty="0"/>
              <a:t>Универсальный (</a:t>
            </a:r>
            <a:r>
              <a:rPr lang="en-US" dirty="0"/>
              <a:t>U</a:t>
            </a:r>
            <a:r>
              <a:rPr lang="ru-RU" dirty="0" err="1"/>
              <a:t>nified</a:t>
            </a:r>
            <a:r>
              <a:rPr lang="ru-RU" dirty="0"/>
              <a:t> TLB)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2491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723B9-50E2-3824-665E-592E66E8E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Поведение при </a:t>
            </a:r>
            <a:r>
              <a:rPr lang="en-US" dirty="0"/>
              <a:t>TLB miss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06D9B-452D-3695-C35F-58F83AFD4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Если нужной записи нет:</a:t>
            </a:r>
          </a:p>
          <a:p>
            <a:pPr lvl="1"/>
            <a:r>
              <a:rPr lang="ru-RU" dirty="0"/>
              <a:t>MMU обращается к таблице страниц</a:t>
            </a:r>
          </a:p>
          <a:p>
            <a:pPr lvl="1"/>
            <a:r>
              <a:rPr lang="ru-RU" dirty="0"/>
              <a:t>Получает номер фрейма</a:t>
            </a:r>
          </a:p>
          <a:p>
            <a:pPr lvl="1"/>
            <a:r>
              <a:rPr lang="ru-RU" dirty="0"/>
              <a:t>Записывает результат в TLB</a:t>
            </a:r>
          </a:p>
          <a:p>
            <a:pPr lvl="1"/>
            <a:r>
              <a:rPr lang="ru-RU" dirty="0"/>
              <a:t>Повторяет команду</a:t>
            </a:r>
          </a:p>
          <a:p>
            <a:r>
              <a:rPr lang="ru-RU" dirty="0"/>
              <a:t>Возможны два режима работы:</a:t>
            </a:r>
          </a:p>
          <a:p>
            <a:pPr lvl="1"/>
            <a:r>
              <a:rPr lang="ru-RU" dirty="0" err="1"/>
              <a:t>Hardware-managed</a:t>
            </a:r>
            <a:r>
              <a:rPr lang="ru-RU" dirty="0"/>
              <a:t> TLB — обновляется автоматически процессором</a:t>
            </a:r>
          </a:p>
          <a:p>
            <a:pPr lvl="2"/>
            <a:r>
              <a:rPr lang="en-US" dirty="0"/>
              <a:t>x86</a:t>
            </a:r>
            <a:endParaRPr lang="ru-RU" dirty="0"/>
          </a:p>
          <a:p>
            <a:pPr lvl="1"/>
            <a:r>
              <a:rPr lang="ru-RU" dirty="0"/>
              <a:t>Software-</a:t>
            </a:r>
            <a:r>
              <a:rPr lang="ru-RU" dirty="0" err="1"/>
              <a:t>managed</a:t>
            </a:r>
            <a:r>
              <a:rPr lang="ru-RU" dirty="0"/>
              <a:t> TLB — обновляется операционной системой</a:t>
            </a:r>
            <a:endParaRPr lang="en-US" dirty="0"/>
          </a:p>
          <a:p>
            <a:pPr lvl="2"/>
            <a:r>
              <a:rPr lang="en-US" dirty="0"/>
              <a:t>MIPS, SPARC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1772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27A4D-BBFC-0F6C-D2C6-303388B45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TLB </a:t>
            </a:r>
            <a:r>
              <a:rPr lang="ru-RU" dirty="0"/>
              <a:t>и переключение контекста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2E5B8-3B5D-0F1B-7D4D-C0E46B583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 каждого процесса — своя таблица страниц</a:t>
            </a:r>
          </a:p>
          <a:p>
            <a:r>
              <a:rPr lang="ru-RU" dirty="0"/>
              <a:t>При переключении контекста TLB может содержать чужие записи</a:t>
            </a:r>
          </a:p>
          <a:p>
            <a:r>
              <a:rPr lang="ru-RU" dirty="0"/>
              <a:t>Решения:</a:t>
            </a:r>
          </a:p>
          <a:p>
            <a:pPr lvl="1"/>
            <a:r>
              <a:rPr lang="ru-RU" dirty="0"/>
              <a:t>Полная очистка (TLB </a:t>
            </a:r>
            <a:r>
              <a:rPr lang="ru-RU" dirty="0" err="1"/>
              <a:t>flush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Использование ASID (Address Space </a:t>
            </a:r>
            <a:r>
              <a:rPr lang="ru-RU" dirty="0" err="1"/>
              <a:t>Identifier</a:t>
            </a:r>
            <a:r>
              <a:rPr lang="ru-RU" dirty="0"/>
              <a:t>) для маркировки</a:t>
            </a:r>
          </a:p>
        </p:txBody>
      </p:sp>
    </p:spTree>
    <p:extLst>
      <p:ext uri="{BB962C8B-B14F-4D97-AF65-F5344CB8AC3E}">
        <p14:creationId xmlns:p14="http://schemas.microsoft.com/office/powerpoint/2010/main" val="10881329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528A6-47F5-C917-5CA6-154C378C6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Многоуровневые </a:t>
            </a:r>
            <a:r>
              <a:rPr lang="en-US" dirty="0"/>
              <a:t>TLB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8C945-777B-1167-FC07-A4D2639E0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Современные процессоры имеют:</a:t>
            </a:r>
          </a:p>
          <a:p>
            <a:pPr lvl="1"/>
            <a:r>
              <a:rPr lang="ru-RU" dirty="0"/>
              <a:t>L1 TLB — маленький и быстрый (десятки записей)</a:t>
            </a:r>
          </a:p>
          <a:p>
            <a:pPr lvl="1"/>
            <a:r>
              <a:rPr lang="ru-RU" dirty="0"/>
              <a:t>L2 TLB — больше и медленнее (сотни записей)</a:t>
            </a:r>
          </a:p>
          <a:p>
            <a:r>
              <a:rPr lang="ru-RU" dirty="0"/>
              <a:t>Работают аналогично L1/L2 кэшам данных</a:t>
            </a:r>
          </a:p>
          <a:p>
            <a:r>
              <a:rPr lang="ru-RU" dirty="0"/>
              <a:t>Повышают эффективность преобразований</a:t>
            </a:r>
          </a:p>
        </p:txBody>
      </p:sp>
    </p:spTree>
    <p:extLst>
      <p:ext uri="{BB962C8B-B14F-4D97-AF65-F5344CB8AC3E}">
        <p14:creationId xmlns:p14="http://schemas.microsoft.com/office/powerpoint/2010/main" val="19686955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47E07-7A85-8117-7F32-FA14A8893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Кеширование и производительность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2EEE9-764B-DF53-F803-F1AE26189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Любое обращение к кэшу требует уже преобразованного физического адреса</a:t>
            </a:r>
          </a:p>
          <a:p>
            <a:r>
              <a:rPr lang="ru-RU" dirty="0"/>
              <a:t>Поэтому TLB </a:t>
            </a:r>
            <a:r>
              <a:rPr lang="ru-RU" dirty="0" err="1"/>
              <a:t>lookup</a:t>
            </a:r>
            <a:r>
              <a:rPr lang="ru-RU" dirty="0"/>
              <a:t> выполняется до обращения к кэшу</a:t>
            </a:r>
          </a:p>
          <a:p>
            <a:r>
              <a:rPr lang="en-US" dirty="0"/>
              <a:t>Page Faults </a:t>
            </a:r>
            <a:r>
              <a:rPr lang="ru-RU" dirty="0"/>
              <a:t>в TLB влияют на скорость доступа ко всем уровням памяти</a:t>
            </a:r>
          </a:p>
          <a:p>
            <a:r>
              <a:rPr lang="ru-RU" dirty="0"/>
              <a:t>Эффективный TLB = высокая производительность CPU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8632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39EC1-79F8-2368-3D31-A9E9AA82E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Итоги: роль </a:t>
            </a:r>
            <a:r>
              <a:rPr lang="en-US" dirty="0"/>
              <a:t>TLB</a:t>
            </a:r>
            <a:r>
              <a:rPr lang="ru-RU" dirty="0"/>
              <a:t> в подсистеме памяти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4204D-1F72-C836-3811-95BA928BD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TLB — это ускоритель виртуальной памяти</a:t>
            </a:r>
          </a:p>
          <a:p>
            <a:r>
              <a:rPr lang="ru-RU" dirty="0"/>
              <a:t>Сохраняет последние преобразования адресов</a:t>
            </a:r>
          </a:p>
          <a:p>
            <a:r>
              <a:rPr lang="ru-RU" dirty="0"/>
              <a:t>Работает </a:t>
            </a:r>
            <a:r>
              <a:rPr lang="ru-RU" dirty="0" err="1"/>
              <a:t>аппаратно</a:t>
            </a:r>
            <a:r>
              <a:rPr lang="ru-RU" dirty="0"/>
              <a:t> и прозрачно</a:t>
            </a:r>
          </a:p>
          <a:p>
            <a:r>
              <a:rPr lang="ru-RU" dirty="0"/>
              <a:t>Без TLB виртуальная память была бы слишком медленной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98363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03EFC9-412A-8AA5-837D-5CB88133C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Синхронизация </a:t>
            </a:r>
            <a:r>
              <a:rPr lang="en-US" dirty="0"/>
              <a:t>TLB </a:t>
            </a:r>
            <a:r>
              <a:rPr lang="ru-RU" dirty="0"/>
              <a:t>между ядрами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24A08C-D150-677C-7359-1C4088A06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7642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7ABC0E-E6AD-8348-1A0E-4F17B08C2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происходит, когда ОС меняет активную таблицу страниц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FB5AA1-B10F-C76D-4EF0-2E0C87295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Таблица страниц — обычная структура данных в памяти.</a:t>
            </a:r>
          </a:p>
          <a:p>
            <a:r>
              <a:rPr lang="en-US" dirty="0"/>
              <a:t>MMU (Memory Management Unit) </a:t>
            </a:r>
            <a:r>
              <a:rPr lang="ru-RU" dirty="0"/>
              <a:t>кэширует трансляции в </a:t>
            </a:r>
            <a:r>
              <a:rPr lang="en-US" b="1" dirty="0"/>
              <a:t>TLB (Translation Lookaside Buffer)</a:t>
            </a:r>
            <a:r>
              <a:rPr lang="en-US" dirty="0"/>
              <a:t>.</a:t>
            </a:r>
          </a:p>
          <a:p>
            <a:r>
              <a:rPr lang="ru-RU" dirty="0"/>
              <a:t>Изменения в </a:t>
            </a:r>
            <a:r>
              <a:rPr lang="en-US" dirty="0"/>
              <a:t>PTE (Page Table Entry) </a:t>
            </a:r>
            <a:r>
              <a:rPr lang="ru-RU" b="1" dirty="0"/>
              <a:t>не отражаются мгновенно</a:t>
            </a:r>
            <a:r>
              <a:rPr lang="ru-RU" dirty="0"/>
              <a:t> — </a:t>
            </a:r>
            <a:r>
              <a:rPr lang="en-US" dirty="0"/>
              <a:t>TLB </a:t>
            </a:r>
            <a:r>
              <a:rPr lang="ru-RU" dirty="0"/>
              <a:t>всё ещё хранит старые данные.</a:t>
            </a:r>
          </a:p>
          <a:p>
            <a:r>
              <a:rPr lang="ru-RU" dirty="0"/>
              <a:t>После модификации </a:t>
            </a:r>
            <a:r>
              <a:rPr lang="en-US" dirty="0"/>
              <a:t>PTE </a:t>
            </a:r>
            <a:r>
              <a:rPr lang="ru-RU" dirty="0"/>
              <a:t>ОС должна </a:t>
            </a:r>
            <a:r>
              <a:rPr lang="ru-RU" b="1" dirty="0"/>
              <a:t>очистить (</a:t>
            </a:r>
            <a:r>
              <a:rPr lang="en-US" b="1" dirty="0"/>
              <a:t>invalidate)</a:t>
            </a:r>
            <a:r>
              <a:rPr lang="en-US" dirty="0"/>
              <a:t> TLB.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8348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9C04A-774A-4833-9055-0D1D80025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Почему </a:t>
            </a:r>
            <a:r>
              <a:rPr lang="ru-RU" dirty="0" err="1"/>
              <a:t>инвалидация</a:t>
            </a:r>
            <a:r>
              <a:rPr lang="ru-RU" dirty="0"/>
              <a:t> TLB критически важна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48187-13C2-C621-BD5D-BBF983056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TLB хранит не только физический адрес, но и биты защиты (RW, NX, US).</a:t>
            </a:r>
          </a:p>
          <a:p>
            <a:r>
              <a:rPr lang="ru-RU" dirty="0"/>
              <a:t>Если PTE стал «менее разрешающим» — TLB может допустить неразрешённый доступ.</a:t>
            </a:r>
          </a:p>
          <a:p>
            <a:r>
              <a:rPr lang="ru-RU" dirty="0"/>
              <a:t>Процессор не проверяет PTE каждый раз — он доверяет TLB.</a:t>
            </a:r>
          </a:p>
          <a:p>
            <a:r>
              <a:rPr lang="ru-RU" dirty="0"/>
              <a:t>ОС обязана поддерживать согласованность между PTE и TLB.</a:t>
            </a:r>
          </a:p>
        </p:txBody>
      </p:sp>
    </p:spTree>
    <p:extLst>
      <p:ext uri="{BB962C8B-B14F-4D97-AF65-F5344CB8AC3E}">
        <p14:creationId xmlns:p14="http://schemas.microsoft.com/office/powerpoint/2010/main" val="14185530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358B6-7C92-ACBF-69CC-EC09BE511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Синхронизация TLB на многоядерных системах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A449C-A53A-0A5E-3FA2-7806F6036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 каждого ядра — свой TLB.</a:t>
            </a:r>
          </a:p>
          <a:p>
            <a:r>
              <a:rPr lang="ru-RU" dirty="0"/>
              <a:t>Когда одно ядро изменяет PTE, другие ядра продолжают использовать старые записи.</a:t>
            </a:r>
          </a:p>
          <a:p>
            <a:r>
              <a:rPr lang="ru-RU" dirty="0"/>
              <a:t>Для согласованности ОС рассылает IPI (Inter-Processor </a:t>
            </a:r>
            <a:r>
              <a:rPr lang="ru-RU" dirty="0" err="1"/>
              <a:t>Interrupt</a:t>
            </a:r>
            <a:r>
              <a:rPr lang="ru-RU" dirty="0"/>
              <a:t>).</a:t>
            </a:r>
          </a:p>
          <a:p>
            <a:r>
              <a:rPr lang="ru-RU" dirty="0"/>
              <a:t>Каждое ядро получает сигнал и выполняет </a:t>
            </a:r>
            <a:r>
              <a:rPr lang="ru-RU" dirty="0" err="1"/>
              <a:t>invlpg</a:t>
            </a:r>
            <a:r>
              <a:rPr lang="ru-RU" dirty="0"/>
              <a:t> локально.</a:t>
            </a:r>
          </a:p>
          <a:p>
            <a:r>
              <a:rPr lang="ru-RU" dirty="0"/>
              <a:t>Все ядра подтверждают завершение — TLB согласованы.</a:t>
            </a:r>
          </a:p>
        </p:txBody>
      </p:sp>
    </p:spTree>
    <p:extLst>
      <p:ext uri="{BB962C8B-B14F-4D97-AF65-F5344CB8AC3E}">
        <p14:creationId xmlns:p14="http://schemas.microsoft.com/office/powerpoint/2010/main" val="18871773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82E6D3-16C5-DA07-75A2-B6C46D4CF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Экрана синего оскал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6A2638-C2A1-B1C4-170B-5AD008B870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4034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FF8B52-685A-C997-B444-57A4E7D1D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будет, если обработчик Page </a:t>
            </a:r>
            <a:r>
              <a:rPr lang="ru-RU" dirty="0" err="1"/>
              <a:t>Fault</a:t>
            </a:r>
            <a:r>
              <a:rPr lang="ru-RU" dirty="0"/>
              <a:t> сам вызовет Page </a:t>
            </a:r>
            <a:r>
              <a:rPr lang="ru-RU" dirty="0" err="1"/>
              <a:t>Fault</a:t>
            </a:r>
            <a:r>
              <a:rPr lang="ru-RU" dirty="0"/>
              <a:t>?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215B3AA-A3A6-36E9-D8B5-3E15C54DC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Обработчик </a:t>
            </a:r>
            <a:r>
              <a:rPr lang="ru-RU" dirty="0" err="1"/>
              <a:t>page</a:t>
            </a:r>
            <a:r>
              <a:rPr lang="ru-RU" dirty="0"/>
              <a:t> </a:t>
            </a:r>
            <a:r>
              <a:rPr lang="ru-RU" dirty="0" err="1"/>
              <a:t>fault</a:t>
            </a:r>
            <a:r>
              <a:rPr lang="ru-RU" dirty="0"/>
              <a:t> требует доступа к коду/данным ядра (таблицы страниц, стек, своп-буферы).</a:t>
            </a:r>
          </a:p>
          <a:p>
            <a:r>
              <a:rPr lang="ru-RU" dirty="0"/>
              <a:t>Если эти страницы случайно </a:t>
            </a:r>
            <a:r>
              <a:rPr lang="ru-RU" b="1" dirty="0"/>
              <a:t>выгружены</a:t>
            </a:r>
            <a:r>
              <a:rPr lang="ru-RU" dirty="0"/>
              <a:t>, обращение во время обработчика вызовет </a:t>
            </a:r>
            <a:r>
              <a:rPr lang="ru-RU" b="1" dirty="0"/>
              <a:t>повторный Page </a:t>
            </a:r>
            <a:r>
              <a:rPr lang="ru-RU" b="1" dirty="0" err="1"/>
              <a:t>Fault</a:t>
            </a:r>
            <a:r>
              <a:rPr lang="ru-RU" dirty="0"/>
              <a:t>.</a:t>
            </a:r>
          </a:p>
          <a:p>
            <a:r>
              <a:rPr lang="ru-RU" dirty="0"/>
              <a:t>В реальных ОС это может привести к </a:t>
            </a:r>
            <a:r>
              <a:rPr lang="ru-RU" b="1" dirty="0"/>
              <a:t>Double </a:t>
            </a:r>
            <a:r>
              <a:rPr lang="ru-RU" b="1" dirty="0" err="1"/>
              <a:t>Fault</a:t>
            </a:r>
            <a:r>
              <a:rPr lang="ru-RU" dirty="0"/>
              <a:t> (а затем — к панике/перезагрузке).</a:t>
            </a:r>
          </a:p>
        </p:txBody>
      </p:sp>
    </p:spTree>
    <p:extLst>
      <p:ext uri="{BB962C8B-B14F-4D97-AF65-F5344CB8AC3E}">
        <p14:creationId xmlns:p14="http://schemas.microsoft.com/office/powerpoint/2010/main" val="166227243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2BD0B-80FD-F5BA-223F-88B6551EC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648"/>
            <a:ext cx="10515600" cy="611268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Как ОС избегает </a:t>
            </a:r>
            <a:r>
              <a:rPr lang="en-US" sz="4000" dirty="0"/>
              <a:t>Page Fault</a:t>
            </a:r>
            <a:r>
              <a:rPr lang="ru-RU" sz="4000" dirty="0"/>
              <a:t>-</a:t>
            </a:r>
            <a:r>
              <a:rPr lang="ru-RU" sz="4000" dirty="0" err="1"/>
              <a:t>ов</a:t>
            </a:r>
            <a:r>
              <a:rPr lang="ru-RU" sz="4000" dirty="0"/>
              <a:t> в обработчике</a:t>
            </a:r>
            <a:r>
              <a:rPr lang="en-US" sz="4000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027B1-5F5E-A333-2D55-88807212D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774916"/>
            <a:ext cx="12026685" cy="6083083"/>
          </a:xfrm>
        </p:spPr>
        <p:txBody>
          <a:bodyPr>
            <a:normAutofit/>
          </a:bodyPr>
          <a:lstStyle/>
          <a:p>
            <a:r>
              <a:rPr lang="ru-RU" sz="1800" b="0" dirty="0"/>
              <a:t>В современных системах (Linux, Windows, </a:t>
            </a:r>
            <a:r>
              <a:rPr lang="ru-RU" sz="1800" b="0" dirty="0" err="1"/>
              <a:t>macOS</a:t>
            </a:r>
            <a:r>
              <a:rPr lang="ru-RU" sz="1800" b="0" dirty="0"/>
              <a:t>) есть целый набор защитных механизмов, чтобы обработчик </a:t>
            </a:r>
            <a:r>
              <a:rPr lang="ru-RU" sz="1800" b="0" dirty="0" err="1"/>
              <a:t>page</a:t>
            </a:r>
            <a:r>
              <a:rPr lang="ru-RU" sz="1800" b="0" dirty="0"/>
              <a:t> </a:t>
            </a:r>
            <a:r>
              <a:rPr lang="ru-RU" sz="1800" b="0" dirty="0" err="1"/>
              <a:t>fault</a:t>
            </a:r>
            <a:r>
              <a:rPr lang="ru-RU" sz="1800" b="0" dirty="0"/>
              <a:t> был </a:t>
            </a:r>
            <a:r>
              <a:rPr lang="ru-RU" sz="1800" b="0" i="1" dirty="0"/>
              <a:t>неуязвим</a:t>
            </a:r>
            <a:r>
              <a:rPr lang="ru-RU" sz="1800" b="0" dirty="0"/>
              <a:t>.</a:t>
            </a:r>
          </a:p>
          <a:p>
            <a:r>
              <a:rPr lang="ru-RU" sz="1800" b="0" dirty="0"/>
              <a:t>Во-первых, страницы кода и данных ядра закрепляются в памяти.</a:t>
            </a:r>
            <a:br>
              <a:rPr lang="ru-RU" sz="1800" b="0" dirty="0"/>
            </a:br>
            <a:r>
              <a:rPr lang="ru-RU" sz="1800" b="0" dirty="0"/>
              <a:t>Это называется </a:t>
            </a:r>
            <a:r>
              <a:rPr lang="ru-RU" sz="1800" b="0" dirty="0" err="1"/>
              <a:t>pinning</a:t>
            </a:r>
            <a:r>
              <a:rPr lang="ru-RU" sz="1800" b="0" dirty="0"/>
              <a:t> или </a:t>
            </a:r>
            <a:r>
              <a:rPr lang="ru-RU" sz="1800" b="0" dirty="0" err="1"/>
              <a:t>wired</a:t>
            </a:r>
            <a:r>
              <a:rPr lang="ru-RU" sz="1800" b="0" dirty="0"/>
              <a:t> </a:t>
            </a:r>
            <a:r>
              <a:rPr lang="ru-RU" sz="1800" b="0" dirty="0" err="1"/>
              <a:t>pages</a:t>
            </a:r>
            <a:r>
              <a:rPr lang="ru-RU" sz="1800" b="0" dirty="0"/>
              <a:t>.</a:t>
            </a:r>
            <a:br>
              <a:rPr lang="ru-RU" sz="1800" b="0" dirty="0"/>
            </a:br>
            <a:r>
              <a:rPr lang="ru-RU" sz="1800" b="0" dirty="0"/>
              <a:t>В Linux вы можете встретить такие термины, как </a:t>
            </a:r>
            <a:r>
              <a:rPr lang="ru-RU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__</a:t>
            </a:r>
            <a:r>
              <a:rPr lang="ru-RU" sz="18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init_text_section</a:t>
            </a:r>
            <a:r>
              <a:rPr lang="ru-RU" sz="1800" b="0" dirty="0"/>
              <a:t> или </a:t>
            </a:r>
            <a:r>
              <a:rPr lang="ru-RU" sz="18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vmalloc_exec</a:t>
            </a:r>
            <a:r>
              <a:rPr lang="ru-RU" sz="1800" b="0" dirty="0"/>
              <a:t>, а также флаг </a:t>
            </a:r>
            <a:r>
              <a:rPr lang="ru-RU" sz="18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PG_reserved</a:t>
            </a:r>
            <a:r>
              <a:rPr lang="ru-RU" sz="1800" b="0" dirty="0"/>
              <a:t>. Эти страницы никогда не попадают под замену — они считаются «</a:t>
            </a:r>
            <a:r>
              <a:rPr lang="ru-RU" sz="1800" b="0" dirty="0" err="1"/>
              <a:t>wired</a:t>
            </a:r>
            <a:r>
              <a:rPr lang="ru-RU" sz="1800" b="0" dirty="0"/>
              <a:t>».</a:t>
            </a:r>
            <a:br>
              <a:rPr lang="ru-RU" sz="1800" b="0" dirty="0"/>
            </a:br>
            <a:r>
              <a:rPr lang="ru-RU" sz="1800" b="0" dirty="0"/>
              <a:t>В </a:t>
            </a:r>
            <a:r>
              <a:rPr lang="ru-RU" sz="1800" b="0" dirty="0" err="1"/>
              <a:t>macOS</a:t>
            </a:r>
            <a:r>
              <a:rPr lang="ru-RU" sz="1800" b="0" dirty="0"/>
              <a:t> и </a:t>
            </a:r>
            <a:r>
              <a:rPr lang="ru-RU" sz="1800" b="0" dirty="0" err="1"/>
              <a:t>iOS</a:t>
            </a:r>
            <a:r>
              <a:rPr lang="ru-RU" sz="1800" b="0" dirty="0"/>
              <a:t> ядро хранится в области, отмеченной как </a:t>
            </a:r>
            <a:r>
              <a:rPr lang="ru-RU" sz="1800" b="0" dirty="0" err="1"/>
              <a:t>wired</a:t>
            </a:r>
            <a:r>
              <a:rPr lang="ru-RU" sz="1800" b="0" dirty="0"/>
              <a:t> </a:t>
            </a:r>
            <a:r>
              <a:rPr lang="ru-RU" sz="1800" b="0" dirty="0" err="1"/>
              <a:t>memory</a:t>
            </a:r>
            <a:r>
              <a:rPr lang="ru-RU" sz="1800" b="0" dirty="0"/>
              <a:t> — её нельзя ни выгрузить, ни освободить.</a:t>
            </a:r>
          </a:p>
          <a:p>
            <a:r>
              <a:rPr lang="ru-RU" sz="1800" b="0" dirty="0"/>
              <a:t>Во-вторых, обработчики исключений и прерываний всегда выполняются на отдельном стеке ядра, который выделяется при старте процессора и никогда не выгружается.</a:t>
            </a:r>
            <a:br>
              <a:rPr lang="ru-RU" sz="1800" b="0" dirty="0"/>
            </a:br>
            <a:r>
              <a:rPr lang="ru-RU" sz="1800" b="0" dirty="0"/>
              <a:t>В Linux это </a:t>
            </a:r>
            <a:r>
              <a:rPr lang="ru-RU" sz="18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per-cpu</a:t>
            </a:r>
            <a:r>
              <a:rPr lang="ru-RU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8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kernel</a:t>
            </a:r>
            <a:r>
              <a:rPr lang="ru-RU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8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</a:t>
            </a:r>
            <a:r>
              <a:rPr lang="ru-RU" sz="1800" b="0" dirty="0"/>
              <a:t>, обычно 16 или 32 КБ, всегда в оперативной памяти.</a:t>
            </a:r>
          </a:p>
          <a:p>
            <a:r>
              <a:rPr lang="ru-RU" sz="1800" b="0" dirty="0"/>
              <a:t>В-третьих, операционная система разделяет пулы страниц для ядра и для пользователя.</a:t>
            </a:r>
            <a:br>
              <a:rPr lang="ru-RU" sz="1800" b="0" dirty="0"/>
            </a:br>
            <a:r>
              <a:rPr lang="ru-RU" sz="1800" b="0" dirty="0"/>
              <a:t>Алгоритм вытеснения не может случайно удалить страницы, помеченные как принадлежащие ядру. В Linux это управляется флагом </a:t>
            </a:r>
            <a:r>
              <a:rPr lang="ru-RU" sz="18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PG_reserved</a:t>
            </a:r>
            <a:r>
              <a:rPr lang="ru-RU" sz="1800" b="0" dirty="0"/>
              <a:t> или зонами памяти (</a:t>
            </a:r>
            <a:r>
              <a:rPr lang="ru-RU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ZONE_NORMAL</a:t>
            </a:r>
            <a:r>
              <a:rPr lang="ru-RU" sz="1800" b="0" dirty="0"/>
              <a:t>, </a:t>
            </a:r>
            <a:r>
              <a:rPr lang="ru-RU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ZONE_DMA</a:t>
            </a:r>
            <a:r>
              <a:rPr lang="ru-RU" sz="1800" b="0" dirty="0"/>
              <a:t>, </a:t>
            </a:r>
            <a:r>
              <a:rPr lang="ru-RU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ZONE_HIGHMEM</a:t>
            </a:r>
            <a:r>
              <a:rPr lang="ru-RU" sz="1800" b="0" dirty="0"/>
              <a:t>).</a:t>
            </a:r>
          </a:p>
          <a:p>
            <a:r>
              <a:rPr lang="ru-RU" sz="1800" b="0" dirty="0"/>
              <a:t>Кроме того, перед тем как выполнить потенциально опасные операции, ядро может сделать </a:t>
            </a:r>
            <a:r>
              <a:rPr lang="ru-RU" sz="1800" b="0" dirty="0" err="1"/>
              <a:t>prefaulting</a:t>
            </a:r>
            <a:r>
              <a:rPr lang="ru-RU" sz="1800" b="0" dirty="0"/>
              <a:t> — принудительно прочитать нужные страницы в память, чтобы гарантировать их присутствие.</a:t>
            </a:r>
            <a:br>
              <a:rPr lang="ru-RU" sz="1800" b="0" dirty="0"/>
            </a:br>
            <a:r>
              <a:rPr lang="ru-RU" sz="1800" b="0" dirty="0"/>
              <a:t>Это особенно важно для драйверов и файловых систем, когда может быть обращение к свопу или диску.</a:t>
            </a:r>
          </a:p>
          <a:p>
            <a:r>
              <a:rPr lang="ru-RU" sz="1800" b="0" dirty="0"/>
              <a:t>И, наконец, есть </a:t>
            </a:r>
            <a:r>
              <a:rPr lang="ru-RU" sz="1800" b="0" dirty="0" err="1"/>
              <a:t>fail-safe</a:t>
            </a:r>
            <a:r>
              <a:rPr lang="ru-RU" sz="1800" b="0" dirty="0"/>
              <a:t>: если несмотря на все меры возникает </a:t>
            </a:r>
            <a:r>
              <a:rPr lang="ru-RU" sz="1800" b="0" dirty="0" err="1"/>
              <a:t>page</a:t>
            </a:r>
            <a:r>
              <a:rPr lang="ru-RU" sz="1800" b="0" dirty="0"/>
              <a:t> </a:t>
            </a:r>
            <a:r>
              <a:rPr lang="ru-RU" sz="1800" b="0" dirty="0" err="1"/>
              <a:t>fault</a:t>
            </a:r>
            <a:r>
              <a:rPr lang="ru-RU" sz="1800" b="0" dirty="0"/>
              <a:t> в режиме ядра, ОС это обнаруживает.</a:t>
            </a:r>
            <a:br>
              <a:rPr lang="ru-RU" sz="1800" b="0" dirty="0"/>
            </a:br>
            <a:r>
              <a:rPr lang="ru-RU" sz="1800" b="0" dirty="0"/>
              <a:t>Linux пишет в </a:t>
            </a:r>
            <a:r>
              <a:rPr lang="ru-RU" sz="18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dmesg</a:t>
            </a:r>
            <a:r>
              <a:rPr lang="ru-RU" sz="1800" b="0" dirty="0"/>
              <a:t> стек вызовов и делает </a:t>
            </a:r>
            <a:r>
              <a:rPr lang="ru-RU" sz="18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panic</a:t>
            </a:r>
            <a:r>
              <a:rPr lang="ru-RU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sz="1800" b="0" dirty="0"/>
              <a:t>, Windows выдаёт BSOD, </a:t>
            </a:r>
            <a:r>
              <a:rPr lang="ru-RU" sz="1800" b="0" dirty="0" err="1"/>
              <a:t>macOS</a:t>
            </a:r>
            <a:r>
              <a:rPr lang="ru-RU" sz="1800" b="0" dirty="0"/>
              <a:t> — “You </a:t>
            </a:r>
            <a:r>
              <a:rPr lang="ru-RU" sz="1800" b="0" dirty="0" err="1"/>
              <a:t>need</a:t>
            </a:r>
            <a:r>
              <a:rPr lang="ru-RU" sz="1800" b="0" dirty="0"/>
              <a:t> </a:t>
            </a:r>
            <a:r>
              <a:rPr lang="ru-RU" sz="1800" b="0" dirty="0" err="1"/>
              <a:t>to</a:t>
            </a:r>
            <a:r>
              <a:rPr lang="ru-RU" sz="1800" b="0" dirty="0"/>
              <a:t> </a:t>
            </a:r>
            <a:r>
              <a:rPr lang="ru-RU" sz="1800" b="0" dirty="0" err="1"/>
              <a:t>restart</a:t>
            </a:r>
            <a:r>
              <a:rPr lang="ru-RU" sz="1800" b="0" dirty="0"/>
              <a:t> </a:t>
            </a:r>
            <a:r>
              <a:rPr lang="ru-RU" sz="1800" b="0" dirty="0" err="1"/>
              <a:t>your</a:t>
            </a:r>
            <a:r>
              <a:rPr lang="ru-RU" sz="1800" b="0" dirty="0"/>
              <a:t> </a:t>
            </a:r>
            <a:r>
              <a:rPr lang="ru-RU" sz="1800" b="0" dirty="0" err="1"/>
              <a:t>computer</a:t>
            </a:r>
            <a:r>
              <a:rPr lang="ru-RU" sz="1800" b="0" dirty="0"/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3247204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7765</TotalTime>
  <Words>7202</Words>
  <Application>Microsoft Macintosh PowerPoint</Application>
  <PresentationFormat>Widescreen</PresentationFormat>
  <Paragraphs>653</Paragraphs>
  <Slides>57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1" baseType="lpstr">
      <vt:lpstr>Aptos</vt:lpstr>
      <vt:lpstr>Aptos Display</vt:lpstr>
      <vt:lpstr>Arial</vt:lpstr>
      <vt:lpstr>Office Theme</vt:lpstr>
      <vt:lpstr>Операционные системы</vt:lpstr>
      <vt:lpstr>Виртуальная память</vt:lpstr>
      <vt:lpstr>Почему не достаточно регистров Base и Limit</vt:lpstr>
      <vt:lpstr>Эпоха оверлеев (overlays)</vt:lpstr>
      <vt:lpstr>Идея виртуальной памяти</vt:lpstr>
      <vt:lpstr>Как работает виртуальная память</vt:lpstr>
      <vt:lpstr>PowerPoint Presentation</vt:lpstr>
      <vt:lpstr>Преимущества виртуальной памяти</vt:lpstr>
      <vt:lpstr>Страничная адресация памяти (Paging)</vt:lpstr>
      <vt:lpstr>Что такое paging</vt:lpstr>
      <vt:lpstr>Виртуальные и физические адреса</vt:lpstr>
      <vt:lpstr>Пример – 16-битная система</vt:lpstr>
      <vt:lpstr>Пример преобразования адресов</vt:lpstr>
      <vt:lpstr>Обращение к отсутствующей странице</vt:lpstr>
      <vt:lpstr>Структура виртуального адреса</vt:lpstr>
      <vt:lpstr>Масштаб и ограничения</vt:lpstr>
      <vt:lpstr>Paging: ключевые идеи</vt:lpstr>
      <vt:lpstr>Таблицы страниц</vt:lpstr>
      <vt:lpstr>Зачем нужны таблицы страниц</vt:lpstr>
      <vt:lpstr>Пример разбиения виртуального адреса</vt:lpstr>
      <vt:lpstr>Как работает таблица страниц</vt:lpstr>
      <vt:lpstr>Биты присутствия и защиты</vt:lpstr>
      <vt:lpstr>Биты состояния: Modified и Referenced</vt:lpstr>
      <vt:lpstr>Размер и структура записи в таблице страниц</vt:lpstr>
      <vt:lpstr>Защита и изоляция</vt:lpstr>
      <vt:lpstr>Итог: роль таблицы страниц</vt:lpstr>
      <vt:lpstr>Многоуровневые таблицы страниц</vt:lpstr>
      <vt:lpstr>Проблема большого размера таблиц</vt:lpstr>
      <vt:lpstr>Многоуровневые таблицы</vt:lpstr>
      <vt:lpstr>Пример: двухуровневая таблица</vt:lpstr>
      <vt:lpstr>Двухуровневая таблица страниц на x86 (без PAE и PSE)</vt:lpstr>
      <vt:lpstr>Четырехуровневая структура в x86-64</vt:lpstr>
      <vt:lpstr>4-х уровневая таблица в x86/64</vt:lpstr>
      <vt:lpstr>Преимущества многоуровневого подхода</vt:lpstr>
      <vt:lpstr>Недостатки и компромиссы</vt:lpstr>
      <vt:lpstr>Итоги: Зачем нужны многоуровневые таблицы страниц</vt:lpstr>
      <vt:lpstr>Почему исполняемая страница должна быть читаемой (на x86)?</vt:lpstr>
      <vt:lpstr>Почему на x86 нет Write-Only страниц?</vt:lpstr>
      <vt:lpstr>Разрешённые и запрещённые комбинации прав доступа</vt:lpstr>
      <vt:lpstr>Как ОС включает виртуальную память?</vt:lpstr>
      <vt:lpstr>Translation Lookaside Buffer</vt:lpstr>
      <vt:lpstr>Проблема слишком медленного преобразования адресов</vt:lpstr>
      <vt:lpstr>Что такое TLB</vt:lpstr>
      <vt:lpstr>Скорость и эффективность</vt:lpstr>
      <vt:lpstr>Структура TLB</vt:lpstr>
      <vt:lpstr>Поведение при TLB miss</vt:lpstr>
      <vt:lpstr>TLB и переключение контекста</vt:lpstr>
      <vt:lpstr>Многоуровневые TLB</vt:lpstr>
      <vt:lpstr>Кеширование и производительность</vt:lpstr>
      <vt:lpstr>Итоги: роль TLB в подсистеме памяти</vt:lpstr>
      <vt:lpstr>Синхронизация TLB между ядрами</vt:lpstr>
      <vt:lpstr>Что происходит, когда ОС меняет активную таблицу страниц</vt:lpstr>
      <vt:lpstr>Почему инвалидация TLB критически важна</vt:lpstr>
      <vt:lpstr>Синхронизация TLB на многоядерных системах</vt:lpstr>
      <vt:lpstr>Экрана синего оскал</vt:lpstr>
      <vt:lpstr>Что будет, если обработчик Page Fault сам вызовет Page Fault?</vt:lpstr>
      <vt:lpstr>Как ОС избегает Page Fault-ов в обработчике?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artem danilov</cp:lastModifiedBy>
  <cp:revision>20</cp:revision>
  <dcterms:created xsi:type="dcterms:W3CDTF">2025-10-20T21:12:09Z</dcterms:created>
  <dcterms:modified xsi:type="dcterms:W3CDTF">2025-12-01T15:08:17Z</dcterms:modified>
</cp:coreProperties>
</file>