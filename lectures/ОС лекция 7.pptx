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9" r:id="rId3"/>
    <p:sldId id="399" r:id="rId4"/>
    <p:sldId id="258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3" r:id="rId15"/>
    <p:sldId id="414" r:id="rId16"/>
    <p:sldId id="415" r:id="rId17"/>
    <p:sldId id="416" r:id="rId18"/>
    <p:sldId id="417" r:id="rId19"/>
    <p:sldId id="418" r:id="rId20"/>
    <p:sldId id="419" r:id="rId21"/>
    <p:sldId id="420" r:id="rId22"/>
    <p:sldId id="421" r:id="rId23"/>
    <p:sldId id="422" r:id="rId24"/>
    <p:sldId id="423" r:id="rId25"/>
    <p:sldId id="424" r:id="rId26"/>
    <p:sldId id="412" r:id="rId27"/>
    <p:sldId id="425" r:id="rId28"/>
    <p:sldId id="426" r:id="rId29"/>
    <p:sldId id="427" r:id="rId30"/>
    <p:sldId id="428" r:id="rId31"/>
    <p:sldId id="429" r:id="rId32"/>
    <p:sldId id="430" r:id="rId33"/>
    <p:sldId id="431" r:id="rId34"/>
    <p:sldId id="432" r:id="rId35"/>
    <p:sldId id="433" r:id="rId36"/>
    <p:sldId id="439" r:id="rId37"/>
    <p:sldId id="440" r:id="rId38"/>
    <p:sldId id="434" r:id="rId39"/>
    <p:sldId id="435" r:id="rId40"/>
    <p:sldId id="436" r:id="rId41"/>
    <p:sldId id="43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16"/>
  </p:normalViewPr>
  <p:slideViewPr>
    <p:cSldViewPr snapToGrid="0">
      <p:cViewPr varScale="1">
        <p:scale>
          <a:sx n="122" d="100"/>
          <a:sy n="122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EF4D9-98F9-E441-82BA-DEA3C63DB881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B2425-3703-134C-9A83-DF776EC6A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Барьер — это точка коллективной синхронизации. Каждый участник выполняет свою часть работы в текущей фазе и, достигнув конца, вызывает операцию «</a:t>
            </a:r>
            <a:r>
              <a:rPr lang="ru-RU" dirty="0" err="1"/>
              <a:t>barrier</a:t>
            </a:r>
            <a:r>
              <a:rPr lang="ru-RU" dirty="0"/>
              <a:t>». Поток блокируется, пока не подойдут все остальные. Когда последний участник приходит, происходит «размыкание» — все сразу начинают следующую фазу. Такая схема естественна для алгоритмов, где на итерации </a:t>
            </a:r>
            <a:r>
              <a:rPr lang="ru-RU" i="1" dirty="0"/>
              <a:t>n+1</a:t>
            </a:r>
            <a:r>
              <a:rPr lang="ru-RU" dirty="0"/>
              <a:t> нужны полностью готовые результаты итерации </a:t>
            </a:r>
            <a:r>
              <a:rPr lang="ru-RU" i="1" dirty="0" err="1"/>
              <a:t>n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78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Классический пример — релаксационные методы: теплопроводность, уравнения Лапласа и т. п. У нас есть состояние системы (матрица), и мы итеративно переходим к новому состоянию. Каждый поток считает свой фрагмент, но приступить к следующей итерации можно </a:t>
            </a:r>
            <a:r>
              <a:rPr lang="ru-RU" b="1"/>
              <a:t>только</a:t>
            </a:r>
            <a:r>
              <a:rPr lang="ru-RU"/>
              <a:t> когда новая матрица готова целиком. Поэтому в конце шага вставляется барьер, который выравнивает участников по времени.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01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современном C++ удобнее всего использовать 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ru-RU"/>
              <a:t>: он сам управляет счётчиком и «поколениями», а также позволяет задать «</a:t>
            </a:r>
            <a:r>
              <a:rPr lang="ru-RU" err="1"/>
              <a:t>completion</a:t>
            </a:r>
            <a:r>
              <a:rPr lang="ru-RU"/>
              <a:t> </a:t>
            </a:r>
            <a:r>
              <a:rPr lang="ru-RU" err="1"/>
              <a:t>step</a:t>
            </a:r>
            <a:r>
              <a:rPr lang="ru-RU"/>
              <a:t>» — код, который выполнится один раз после схождения всех потоков (полезно для «переключения буферов» или сбора метрик). В POSIX — 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pthread_barrier_t</a:t>
            </a:r>
            <a:r>
              <a:rPr lang="ru-RU"/>
              <a:t>. Если стандартного примитива нет, барьер легко реализовать через 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condvar</a:t>
            </a:r>
            <a:r>
              <a:rPr lang="ru-RU"/>
              <a:t>: ведём счётчик пришедших и, когда он достигает N, переключаем «поколение» и будим всех.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7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Барьер — мощный, но чувствительный инструмент. Один отставший поток («</a:t>
            </a:r>
            <a:r>
              <a:rPr lang="ru-RU" err="1"/>
              <a:t>straggler</a:t>
            </a:r>
            <a:r>
              <a:rPr lang="ru-RU"/>
              <a:t>») останавливает всю группу. Если задали неправильное количество участников или чей-то поток не дошёл (исключение, ранний выход) — получите классический </a:t>
            </a:r>
            <a:r>
              <a:rPr lang="ru-RU" err="1"/>
              <a:t>дедлок</a:t>
            </a:r>
            <a:r>
              <a:rPr lang="ru-RU"/>
              <a:t>. Поэтому реализации держат «поколение» (</a:t>
            </a:r>
            <a:r>
              <a:rPr lang="ru-RU" err="1"/>
              <a:t>generation</a:t>
            </a:r>
            <a:r>
              <a:rPr lang="ru-RU"/>
              <a:t>) для безопасного переиспользования между итерациями. В промышленных фреймворках есть «</a:t>
            </a:r>
            <a:r>
              <a:rPr lang="ru-RU" err="1"/>
              <a:t>broken</a:t>
            </a:r>
            <a:r>
              <a:rPr lang="ru-RU"/>
              <a:t> </a:t>
            </a:r>
            <a:r>
              <a:rPr lang="ru-RU" err="1"/>
              <a:t>barrier</a:t>
            </a:r>
            <a:r>
              <a:rPr lang="ru-RU"/>
              <a:t>» — состояние, когда барьер принудительно размыкается с ошибкой, чтобы избежать вечного зависания.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26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Современные CPU переупорядочивают инструкции, чтобы быстрее исполнять код. Это значит, что без доп. гарантий </a:t>
            </a:r>
            <a:r>
              <a:rPr lang="ru-RU" b="1"/>
              <a:t>флаг готовности</a:t>
            </a:r>
            <a:r>
              <a:rPr lang="ru-RU"/>
              <a:t> может стать виден раньше, чем «данные готовности», и читатель прочитает старое значение. Правильный паттерн — связать публикацию данных и флага через </a:t>
            </a:r>
            <a:r>
              <a:rPr lang="ru-RU" b="1" err="1"/>
              <a:t>release</a:t>
            </a:r>
            <a:r>
              <a:rPr lang="ru-RU" b="1"/>
              <a:t>/</a:t>
            </a:r>
            <a:r>
              <a:rPr lang="ru-RU" b="1" err="1"/>
              <a:t>acquire</a:t>
            </a:r>
            <a:r>
              <a:rPr lang="ru-RU"/>
              <a:t>: запись с </a:t>
            </a:r>
            <a:r>
              <a:rPr lang="ru-RU" err="1"/>
              <a:t>release</a:t>
            </a:r>
            <a:r>
              <a:rPr lang="ru-RU"/>
              <a:t> «выпускает» предшествующие записи, а чтение с </a:t>
            </a:r>
            <a:r>
              <a:rPr lang="ru-RU" err="1"/>
              <a:t>acquire</a:t>
            </a:r>
            <a:r>
              <a:rPr lang="ru-RU"/>
              <a:t> «захватывает» их видимость. Аналогично можно вставить явный 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atomic_thread_fence</a:t>
            </a:r>
            <a:r>
              <a: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memory_order_release</a:t>
            </a:r>
            <a:r>
              <a: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/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63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25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Это типичный приём для сеточных задач: у нас есть «старое» и «новое» состояние. Каждый поток считает свой фрагмент на основе </a:t>
            </a:r>
            <a:r>
              <a:rPr lang="ru-RU" b="1"/>
              <a:t>только старых</a:t>
            </a:r>
            <a:r>
              <a:rPr lang="ru-RU"/>
              <a:t> данных и пишет в новый буфер. Когда все фрагменты готовы, в </a:t>
            </a:r>
            <a:r>
              <a:rPr lang="ru-RU" err="1"/>
              <a:t>completion</a:t>
            </a:r>
            <a:r>
              <a:rPr lang="ru-RU"/>
              <a:t>-шаге барьера делаем 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ru-RU"/>
              <a:t>. Это гарантирует, что никто не начнёт следующую итерацию со «смешанными» данными.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4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/>
              <a:t>Оптимальность барьера определяется не столько самим примитивом, сколько равномерностью нагрузки. Если один поток делает в 2 раза больше работы, остальным придётся его ждать каждую итерацию. Следите за обработкой ошибок: «сломанный» барьер лучше, чем вечная блокировка. </a:t>
            </a:r>
            <a:r>
              <a:rPr lang="ru-RU" sz="12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ru-RU" b="0"/>
              <a:t> даёт удобный и быстрый интерфейс; но там, где требуется тонкое управление порядком памяти, не забывайте про </a:t>
            </a:r>
            <a:r>
              <a:rPr lang="ru-RU" sz="12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</a:t>
            </a:r>
            <a:r>
              <a:rPr lang="ru-RU" b="0"/>
              <a:t> с </a:t>
            </a:r>
            <a:r>
              <a:rPr lang="ru-RU" sz="12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b="0"/>
              <a:t> или явные </a:t>
            </a:r>
            <a:r>
              <a:rPr lang="ru-RU" sz="12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fence</a:t>
            </a:r>
            <a:r>
              <a:rPr lang="ru-RU" b="0"/>
              <a:t>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66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71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Инверсия приоритетов — классическая аномалия планирования. Высокоприоритетный поток H хочет войти в критическую секцию, но мьютекс держит низкоприоритетный L. В этот момент </a:t>
            </a:r>
            <a:r>
              <a:rPr lang="ru-RU" err="1"/>
              <a:t>среднеприоритетный</a:t>
            </a:r>
            <a:r>
              <a:rPr lang="ru-RU"/>
              <a:t> M (которому мьютекс не нужен) постоянно вытесняет L. В итоге H стоит, L не получает CPU, чтобы освободить мьютекс, а M «правит балом». Это нарушает ключевую гарантию приоритетного планировщика: «более важная работа исполняется раньше».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34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</a:t>
            </a:r>
            <a:r>
              <a:rPr lang="ru-RU" err="1"/>
              <a:t>Pathfinder</a:t>
            </a:r>
            <a:r>
              <a:rPr lang="ru-RU"/>
              <a:t> была общая «информационная шина» с мьютексом. Низкоприоритетный поток собирал метеоданные и иногда держал мьютекс. Средний по приоритету поток связи загружал CPU, мьютекс ему не требовался. Когда высокоприоритетный поток управления шиной пытался войти — он блокировался на мьютексе, а L не получал квант, чтобы выйти. Итог — фактическая инверсия приоритетов и сбои в работе, которые устраняли перезапусками, пока не применили корректную стратегию синхронизации.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46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Главная «ловушка» — средний приоритет. Если бы M не вмешивался, L быстро освободил бы мьютекс, H бы пошёл дальше — и никакой инверсии. Но пока M активен, L не получает шанса завершить критическую секцию. В системах реального времени это критично: дедлайны пропускаются, система «дергается» или зависает.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77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Практические варианты:</a:t>
            </a:r>
            <a:br>
              <a:rPr lang="ru-RU"/>
            </a:br>
            <a:r>
              <a:rPr lang="ru-RU"/>
              <a:t>— Отключение прерываний — грубо и небезопасно.</a:t>
            </a:r>
            <a:br>
              <a:rPr lang="ru-RU"/>
            </a:br>
            <a:r>
              <a:rPr lang="ru-RU"/>
              <a:t>— </a:t>
            </a:r>
            <a:r>
              <a:rPr lang="ru-RU" b="1"/>
              <a:t>Потолок (</a:t>
            </a:r>
            <a:r>
              <a:rPr lang="ru-RU" b="1" err="1"/>
              <a:t>ceiling</a:t>
            </a:r>
            <a:r>
              <a:rPr lang="ru-RU" b="1"/>
              <a:t>):</a:t>
            </a:r>
            <a:r>
              <a:rPr lang="ru-RU"/>
              <a:t> мьютексу назначают «верхний» приоритет: любой, кто его держит, исполняется не ниже потолка. Это предотвращает инверсию по определению, но требует хорошего статического анализа приоритетов.</a:t>
            </a:r>
            <a:br>
              <a:rPr lang="ru-RU"/>
            </a:br>
            <a:r>
              <a:rPr lang="ru-RU"/>
              <a:t>— </a:t>
            </a:r>
            <a:r>
              <a:rPr lang="ru-RU" b="1"/>
              <a:t>Наследование (</a:t>
            </a:r>
            <a:r>
              <a:rPr lang="ru-RU" b="1" err="1"/>
              <a:t>inheritance</a:t>
            </a:r>
            <a:r>
              <a:rPr lang="ru-RU" b="1"/>
              <a:t>):</a:t>
            </a:r>
            <a:r>
              <a:rPr lang="ru-RU"/>
              <a:t> как только H ждёт мьютекс у L, L временно «поднимают» до приоритета H. Он быстро освобождает ресурс — инверсия исчезает.</a:t>
            </a:r>
            <a:br>
              <a:rPr lang="ru-RU"/>
            </a:br>
            <a:r>
              <a:rPr lang="ru-RU"/>
              <a:t>— </a:t>
            </a:r>
            <a:r>
              <a:rPr lang="ru-RU" b="1" err="1"/>
              <a:t>Random</a:t>
            </a:r>
            <a:r>
              <a:rPr lang="ru-RU" b="1"/>
              <a:t> </a:t>
            </a:r>
            <a:r>
              <a:rPr lang="ru-RU" b="1" err="1"/>
              <a:t>boosting</a:t>
            </a:r>
            <a:r>
              <a:rPr lang="ru-RU"/>
              <a:t> — эвристика Windows: периодически повышают приоритет держателей, чтобы не залипали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75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Наследование приоритетов — наиболее «естественное» решение: рост приоритета происходит </a:t>
            </a:r>
            <a:r>
              <a:rPr lang="ru-RU" b="1"/>
              <a:t>только тогда и настолько</a:t>
            </a:r>
            <a:r>
              <a:rPr lang="ru-RU"/>
              <a:t>, насколько это нужно. Если несколько высоких потоков стоят на одном мьютексе, держатель наследует </a:t>
            </a:r>
            <a:r>
              <a:rPr lang="ru-RU" b="1"/>
              <a:t>максимальный</a:t>
            </a:r>
            <a:r>
              <a:rPr lang="ru-RU"/>
              <a:t> из их приоритетов. Как только ресурс освобождён, всё откатывается. Это решение и применили на Mars </a:t>
            </a:r>
            <a:r>
              <a:rPr lang="ru-RU" err="1"/>
              <a:t>Pathfinder</a:t>
            </a:r>
            <a:r>
              <a:rPr lang="ru-RU"/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Потолок — это статический договор: «если ты входишь сюда — ты важный». Он особенно хорош в </a:t>
            </a:r>
            <a:r>
              <a:rPr lang="ru-RU" b="1"/>
              <a:t>RTOS</a:t>
            </a:r>
            <a:r>
              <a:rPr lang="ru-RU"/>
              <a:t> и системах с жёстким статическим планированием, где задачи и их приоритеты известны заранее. Цена — сложность конфигурации и потенциальная «избыточность» повышения там, где фактической конкуренции нет.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65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/>
              <a:t>Главная профилактика — короткие критические секции и разумная гранулярность блокировок. Для POSIX-потоков есть атрибуты мьютексов с нужными протоколами: это готовые механизмы борьбы с инверсией. Полезно собирать метрики: кто сколько держит мьютексы, кто на них ждёт и с какими приоритетами — такие «</a:t>
            </a:r>
            <a:r>
              <a:rPr lang="ru-RU" b="0" err="1"/>
              <a:t>тёпловые</a:t>
            </a:r>
            <a:r>
              <a:rPr lang="ru-RU" b="0"/>
              <a:t> карты» быстро показывают проблемные места.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84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/>
              <a:t>Инверсия приоритетов — не экзотика, а частая причина «загадочных» зависаний. У вас может быть идеальный алгоритм, но без корректной конфигурации синхронизации система теряет предсказуемость. Поэтому мы проектируем критические секции, выбираем протокол мьютексов, а затем проверяем это нагрузочными сценариями — как на стенде, так и в продакшене.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828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5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RCU — это подход, где мы сознательно избегаем </a:t>
            </a:r>
            <a:r>
              <a:rPr lang="ru-RU" err="1"/>
              <a:t>локов</a:t>
            </a:r>
            <a:r>
              <a:rPr lang="ru-RU"/>
              <a:t> на чтении. Читатели идут максимально быстро, а писатели готовят новую версию данных «в стороне» и потом одним атомарным шагом делают её видимой. Ключевая гарантия — читатель никогда не увидит смесь «старого и нового»: либо старый снимок, либо новый снимок структуры.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31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RCU разделяет обновление на два этапа: публикация и последующее освобождение старых данных. Публикация — атомарная замена указателя. Реальный «подводный камень» — когда безопасно освобождать старую версию. Ответ: после </a:t>
            </a:r>
            <a:r>
              <a:rPr lang="ru-RU" err="1"/>
              <a:t>grace</a:t>
            </a:r>
            <a:r>
              <a:rPr lang="ru-RU"/>
              <a:t> </a:t>
            </a:r>
            <a:r>
              <a:rPr lang="ru-RU" err="1"/>
              <a:t>period</a:t>
            </a:r>
            <a:r>
              <a:rPr lang="ru-RU"/>
              <a:t>, когда </a:t>
            </a:r>
            <a:r>
              <a:rPr lang="ru-RU" b="1"/>
              <a:t>все</a:t>
            </a:r>
            <a:r>
              <a:rPr lang="ru-RU"/>
              <a:t> читатели гарантированно вышли из своих критических секций.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78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/>
              <a:t>Вставка</a:t>
            </a:r>
            <a:r>
              <a:rPr lang="ru-RU"/>
              <a:t> узла X:</a:t>
            </a:r>
            <a:br>
              <a:rPr lang="ru-RU"/>
            </a:br>
            <a:r>
              <a:rPr lang="ru-RU"/>
              <a:t>— полностью подготовить X → </a:t>
            </a:r>
            <a:r>
              <a:rPr lang="ru-RU" b="1"/>
              <a:t>одним атомарным записыванием</a:t>
            </a:r>
            <a:r>
              <a:rPr lang="ru-RU"/>
              <a:t> подвесить к A</a:t>
            </a:r>
            <a:br>
              <a:rPr lang="ru-RU"/>
            </a:br>
            <a:r>
              <a:rPr lang="ru-RU"/>
              <a:t>— читатели видят либо дерево без X, либо дерево с X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28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/>
              <a:t>Удаление B, D</a:t>
            </a:r>
            <a:r>
              <a:rPr lang="ru-RU"/>
              <a:t>:</a:t>
            </a:r>
            <a:br>
              <a:rPr lang="ru-RU"/>
            </a:br>
            <a:r>
              <a:rPr lang="ru-RU"/>
              <a:t>— переназначить </a:t>
            </a:r>
            <a:r>
              <a: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A-&gt;</a:t>
            </a:r>
            <a:r>
              <a:rPr lang="ru-RU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</a:t>
            </a:r>
            <a:r>
              <a: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C</a:t>
            </a:r>
            <a:r>
              <a:rPr lang="ru-RU"/>
              <a:t> (атомарно)</a:t>
            </a:r>
            <a:br>
              <a:rPr lang="ru-RU"/>
            </a:br>
            <a:r>
              <a:rPr lang="ru-RU"/>
              <a:t>— читатели, находящиеся в A, пойдут в C (новая версия)</a:t>
            </a:r>
            <a:br>
              <a:rPr lang="ru-RU"/>
            </a:br>
            <a:r>
              <a:rPr lang="ru-RU"/>
              <a:t>— читатели, уже в B/D, дочитают старую версию</a:t>
            </a:r>
            <a:br>
              <a:rPr lang="ru-RU"/>
            </a:br>
            <a:r>
              <a:rPr lang="ru-RU"/>
              <a:t>— после </a:t>
            </a:r>
            <a:r>
              <a:rPr lang="ru-RU" err="1"/>
              <a:t>grace</a:t>
            </a:r>
            <a:r>
              <a:rPr lang="ru-RU"/>
              <a:t> </a:t>
            </a:r>
            <a:r>
              <a:rPr lang="ru-RU" err="1"/>
              <a:t>period</a:t>
            </a:r>
            <a:r>
              <a:rPr lang="ru-RU"/>
              <a:t>: освободить B, 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92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/>
              <a:t>Чтобы гарантировать корректный сбор мусора, читатель должен быстро «пролетать» через свою секцию и не засыпать в ней. Тогда ядро/</a:t>
            </a:r>
            <a:r>
              <a:rPr lang="ru-RU" b="0" err="1"/>
              <a:t>рантайм</a:t>
            </a:r>
            <a:r>
              <a:rPr lang="ru-RU" b="0"/>
              <a:t> может определить момент, когда все потоки побывали «снаружи» — это и есть </a:t>
            </a:r>
            <a:r>
              <a:rPr lang="ru-RU" b="0" err="1"/>
              <a:t>grace</a:t>
            </a:r>
            <a:r>
              <a:rPr lang="ru-RU" b="0"/>
              <a:t> </a:t>
            </a:r>
            <a:r>
              <a:rPr lang="ru-RU" b="0" err="1"/>
              <a:t>period</a:t>
            </a:r>
            <a:r>
              <a:rPr lang="ru-RU" b="0"/>
              <a:t>. Как только он завершился, мы уверены, что никто не держит ссылки на старые узлы — их можно </a:t>
            </a:r>
            <a:r>
              <a:rPr lang="ru-RU" b="0" err="1"/>
              <a:t>освобождат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08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/>
              <a:t>RCU сияет там, где чтений намного больше, чем записей, и где можно строить обновления «в стороне», а потом просто переключать указатели. Если структура меняется «на месте» или нужно атомарно править много узлов за раз, потребуется более сложная техника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4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B207-D4CC-D202-1C5C-E64526EBE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5A1A9-3A2D-AB02-DA97-FD1245C3E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7D90B-071C-2EC3-249F-C179C319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7B6F1-ECCA-907C-0B3E-BD36D5FC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05268-8352-4B4C-33F4-45786639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4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EA32C-1E86-2769-5F38-D0644919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B46C3-8F63-DE50-C9C6-A2BA98368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347E4-5C60-FACD-C713-A611E858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D0821-E3AC-C476-684C-FAC19F74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1F9E5-E8E4-2CAB-C10B-71A9E11B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0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D480-AF5E-690E-A3EA-9751103F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EEFA7-F3BB-811D-2362-76E303CB1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8AE11-82FE-A3B6-0226-344860539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933DD-25E6-B0EC-7CC7-8C0CDA409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9CE62-D19B-3E82-B422-C0E8F48D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8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A2F3-48F9-BC70-38C8-424FACA7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1E281-3477-AE39-87F1-73D74429E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5B3F9-29C6-6E22-352A-7AF77E631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34F3F-73ED-4362-DE29-491AAF76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F8A62-B131-F82C-BF31-04275E8A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23E57-7618-68A1-8EE3-0379ACD0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5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5157-CB94-2056-478A-A430C9C7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A299D-C250-7CF5-3536-12A5A19F1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C603C-F0DB-8980-3DB4-B8B1E5C34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D5FDC5-DD3C-CB0C-7D6E-8ECECA975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EA1C1-AE08-9778-0F84-D27C2EB09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1FF6E-ADE9-8AC4-ED3B-67AD600A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DB3C52-0928-6F5E-3779-EE28AD6A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56B39-E3C1-464A-7DE7-EC654F41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6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135F-3E38-08F7-74F0-20F7FA83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65FCE-00A2-1A03-87BA-A13ECDF0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6D7D1-9B42-73ED-4208-1C430770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51518-6408-4A9B-700B-68624B8A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4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2FAAB3-B831-B746-5161-D7A803D6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779C3-81DA-A271-43D7-9DDA6012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E3000-5F42-B844-6341-51EBE68C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33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BB19-A5AE-D96F-53DA-1EDFA245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1A52C-E44D-7E4F-A29D-D7FE757BA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0DC09-62C2-B5CA-23CA-43572F6AB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CD995-E049-EAD5-9C4A-07B80410F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4B237-1DAD-6A34-121A-5B584122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B50E0-0AE3-92C1-7539-9A23FD40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5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CB8E-569F-CF67-254F-E3153671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C945D-593C-409B-9BF2-EF6FC466F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5A778-1C71-D103-3C31-908A430A7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CF4C0-63FB-C609-D938-142EF1E1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B9599-7DEA-C451-E0CE-648B1C9BF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57B8D-9FCE-5768-DF4D-304DA66D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45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02C5-3857-A197-70D6-8086C7EA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87212-8679-C135-FCED-E152A3192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62C8-17BA-487E-9328-107A8273A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5041F-4D19-5E4D-7A09-37641E0D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F13F1-3686-1085-7F24-37DBF295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69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BC0A5-E63E-2422-1D61-3562A710C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4187B-BD1D-C786-BD8F-49CBA5F20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40D3A-F0CB-988D-9DFA-053C1CE9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F5609-32A6-BD09-DB86-3E64825E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066D2-DD77-F8E6-B5A0-1261339B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3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5BC4F-DFD1-8C68-D167-0412DF0D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BA750-DAA6-574A-9701-AED3B770D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6A59-ED23-F1CB-DA80-E861784A8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7ACDA-90A0-DD4B-AE30-E3C21A35CE4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75CC-1329-E8C2-CEB2-6678C3CDB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142A9-106C-6ABD-479A-20FE63959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E1821-5B00-574B-B169-D1914EFE7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86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FD7D-D1D2-AAF2-574F-3830E9F2A4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" dirty="0"/>
              <a:t>Операционные системы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34AF5-43D8-2834-7D3E-5421B1FCF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7. Синхронизация потоков/процессов и </a:t>
            </a:r>
            <a:r>
              <a:rPr lang="ru-RU" dirty="0" err="1"/>
              <a:t>межпроцессная</a:t>
            </a:r>
            <a:r>
              <a:rPr lang="ru-RU" dirty="0"/>
              <a:t> коммуникация. Часть 3</a:t>
            </a:r>
          </a:p>
        </p:txBody>
      </p:sp>
    </p:spTree>
    <p:extLst>
      <p:ext uri="{BB962C8B-B14F-4D97-AF65-F5344CB8AC3E}">
        <p14:creationId xmlns:p14="http://schemas.microsoft.com/office/powerpoint/2010/main" val="418751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2ECA-4C5B-005F-49DB-16CB78AD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Барьеры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3A987A-E7B1-8DBE-CDEC-E0B9077D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такое барьер</a:t>
            </a:r>
            <a:r>
              <a:rPr lang="en-US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82A6AC-A068-DA34-1049-AFFFCC23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Синхронизация </a:t>
            </a:r>
            <a:r>
              <a:rPr lang="ru-RU" b="1"/>
              <a:t>группы</a:t>
            </a:r>
            <a:r>
              <a:rPr lang="ru-RU"/>
              <a:t> процессов/потоков по фазам</a:t>
            </a:r>
          </a:p>
          <a:p>
            <a:r>
              <a:rPr lang="ru-RU"/>
              <a:t>Никто не переходит к фазе </a:t>
            </a:r>
            <a:r>
              <a:rPr lang="ru-RU" i="1"/>
              <a:t>n+1</a:t>
            </a:r>
            <a:r>
              <a:rPr lang="ru-RU"/>
              <a:t>, пока все не закончили фазу </a:t>
            </a:r>
            <a:r>
              <a:rPr lang="ru-RU" i="1"/>
              <a:t>n</a:t>
            </a:r>
            <a:endParaRPr lang="ru-RU"/>
          </a:p>
          <a:p>
            <a:r>
              <a:rPr lang="ru-RU"/>
              <a:t>«Дошёл до барьера → жду остальных → все вместе продолжаем»</a:t>
            </a:r>
          </a:p>
          <a:p>
            <a:r>
              <a:rPr lang="ru-RU"/>
              <a:t>Подходит для </a:t>
            </a:r>
            <a:r>
              <a:rPr lang="ru-RU" b="1"/>
              <a:t>итеративных</a:t>
            </a:r>
            <a:r>
              <a:rPr lang="ru-RU"/>
              <a:t> алгоритмов и пошаговых моделей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9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BE2529-5285-8CF6-959D-91BC5EE79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79" y="637189"/>
            <a:ext cx="11167242" cy="55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7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0460-2E36-E6FC-03CD-973326D2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Пример: итеративная релаксация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1BF4-C1A3-4F0F-F87A-BFBFABD69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Большая матрица (например, температуры на пластине)</a:t>
            </a:r>
          </a:p>
          <a:p>
            <a:r>
              <a:rPr lang="ru-RU"/>
              <a:t>Каждая итерация: вычисляем </a:t>
            </a:r>
            <a:r>
              <a:rPr lang="ru-RU" b="1"/>
              <a:t>новую матрицу</a:t>
            </a:r>
            <a:r>
              <a:rPr lang="ru-RU"/>
              <a:t> из </a:t>
            </a:r>
            <a:r>
              <a:rPr lang="ru-RU" b="1"/>
              <a:t>старой</a:t>
            </a:r>
            <a:endParaRPr lang="ru-RU"/>
          </a:p>
          <a:p>
            <a:r>
              <a:rPr lang="ru-RU"/>
              <a:t>Разбиваем матрицу между потоками (блоки/полосы)</a:t>
            </a:r>
          </a:p>
          <a:p>
            <a:r>
              <a:rPr lang="ru-RU"/>
              <a:t>После локальных вычислений — </a:t>
            </a:r>
            <a:r>
              <a:rPr lang="ru-RU" b="1"/>
              <a:t>барьер</a:t>
            </a:r>
            <a:r>
              <a:rPr lang="ru-RU"/>
              <a:t>:</a:t>
            </a:r>
          </a:p>
          <a:p>
            <a:r>
              <a:rPr lang="ru-RU"/>
              <a:t>Как все дождались, начинаем новую итерацию</a:t>
            </a:r>
          </a:p>
        </p:txBody>
      </p:sp>
    </p:spTree>
    <p:extLst>
      <p:ext uri="{BB962C8B-B14F-4D97-AF65-F5344CB8AC3E}">
        <p14:creationId xmlns:p14="http://schemas.microsoft.com/office/powerpoint/2010/main" val="92535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4BC0-A530-AE0F-3945-BAB2CAF4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Реализации барьеров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DF551-0929-EA08-B960-EB1202939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Готовые примитивы:</a:t>
            </a:r>
          </a:p>
          <a:p>
            <a:pPr lvl="1"/>
            <a:r>
              <a:rPr lang="en-US"/>
              <a:t>C++20: std::barrier (</a:t>
            </a:r>
            <a:r>
              <a:rPr lang="ru-RU"/>
              <a:t>заголовок &lt;</a:t>
            </a:r>
            <a:r>
              <a:rPr lang="en-US"/>
              <a:t>barrier&gt;)</a:t>
            </a:r>
          </a:p>
          <a:p>
            <a:pPr lvl="1"/>
            <a:r>
              <a:rPr lang="en-US"/>
              <a:t>POSIX: </a:t>
            </a:r>
            <a:r>
              <a:rPr lang="en-US" err="1"/>
              <a:t>pthread_barrier_t</a:t>
            </a:r>
            <a:endParaRPr lang="en-US"/>
          </a:p>
          <a:p>
            <a:pPr lvl="1"/>
            <a:r>
              <a:rPr lang="en-US"/>
              <a:t>OpenMP: #pragma </a:t>
            </a:r>
            <a:r>
              <a:rPr lang="en-US" err="1"/>
              <a:t>omp</a:t>
            </a:r>
            <a:r>
              <a:rPr lang="en-US"/>
              <a:t> barrier</a:t>
            </a:r>
          </a:p>
          <a:p>
            <a:r>
              <a:rPr lang="ru-RU"/>
              <a:t>Можно собрать на </a:t>
            </a:r>
            <a:r>
              <a:rPr lang="en-US"/>
              <a:t>mutex + </a:t>
            </a:r>
            <a:r>
              <a:rPr lang="en-US" err="1"/>
              <a:t>condition_variable</a:t>
            </a:r>
            <a:endParaRPr lang="en-US"/>
          </a:p>
          <a:p>
            <a:r>
              <a:rPr lang="ru-RU"/>
              <a:t>Массовое повторное использование: счётчик участников + «поколение»</a:t>
            </a:r>
          </a:p>
        </p:txBody>
      </p:sp>
    </p:spTree>
    <p:extLst>
      <p:ext uri="{BB962C8B-B14F-4D97-AF65-F5344CB8AC3E}">
        <p14:creationId xmlns:p14="http://schemas.microsoft.com/office/powerpoint/2010/main" val="1662885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EEE5CD-267E-06BC-968C-1E4B70849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8837397" cy="45930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D6ECA6-D779-3141-1F40-3EFFABD3C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396" y="3027212"/>
            <a:ext cx="3354604" cy="380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7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CE4F2-AB70-A339-8B45-EBA69F7A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Подводные камни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FF0D2-7FE2-B8CB-43FB-1E58818ED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err="1"/>
              <a:t>Straggler</a:t>
            </a:r>
            <a:r>
              <a:rPr lang="ru-RU"/>
              <a:t>: медленный участник задерживает всех</a:t>
            </a:r>
          </a:p>
          <a:p>
            <a:r>
              <a:rPr lang="ru-RU"/>
              <a:t>Неверное N или «пропавший» поток приводят к </a:t>
            </a:r>
            <a:r>
              <a:rPr lang="ru-RU" err="1"/>
              <a:t>дедлоку</a:t>
            </a:r>
            <a:endParaRPr lang="ru-RU"/>
          </a:p>
          <a:p>
            <a:r>
              <a:rPr lang="ru-RU"/>
              <a:t>Нужна защита от повторного использования: счётчик поколений</a:t>
            </a:r>
          </a:p>
          <a:p>
            <a:r>
              <a:rPr lang="ru-RU"/>
              <a:t>«</a:t>
            </a:r>
            <a:r>
              <a:rPr lang="ru-RU" err="1"/>
              <a:t>Broken</a:t>
            </a:r>
            <a:r>
              <a:rPr lang="ru-RU"/>
              <a:t> </a:t>
            </a:r>
            <a:r>
              <a:rPr lang="ru-RU" err="1"/>
              <a:t>barrier</a:t>
            </a:r>
            <a:r>
              <a:rPr lang="ru-RU"/>
              <a:t>»: разрыв синхронизации при ошибке в одном из участников</a:t>
            </a:r>
          </a:p>
          <a:p>
            <a:r>
              <a:rPr lang="ru-RU"/>
              <a:t>Избегайте работы с общими данными между барьерами без нужных гарантий</a:t>
            </a:r>
          </a:p>
        </p:txBody>
      </p:sp>
    </p:spTree>
    <p:extLst>
      <p:ext uri="{BB962C8B-B14F-4D97-AF65-F5344CB8AC3E}">
        <p14:creationId xmlns:p14="http://schemas.microsoft.com/office/powerpoint/2010/main" val="282862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C4A8-B88C-AFB6-2F4D-649CBBE5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Барьеры памяти (</a:t>
            </a:r>
            <a:r>
              <a:rPr lang="en-US"/>
              <a:t>memory fences)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D5AC-546D-990F-C5ED-C8A8CF74F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Не путать: синхронизационный барьер </a:t>
            </a:r>
            <a:r>
              <a:rPr lang="en-US"/>
              <a:t>vs memory barrier (fence)</a:t>
            </a:r>
          </a:p>
          <a:p>
            <a:r>
              <a:rPr lang="en-US"/>
              <a:t>Memory fence </a:t>
            </a:r>
            <a:r>
              <a:rPr lang="ru-RU"/>
              <a:t>упорядочивает операции памяти (чтения/записи)</a:t>
            </a:r>
          </a:p>
          <a:p>
            <a:r>
              <a:rPr lang="ru-RU"/>
              <a:t>Нужен из-за </a:t>
            </a:r>
            <a:r>
              <a:rPr lang="en-US"/>
              <a:t>out-of-order execution </a:t>
            </a:r>
            <a:r>
              <a:rPr lang="ru-RU"/>
              <a:t>и слабых моделей памяти</a:t>
            </a:r>
          </a:p>
          <a:p>
            <a:pPr lvl="1"/>
            <a:r>
              <a:rPr lang="ru-RU"/>
              <a:t>Например, если из-за флаг готовности данных будет установлен раньше данных, читатель увидит старые данные</a:t>
            </a:r>
          </a:p>
          <a:p>
            <a:r>
              <a:rPr lang="ru-RU"/>
              <a:t>Решение: </a:t>
            </a:r>
            <a:r>
              <a:rPr lang="en-US"/>
              <a:t>release/acquire </a:t>
            </a:r>
            <a:r>
              <a:rPr lang="ru-RU"/>
              <a:t>или явная </a:t>
            </a:r>
            <a:r>
              <a:rPr lang="en-US" err="1"/>
              <a:t>atomic_thread_fence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9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CD5510-203D-02A3-3D11-28009DA7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Пример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D65BD-91D9-F68B-D6DA-F8A8BCDE6156}"/>
              </a:ext>
            </a:extLst>
          </p:cNvPr>
          <p:cNvSpPr txBox="1"/>
          <p:nvPr/>
        </p:nvSpPr>
        <p:spPr>
          <a:xfrm>
            <a:off x="838200" y="2196908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std::atomic&lt;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turn{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std::atomic&lt;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x{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writer: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turn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memory_order_release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публикуем флаг ПОСЛЕ данных</a:t>
            </a:r>
            <a:endParaRPr lang="ru-RU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ru-RU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reader: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turn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memory_order_acquire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spin */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 = </a:t>
            </a:r>
            <a:r>
              <a:rPr lang="en-US" b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видим 100 гарантированно</a:t>
            </a:r>
            <a:endParaRPr lang="ru-RU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075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76CAAF-C946-4862-56FF-817F90E8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Пример: барьер + двойная буферизация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32E85-6C57-AD15-203F-AA1D56D5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20470"/>
          </a:xfrm>
        </p:spPr>
        <p:txBody>
          <a:bodyPr>
            <a:normAutofit/>
          </a:bodyPr>
          <a:lstStyle/>
          <a:p>
            <a:r>
              <a:rPr lang="ru-RU"/>
              <a:t>Часто совмещают барьер с переключением буферов</a:t>
            </a:r>
          </a:p>
          <a:p>
            <a:r>
              <a:rPr lang="ru-RU"/>
              <a:t>Все считают в </a:t>
            </a:r>
            <a:r>
              <a:rPr lang="ru-RU" err="1"/>
              <a:t>next</a:t>
            </a:r>
            <a:r>
              <a:rPr lang="ru-RU"/>
              <a:t>, на барьере меняем роли </a:t>
            </a:r>
            <a:r>
              <a:rPr lang="ru-RU" err="1"/>
              <a:t>current</a:t>
            </a:r>
            <a:r>
              <a:rPr lang="ru-RU"/>
              <a:t> ↔ </a:t>
            </a:r>
            <a:r>
              <a:rPr lang="ru-RU" err="1"/>
              <a:t>next</a:t>
            </a:r>
            <a:endParaRPr lang="ru-RU"/>
          </a:p>
          <a:p>
            <a:pPr lvl="1"/>
            <a:r>
              <a:rPr lang="ru-RU"/>
              <a:t>Пример: параллельное вычисление следующей популяции игры «Жизнь»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270A4-5A05-4720-34B3-FA1860D50276}"/>
              </a:ext>
            </a:extLst>
          </p:cNvPr>
          <p:cNvSpPr txBox="1"/>
          <p:nvPr/>
        </p:nvSpPr>
        <p:spPr>
          <a:xfrm>
            <a:off x="838200" y="3846095"/>
            <a:ext cx="1051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barrier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sync(</a:t>
            </a:r>
            <a:r>
              <a:rPr lang="en-US" b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[&amp;]{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b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(current, next);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completion step: </a:t>
            </a:r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единожды после прихода всех</a:t>
            </a:r>
            <a:endParaRPr lang="ru-RU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br>
              <a:rPr lang="ru-RU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chunk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&lt;steps; ++</a:t>
            </a:r>
            <a:r>
              <a:rPr lang="en-US" b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compute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(next, current,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читаем из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current, </a:t>
            </a:r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пишем в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sync.</a:t>
            </a:r>
            <a:r>
              <a:rPr lang="en-US" b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arrive_and_wait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// </a:t>
            </a:r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все дошли → безопасно переключиться</a:t>
            </a:r>
            <a:endParaRPr lang="ru-RU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ru-RU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43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8FF30-DB63-1CBB-63D3-96C5FB45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Практические рекомендации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75D75-9F7A-0FED-AAE6-545A1A21D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Измеряйте и минимизируйте дисбаланс работы между участниками</a:t>
            </a:r>
          </a:p>
          <a:p>
            <a:r>
              <a:rPr lang="ru-RU"/>
              <a:t>Обрабатывайте «поломку» барьера (исключения, отмена, ранний выход)</a:t>
            </a:r>
          </a:p>
          <a:p>
            <a:r>
              <a:rPr lang="ru-RU"/>
              <a:t>Для плотных циклов используйте </a:t>
            </a:r>
            <a:r>
              <a:rPr lang="ru-RU" err="1"/>
              <a:t>std</a:t>
            </a:r>
            <a:r>
              <a:rPr lang="ru-RU"/>
              <a:t>::</a:t>
            </a:r>
            <a:r>
              <a:rPr lang="ru-RU" err="1"/>
              <a:t>barrier</a:t>
            </a:r>
            <a:r>
              <a:rPr lang="ru-RU"/>
              <a:t> (низкие накладные расходы)</a:t>
            </a:r>
          </a:p>
          <a:p>
            <a:r>
              <a:rPr lang="ru-RU"/>
              <a:t>Не путайте с </a:t>
            </a:r>
            <a:r>
              <a:rPr lang="ru-RU" err="1"/>
              <a:t>memory</a:t>
            </a:r>
            <a:r>
              <a:rPr lang="ru-RU"/>
              <a:t> </a:t>
            </a:r>
            <a:r>
              <a:rPr lang="ru-RU" err="1"/>
              <a:t>fences</a:t>
            </a:r>
            <a:r>
              <a:rPr lang="ru-RU"/>
              <a:t>; комбинируйте при необходимости</a:t>
            </a:r>
          </a:p>
          <a:p>
            <a:r>
              <a:rPr lang="ru-RU"/>
              <a:t>Документируйте размер группы (N) и жизненный цикл барьера</a:t>
            </a:r>
          </a:p>
        </p:txBody>
      </p:sp>
    </p:spTree>
    <p:extLst>
      <p:ext uri="{BB962C8B-B14F-4D97-AF65-F5344CB8AC3E}">
        <p14:creationId xmlns:p14="http://schemas.microsoft.com/office/powerpoint/2010/main" val="1936258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583D13-5D41-6448-C85A-962F8F1F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Инверсия приоритетов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49FB4-399E-B159-20A2-E1E0A0B41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81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2AD74-848A-4092-158F-5D52D63B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такое инверсия приоритетов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D7AE69-CD1F-7833-B255-CE929482C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Ситуация: низкоприоритетный поток удерживает ресурс, который нужен высокоприоритетному</a:t>
            </a:r>
          </a:p>
          <a:p>
            <a:r>
              <a:rPr lang="ru-RU"/>
              <a:t>Проблема: высокоприоритетный поток блокируется, а </a:t>
            </a:r>
            <a:r>
              <a:rPr lang="ru-RU" err="1"/>
              <a:t>среднеприоритетный</a:t>
            </a:r>
            <a:r>
              <a:rPr lang="ru-RU"/>
              <a:t> работает и вытесняет низкий.</a:t>
            </a:r>
          </a:p>
          <a:p>
            <a:pPr lvl="1"/>
            <a:r>
              <a:rPr lang="ru-RU"/>
              <a:t>Приоритетный поток оказывается фактически «ниже» среднего</a:t>
            </a:r>
          </a:p>
          <a:p>
            <a:r>
              <a:rPr lang="ru-RU"/>
              <a:t>Возникает при мьютексах/общих ресурсах и приоритетном планировании</a:t>
            </a:r>
          </a:p>
        </p:txBody>
      </p:sp>
    </p:spTree>
    <p:extLst>
      <p:ext uri="{BB962C8B-B14F-4D97-AF65-F5344CB8AC3E}">
        <p14:creationId xmlns:p14="http://schemas.microsoft.com/office/powerpoint/2010/main" val="4208450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B827-6ABD-B470-1D0F-36A0C66B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Ошибка космического масштаба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26BB-CC19-62BC-337D-ECCF62885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На ровере: шина обмена с мьютексом</a:t>
            </a:r>
          </a:p>
          <a:p>
            <a:r>
              <a:rPr lang="ru-RU"/>
              <a:t>Потоки:</a:t>
            </a:r>
          </a:p>
          <a:p>
            <a:pPr lvl="1"/>
            <a:r>
              <a:rPr lang="ru-RU"/>
              <a:t>L — метеоданные (низкий приоритет, держит мьютекс)</a:t>
            </a:r>
          </a:p>
          <a:p>
            <a:pPr lvl="1"/>
            <a:r>
              <a:rPr lang="ru-RU"/>
              <a:t>M — связь/телеметрия (средний приоритет, мьютекс </a:t>
            </a:r>
            <a:r>
              <a:rPr lang="ru-RU" b="1"/>
              <a:t>не нужен</a:t>
            </a:r>
            <a:r>
              <a:rPr lang="ru-RU"/>
              <a:t>)</a:t>
            </a:r>
          </a:p>
          <a:p>
            <a:pPr lvl="1"/>
            <a:r>
              <a:rPr lang="ru-RU"/>
              <a:t>H — управление шиной (высокий приоритет, </a:t>
            </a:r>
            <a:r>
              <a:rPr lang="ru-RU" b="1"/>
              <a:t>ждёт мьютекс</a:t>
            </a:r>
            <a:r>
              <a:rPr lang="ru-RU"/>
              <a:t>)</a:t>
            </a:r>
          </a:p>
          <a:p>
            <a:r>
              <a:rPr lang="ru-RU"/>
              <a:t>Симптомы: зависания передачи, периодические перезапуски</a:t>
            </a:r>
          </a:p>
        </p:txBody>
      </p:sp>
    </p:spTree>
    <p:extLst>
      <p:ext uri="{BB962C8B-B14F-4D97-AF65-F5344CB8AC3E}">
        <p14:creationId xmlns:p14="http://schemas.microsoft.com/office/powerpoint/2010/main" val="2162253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ED85-A605-1DE4-C2D2-7ABE877C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Механика инверсии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951C0-A30A-9AA9-A15C-40AA6D211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/>
              <a:t>T0:</a:t>
            </a:r>
            <a:r>
              <a:rPr lang="ru-RU"/>
              <a:t> L захватывает мьютекс</a:t>
            </a:r>
          </a:p>
          <a:p>
            <a:r>
              <a:rPr lang="ru-RU" b="1"/>
              <a:t>T1:</a:t>
            </a:r>
            <a:r>
              <a:rPr lang="ru-RU"/>
              <a:t> M вытесняет L (L не успел сделать </a:t>
            </a:r>
            <a:r>
              <a:rPr lang="ru-RU" err="1"/>
              <a:t>unlock</a:t>
            </a:r>
            <a:r>
              <a:rPr lang="ru-RU"/>
              <a:t>)</a:t>
            </a:r>
          </a:p>
          <a:p>
            <a:r>
              <a:rPr lang="ru-RU" b="1"/>
              <a:t>T2:</a:t>
            </a:r>
            <a:r>
              <a:rPr lang="ru-RU"/>
              <a:t> H запускается → </a:t>
            </a:r>
            <a:r>
              <a:rPr lang="ru-RU" b="1"/>
              <a:t>блокируется</a:t>
            </a:r>
            <a:r>
              <a:rPr lang="ru-RU"/>
              <a:t> на мьютексе (ждёт L)</a:t>
            </a:r>
          </a:p>
          <a:p>
            <a:r>
              <a:rPr lang="ru-RU" b="1"/>
              <a:t>T3:</a:t>
            </a:r>
            <a:r>
              <a:rPr lang="ru-RU"/>
              <a:t> Планировщик снова даёт CPU M → L не бежит → H стоит</a:t>
            </a:r>
          </a:p>
          <a:p>
            <a:r>
              <a:rPr lang="ru-RU" b="1"/>
              <a:t>T4:</a:t>
            </a:r>
            <a:r>
              <a:rPr lang="ru-RU"/>
              <a:t> Патовая ситуация до тех пор, пока L не получит квант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5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8E26-C430-2EFD-28E1-5B7D93FC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Подходы к решению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BB240-0F65-8E86-1EEF-D0D39C58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❌ Отключать прерывания в пользовательском коде — опасно и непереносимо</a:t>
            </a:r>
          </a:p>
          <a:p>
            <a:r>
              <a:rPr lang="ru-RU" dirty="0"/>
              <a:t>✅ </a:t>
            </a:r>
            <a:r>
              <a:rPr lang="ru-RU" dirty="0" err="1"/>
              <a:t>Priority</a:t>
            </a:r>
            <a:r>
              <a:rPr lang="ru-RU" dirty="0"/>
              <a:t> </a:t>
            </a:r>
            <a:r>
              <a:rPr lang="ru-RU" dirty="0" err="1"/>
              <a:t>Ceiling</a:t>
            </a:r>
            <a:r>
              <a:rPr lang="ru-RU" dirty="0"/>
              <a:t> (потолок приоритета): держатель мьютекса временно получает заранее заданный «потолочный» приоритет</a:t>
            </a:r>
          </a:p>
          <a:p>
            <a:r>
              <a:rPr lang="ru-RU" dirty="0"/>
              <a:t>✅ </a:t>
            </a:r>
            <a:r>
              <a:rPr lang="ru-RU" dirty="0" err="1"/>
              <a:t>Priority</a:t>
            </a:r>
            <a:r>
              <a:rPr lang="ru-RU" dirty="0"/>
              <a:t> </a:t>
            </a:r>
            <a:r>
              <a:rPr lang="ru-RU" dirty="0" err="1"/>
              <a:t>Inheritance</a:t>
            </a:r>
            <a:r>
              <a:rPr lang="ru-RU" dirty="0"/>
              <a:t> (наследование приоритета): держатель мьютекса наследует наивысший из ожидающих приоритетов</a:t>
            </a:r>
          </a:p>
          <a:p>
            <a:r>
              <a:rPr lang="ru-RU" dirty="0"/>
              <a:t>➕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Boosting</a:t>
            </a:r>
            <a:r>
              <a:rPr lang="ru-RU" dirty="0"/>
              <a:t> (Windows): периодически случайно «подбадриваем» </a:t>
            </a:r>
            <a:r>
              <a:rPr lang="en-US" dirty="0"/>
              <a:t>(</a:t>
            </a:r>
            <a:r>
              <a:rPr lang="ru-RU" dirty="0"/>
              <a:t>повышаем приоритет</a:t>
            </a:r>
            <a:r>
              <a:rPr lang="en-US" dirty="0"/>
              <a:t>) </a:t>
            </a:r>
            <a:r>
              <a:rPr lang="ru-RU" dirty="0"/>
              <a:t>держателей мьютекса</a:t>
            </a:r>
          </a:p>
        </p:txBody>
      </p:sp>
    </p:spTree>
    <p:extLst>
      <p:ext uri="{BB962C8B-B14F-4D97-AF65-F5344CB8AC3E}">
        <p14:creationId xmlns:p14="http://schemas.microsoft.com/office/powerpoint/2010/main" val="3004875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9231-91F5-5FBB-8718-0F64FCE2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Priority</a:t>
            </a:r>
            <a:r>
              <a:rPr lang="ru-RU"/>
              <a:t> </a:t>
            </a:r>
            <a:r>
              <a:rPr lang="ru-RU" err="1"/>
              <a:t>Inheritance</a:t>
            </a:r>
            <a:r>
              <a:rPr lang="ru-RU"/>
              <a:t>: как это работает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B85F-726C-E39D-EA0A-78158F13C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Когда </a:t>
            </a:r>
            <a:r>
              <a:rPr lang="ru-RU" b="1"/>
              <a:t>H ждёт</a:t>
            </a:r>
            <a:r>
              <a:rPr lang="ru-RU"/>
              <a:t> мьютекс у </a:t>
            </a:r>
            <a:r>
              <a:rPr lang="ru-RU" b="1"/>
              <a:t>L</a:t>
            </a:r>
            <a:r>
              <a:rPr lang="ru-RU"/>
              <a:t>, L временно повышают до приоритета H</a:t>
            </a:r>
          </a:p>
          <a:p>
            <a:r>
              <a:rPr lang="ru-RU" b="1"/>
              <a:t>M</a:t>
            </a:r>
            <a:r>
              <a:rPr lang="ru-RU"/>
              <a:t> больше не может вытеснять L → L завершает критическую секцию</a:t>
            </a:r>
          </a:p>
          <a:p>
            <a:r>
              <a:rPr lang="ru-RU"/>
              <a:t>После </a:t>
            </a:r>
            <a:r>
              <a:rPr lang="ru-RU" err="1"/>
              <a:t>unlock</a:t>
            </a:r>
            <a:r>
              <a:rPr lang="ru-RU"/>
              <a:t> приоритет L </a:t>
            </a:r>
            <a:r>
              <a:rPr lang="ru-RU" b="1"/>
              <a:t>возвращается</a:t>
            </a:r>
            <a:r>
              <a:rPr lang="ru-RU"/>
              <a:t> к исходному</a:t>
            </a:r>
          </a:p>
          <a:p>
            <a:r>
              <a:rPr lang="ru-RU"/>
              <a:t>Плюсы: динамично, хорошо работает для непредсказуемых путей</a:t>
            </a:r>
          </a:p>
          <a:p>
            <a:r>
              <a:rPr lang="ru-RU"/>
              <a:t>Минусы: накладные расходы ядра, сложнее отладка цепочек наследования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65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F32B-7871-C306-DB11-EDB41A2B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Priority</a:t>
            </a:r>
            <a:r>
              <a:rPr lang="ru-RU"/>
              <a:t> </a:t>
            </a:r>
            <a:r>
              <a:rPr lang="ru-RU" err="1"/>
              <a:t>Ceiling</a:t>
            </a:r>
            <a:r>
              <a:rPr lang="ru-RU"/>
              <a:t>: когда потолок полезнее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FD35B-8020-6D1C-ABA6-3D187C99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Каждому мьютексу назначается </a:t>
            </a:r>
            <a:r>
              <a:rPr lang="ru-RU" err="1"/>
              <a:t>ceiling</a:t>
            </a:r>
            <a:r>
              <a:rPr lang="ru-RU"/>
              <a:t>  — максимальный приоритет возможных «клиентов»</a:t>
            </a:r>
          </a:p>
          <a:p>
            <a:r>
              <a:rPr lang="ru-RU"/>
              <a:t>Поток, </a:t>
            </a:r>
            <a:r>
              <a:rPr lang="ru-RU" b="1"/>
              <a:t>вошедший</a:t>
            </a:r>
            <a:r>
              <a:rPr lang="ru-RU"/>
              <a:t> в критическую секцию, немедленно поднимается до </a:t>
            </a:r>
            <a:r>
              <a:rPr lang="ru-RU" err="1"/>
              <a:t>ceiling</a:t>
            </a:r>
            <a:endParaRPr lang="ru-RU"/>
          </a:p>
          <a:p>
            <a:r>
              <a:rPr lang="ru-RU"/>
              <a:t>Гарантирует отсутствие инверсии и предотвращает </a:t>
            </a:r>
            <a:r>
              <a:rPr lang="ru-RU" b="1"/>
              <a:t>взаимные блокировки приоритетов</a:t>
            </a:r>
            <a:endParaRPr lang="ru-RU"/>
          </a:p>
          <a:p>
            <a:r>
              <a:rPr lang="ru-RU"/>
              <a:t>Минусы: нужен анализ всех путей/приоритетов, может «</a:t>
            </a:r>
            <a:r>
              <a:rPr lang="ru-RU" err="1"/>
              <a:t>переповышать</a:t>
            </a:r>
            <a:r>
              <a:rPr lang="ru-RU"/>
              <a:t>» слишком часто</a:t>
            </a:r>
          </a:p>
        </p:txBody>
      </p:sp>
    </p:spTree>
    <p:extLst>
      <p:ext uri="{BB962C8B-B14F-4D97-AF65-F5344CB8AC3E}">
        <p14:creationId xmlns:p14="http://schemas.microsoft.com/office/powerpoint/2010/main" val="3181839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1C2D-D211-0575-1E44-FFBA2D08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Практика и рекомендации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E7F36-4643-AF02-B119-43C32E031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/>
              <a:t>Минимизируйте длительность критических секций, не делайте внутри них I/O блокировок</a:t>
            </a:r>
          </a:p>
          <a:p>
            <a:r>
              <a:rPr lang="ru-RU"/>
              <a:t>Выделяйте отдельные мьютексы под независимые ресурсы (уменьшает конкуренцию)</a:t>
            </a:r>
          </a:p>
          <a:p>
            <a:r>
              <a:rPr lang="ru-RU"/>
              <a:t>При использовании POSIX можете включать протоколы:</a:t>
            </a:r>
          </a:p>
          <a:p>
            <a:pPr lvl="1"/>
            <a:r>
              <a:rPr lang="ru-RU"/>
              <a:t>PTHREAD_PRIO_INHERIT (наследование приоритетов)</a:t>
            </a:r>
          </a:p>
          <a:p>
            <a:pPr lvl="1"/>
            <a:r>
              <a:rPr lang="ru-RU"/>
              <a:t>PTHREAD_PRIO_PROTECT (</a:t>
            </a:r>
            <a:r>
              <a:rPr lang="ru-RU" err="1"/>
              <a:t>priority</a:t>
            </a:r>
            <a:r>
              <a:rPr lang="ru-RU"/>
              <a:t> </a:t>
            </a:r>
            <a:r>
              <a:rPr lang="ru-RU" err="1"/>
              <a:t>ceiling</a:t>
            </a:r>
            <a:r>
              <a:rPr lang="ru-RU"/>
              <a:t>)</a:t>
            </a:r>
          </a:p>
          <a:p>
            <a:r>
              <a:rPr lang="ru-RU" err="1"/>
              <a:t>Логируйте</a:t>
            </a:r>
            <a:r>
              <a:rPr lang="ru-RU"/>
              <a:t> «долгие удержания» мьютексов; мониторьте время ожидания по приоритетам</a:t>
            </a:r>
          </a:p>
          <a:p>
            <a:r>
              <a:rPr lang="ru-RU"/>
              <a:t>Для систем реального времени — тесты под нагрузкой с профилированием планировщика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48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E64D-58E6-1A9E-E43D-7660EEE6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Итог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0AD0B-1EEC-9FC4-9495-0D7C794A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Инверсия приоритетов ломает ожидания от планировщика и срывает дедлайны</a:t>
            </a:r>
          </a:p>
          <a:p>
            <a:r>
              <a:rPr lang="ru-RU"/>
              <a:t>Лучшие практики: </a:t>
            </a:r>
            <a:r>
              <a:rPr lang="ru-RU" err="1"/>
              <a:t>inheritance</a:t>
            </a:r>
            <a:r>
              <a:rPr lang="ru-RU"/>
              <a:t> или </a:t>
            </a:r>
            <a:r>
              <a:rPr lang="ru-RU" err="1"/>
              <a:t>ceiling</a:t>
            </a:r>
            <a:r>
              <a:rPr lang="ru-RU"/>
              <a:t> + дисциплина критических секций</a:t>
            </a:r>
          </a:p>
          <a:p>
            <a:r>
              <a:rPr lang="ru-RU"/>
              <a:t>Реальные ОС применяют и эвристики (</a:t>
            </a:r>
            <a:r>
              <a:rPr lang="ru-RU" err="1"/>
              <a:t>random</a:t>
            </a:r>
            <a:r>
              <a:rPr lang="ru-RU"/>
              <a:t> </a:t>
            </a:r>
            <a:r>
              <a:rPr lang="ru-RU" err="1"/>
              <a:t>boosting</a:t>
            </a:r>
            <a:r>
              <a:rPr lang="ru-RU"/>
              <a:t>), но опора должна быть на протоколах мьютексов</a:t>
            </a:r>
          </a:p>
          <a:p>
            <a:r>
              <a:rPr lang="ru-RU"/>
              <a:t>Кейсы уровня Mars </a:t>
            </a:r>
            <a:r>
              <a:rPr lang="ru-RU" err="1"/>
              <a:t>Pathfinder</a:t>
            </a:r>
            <a:r>
              <a:rPr lang="ru-RU"/>
              <a:t> показывают: это не академическая проблема, а инженерная реальность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4274928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1419-D38D-C750-D829-560DA64E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Read-Copy-Update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83BFC-70E4-6D40-5DD8-504C03848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34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EAD4D7-4C2C-C064-4486-56D9E3F5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Зачем использовать RCU?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A6285B-5BC5-FB69-E570-8E1530C2F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Самая быстрая блокировка — её отсутствие</a:t>
            </a:r>
          </a:p>
          <a:p>
            <a:r>
              <a:rPr lang="ru-RU" dirty="0"/>
              <a:t>RCU: параллельные чтения без </a:t>
            </a:r>
            <a:r>
              <a:rPr lang="ru-RU" dirty="0" err="1"/>
              <a:t>локов</a:t>
            </a:r>
            <a:r>
              <a:rPr lang="ru-RU" dirty="0"/>
              <a:t>, обновления без остановки читателей</a:t>
            </a:r>
          </a:p>
          <a:p>
            <a:r>
              <a:rPr lang="ru-RU" dirty="0"/>
              <a:t>Идея: читатель видит либо старую, либо новую версию структуры — не гибрид</a:t>
            </a:r>
          </a:p>
          <a:p>
            <a:r>
              <a:rPr lang="ru-RU" dirty="0"/>
              <a:t>Нет инверсии приоритетов, высокая масштабируемость на ядрах</a:t>
            </a:r>
          </a:p>
        </p:txBody>
      </p:sp>
    </p:spTree>
    <p:extLst>
      <p:ext uri="{BB962C8B-B14F-4D97-AF65-F5344CB8AC3E}">
        <p14:creationId xmlns:p14="http://schemas.microsoft.com/office/powerpoint/2010/main" val="773601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E12A-7B81-1E3E-898B-3FA5722E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Базовый паттерн </a:t>
            </a:r>
            <a:r>
              <a:rPr lang="en-US"/>
              <a:t>RCU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DA2C0-3626-1AEC-831F-FC533C0A5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Читатель: входит в </a:t>
            </a:r>
            <a:r>
              <a:rPr lang="ru-RU" i="1" err="1"/>
              <a:t>read-side</a:t>
            </a:r>
            <a:r>
              <a:rPr lang="ru-RU" i="1"/>
              <a:t> </a:t>
            </a:r>
            <a:r>
              <a:rPr lang="ru-RU" i="1" err="1"/>
              <a:t>critical</a:t>
            </a:r>
            <a:r>
              <a:rPr lang="ru-RU" i="1"/>
              <a:t> </a:t>
            </a:r>
            <a:r>
              <a:rPr lang="ru-RU" i="1" err="1"/>
              <a:t>section</a:t>
            </a:r>
            <a:r>
              <a:rPr lang="en-US"/>
              <a:t>,</a:t>
            </a:r>
            <a:r>
              <a:rPr lang="ru-RU"/>
              <a:t> читает</a:t>
            </a:r>
            <a:r>
              <a:rPr lang="en-US"/>
              <a:t>, </a:t>
            </a:r>
            <a:r>
              <a:rPr lang="ru-RU"/>
              <a:t>выходит</a:t>
            </a:r>
            <a:br>
              <a:rPr lang="ru-RU"/>
            </a:br>
            <a:r>
              <a:rPr lang="ru-RU"/>
              <a:t>без блокировок, без сна</a:t>
            </a:r>
          </a:p>
          <a:p>
            <a:r>
              <a:rPr lang="ru-RU"/>
              <a:t>Писатель:</a:t>
            </a:r>
          </a:p>
          <a:p>
            <a:pPr lvl="1"/>
            <a:r>
              <a:rPr lang="ru-RU"/>
              <a:t>создаёт копию/новый узел и полностью инициализирует</a:t>
            </a:r>
          </a:p>
          <a:p>
            <a:pPr lvl="1"/>
            <a:r>
              <a:rPr lang="ru-RU"/>
              <a:t>атомарно публикует (меняет указатель)</a:t>
            </a:r>
          </a:p>
          <a:p>
            <a:pPr lvl="1"/>
            <a:r>
              <a:rPr lang="ru-RU"/>
              <a:t>ждёт </a:t>
            </a:r>
            <a:r>
              <a:rPr lang="ru-RU" err="1"/>
              <a:t>grace</a:t>
            </a:r>
            <a:r>
              <a:rPr lang="ru-RU"/>
              <a:t> </a:t>
            </a:r>
            <a:r>
              <a:rPr lang="ru-RU" err="1"/>
              <a:t>period</a:t>
            </a:r>
            <a:r>
              <a:rPr lang="en-US"/>
              <a:t> (</a:t>
            </a:r>
            <a:r>
              <a:rPr lang="ru-RU"/>
              <a:t>когда никто больше не использует старый указатель)</a:t>
            </a:r>
          </a:p>
          <a:p>
            <a:pPr lvl="1"/>
            <a:r>
              <a:rPr lang="ru-RU"/>
              <a:t>освобождает старую версию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49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800E-D8F0-63CA-5CA5-4154FF7D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DB1DCF-86A0-1283-2C49-92AD321CC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94817"/>
            <a:ext cx="10515600" cy="421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03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77FE-653A-DEB0-41E6-486EC10F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Удаление узла из дерева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10454F-A8B5-1065-DFF7-8716EA8FE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6999" y="1825625"/>
            <a:ext cx="94580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31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EF69-B3D9-380D-A8CD-01BA2192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err="1"/>
              <a:t>Read-side</a:t>
            </a:r>
            <a:r>
              <a:rPr lang="ru-RU"/>
              <a:t> критическая секция и </a:t>
            </a:r>
            <a:r>
              <a:rPr lang="ru-RU" err="1"/>
              <a:t>grace</a:t>
            </a:r>
            <a:r>
              <a:rPr lang="ru-RU"/>
              <a:t> </a:t>
            </a:r>
            <a:r>
              <a:rPr lang="ru-RU" err="1"/>
              <a:t>period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28103-0378-B197-D24C-B0F9610B8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err="1"/>
              <a:t>Read-side</a:t>
            </a:r>
            <a:r>
              <a:rPr lang="ru-RU"/>
              <a:t> CS: нельзя блокироваться/спать</a:t>
            </a:r>
            <a:br>
              <a:rPr lang="ru-RU"/>
            </a:br>
            <a:r>
              <a:rPr lang="ru-RU"/>
              <a:t>— тогда можно оценить верхнюю границу времени чтения</a:t>
            </a:r>
          </a:p>
          <a:p>
            <a:r>
              <a:rPr lang="ru-RU" err="1"/>
              <a:t>Grace</a:t>
            </a:r>
            <a:r>
              <a:rPr lang="ru-RU"/>
              <a:t> </a:t>
            </a:r>
            <a:r>
              <a:rPr lang="ru-RU" err="1"/>
              <a:t>period</a:t>
            </a:r>
            <a:r>
              <a:rPr lang="ru-RU"/>
              <a:t>: интервал, за который каждый поток хотя бы раз оказался вне </a:t>
            </a:r>
            <a:r>
              <a:rPr lang="ru-RU" err="1"/>
              <a:t>read-side</a:t>
            </a:r>
            <a:r>
              <a:rPr lang="ru-RU"/>
              <a:t> CS</a:t>
            </a:r>
          </a:p>
          <a:p>
            <a:r>
              <a:rPr lang="ru-RU"/>
              <a:t>Простая эвристика: подождать минимум один контекст-свитч у каждого участника</a:t>
            </a:r>
          </a:p>
          <a:p>
            <a:r>
              <a:rPr lang="ru-RU"/>
              <a:t>После </a:t>
            </a:r>
            <a:r>
              <a:rPr lang="ru-RU" err="1"/>
              <a:t>grace</a:t>
            </a:r>
            <a:r>
              <a:rPr lang="ru-RU"/>
              <a:t> </a:t>
            </a:r>
            <a:r>
              <a:rPr lang="ru-RU" err="1"/>
              <a:t>period</a:t>
            </a:r>
            <a:r>
              <a:rPr lang="ru-RU"/>
              <a:t>: безопасно освобождать старую версию</a:t>
            </a:r>
          </a:p>
        </p:txBody>
      </p:sp>
    </p:spTree>
    <p:extLst>
      <p:ext uri="{BB962C8B-B14F-4D97-AF65-F5344CB8AC3E}">
        <p14:creationId xmlns:p14="http://schemas.microsoft.com/office/powerpoint/2010/main" val="18339501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C0DD-FF99-71D2-AE90-BFA3F96FA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Где RCU уместен / где нет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2E2C0-A463-4024-77A1-6F0ED4985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Уместен:</a:t>
            </a:r>
          </a:p>
          <a:p>
            <a:pPr lvl="1"/>
            <a:r>
              <a:rPr lang="ru-RU"/>
              <a:t>Много читателей, мало записей (</a:t>
            </a:r>
            <a:r>
              <a:rPr lang="ru-RU" err="1"/>
              <a:t>read-mostly</a:t>
            </a:r>
            <a:r>
              <a:rPr lang="ru-RU"/>
              <a:t>)</a:t>
            </a:r>
          </a:p>
          <a:p>
            <a:pPr lvl="1"/>
            <a:r>
              <a:rPr lang="ru-RU"/>
              <a:t>Структуры с указателями и неизменяемыми узлами после публикации</a:t>
            </a:r>
          </a:p>
          <a:p>
            <a:pPr lvl="1"/>
            <a:r>
              <a:rPr lang="ru-RU"/>
              <a:t>Ядро ОС, сетевой стек, маршрутизация, таблицы поиска, кэши</a:t>
            </a:r>
          </a:p>
          <a:p>
            <a:r>
              <a:rPr lang="ru-RU"/>
              <a:t>Не уместен:</a:t>
            </a:r>
          </a:p>
          <a:p>
            <a:pPr lvl="1"/>
            <a:r>
              <a:rPr lang="ru-RU"/>
              <a:t>Плотные модификации на месте (</a:t>
            </a:r>
            <a:r>
              <a:rPr lang="ru-RU" err="1"/>
              <a:t>in-place</a:t>
            </a:r>
            <a:r>
              <a:rPr lang="ru-RU"/>
              <a:t>), перемешивающие данные</a:t>
            </a:r>
          </a:p>
          <a:p>
            <a:pPr lvl="1"/>
            <a:r>
              <a:rPr lang="ru-RU"/>
              <a:t>Требуется транзакционная атомарность для нескольких узлов сразу</a:t>
            </a:r>
          </a:p>
          <a:p>
            <a:pPr lvl="1"/>
            <a:r>
              <a:rPr lang="ru-RU"/>
              <a:t>Читатели могут блокироваться/спать внутри чтения</a:t>
            </a:r>
          </a:p>
        </p:txBody>
      </p:sp>
    </p:spTree>
    <p:extLst>
      <p:ext uri="{BB962C8B-B14F-4D97-AF65-F5344CB8AC3E}">
        <p14:creationId xmlns:p14="http://schemas.microsoft.com/office/powerpoint/2010/main" val="1905929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9A964-1767-34DD-9952-ED75791E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обедающих философов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30828-2271-9FE6-B06D-A8C7E1ABF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279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3AE048-0484-11D0-38E6-E73F9548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23370C-5871-FEE2-095C-D4A64DC75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15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9EB8-BCB9-3E34-EE13-CE0B0499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синхронизации процессов на </a:t>
            </a:r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3983985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8D3A04-7C26-3AEC-F976-E721B6F3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93544" cy="5686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428DE1-A678-9BA1-EB9F-93C0FEA94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25" y="5812000"/>
            <a:ext cx="10374873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AB68-3A9C-313E-CB2A-A3F14623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1D7AEE-CF70-643D-142B-8131428E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861409" cy="43197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4BF91F-4E11-9104-27BF-59295921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3289300"/>
            <a:ext cx="40259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4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D297-D0DF-4FC9-D0B7-E80046DCD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C39A07-8D7E-D0D2-91D4-46C27085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17652" cy="4582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A3C574-76CB-F43F-770B-8660DCB63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0" y="3797300"/>
            <a:ext cx="34798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0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7762-198E-8A33-657D-C0C4508E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058E4-FEDC-27C0-20E7-6FDD596C1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89" y="0"/>
            <a:ext cx="554325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04B35E-7A64-F2EC-1714-7B09D4516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237" y="525518"/>
            <a:ext cx="5189831" cy="325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9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0185D-D0B6-38C1-E41E-DF4F63AD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1EEF39-1C68-9747-78EE-6F6C48E6B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8837397" cy="45930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9DC5A3-91AB-8FE3-88B0-6D9E43533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396" y="3027212"/>
            <a:ext cx="3354604" cy="380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3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7370D-B1DF-3792-0ACD-81D31C40E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9955-2BC8-A69C-86AA-ACAFD325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</a:t>
            </a:r>
            <a:r>
              <a:rPr lang="en-US" dirty="0" err="1"/>
              <a:t>ipc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7083591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ADA4-F2FB-580B-37A4-99E8AC7B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384D7A-800B-A685-2988-A912FE432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091412" cy="58647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561F3A-53D0-B5C6-BBB2-61CCE3714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86" y="6096000"/>
            <a:ext cx="11535851" cy="61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8050-2327-F6DD-BCA5-9A66D07CC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ACE6BA-C040-D1FF-FD7B-CE703AD8D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231378" cy="56440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260941-DCBF-C0FF-70F6-F86CCA45B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3958"/>
            <a:ext cx="9986764" cy="5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5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C538B-CD8B-5DE9-3F3D-1569D725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D4ACC2-29AB-022D-3A89-21BD4EB9A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96698" cy="57596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F8214B-A073-2145-1FA1-C3426704C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1103"/>
            <a:ext cx="11380241" cy="41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3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4A40-E161-8BE6-F869-CE62B3F7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E5F599-9EA4-31A7-B896-4A04F5FE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7052441" cy="59355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194A24-5F8B-F508-8169-1E851FA7C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220" y="4340772"/>
            <a:ext cx="4735838" cy="83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4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2585</Words>
  <Application>Microsoft Macintosh PowerPoint</Application>
  <PresentationFormat>Widescreen</PresentationFormat>
  <Paragraphs>188</Paragraphs>
  <Slides>41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Consolas</vt:lpstr>
      <vt:lpstr>Office Theme</vt:lpstr>
      <vt:lpstr>Операционные системы</vt:lpstr>
      <vt:lpstr>Барьеры</vt:lpstr>
      <vt:lpstr>Что такое барьер?</vt:lpstr>
      <vt:lpstr>PowerPoint Presentation</vt:lpstr>
      <vt:lpstr>Пример: итеративная релаксация</vt:lpstr>
      <vt:lpstr>Реализации барьеров</vt:lpstr>
      <vt:lpstr>PowerPoint Presentation</vt:lpstr>
      <vt:lpstr>Подводные камни</vt:lpstr>
      <vt:lpstr>Барьеры памяти (memory fences)</vt:lpstr>
      <vt:lpstr>Пример</vt:lpstr>
      <vt:lpstr>Пример: барьер + двойная буферизация</vt:lpstr>
      <vt:lpstr>Практические рекомендации</vt:lpstr>
      <vt:lpstr>Инверсия приоритетов</vt:lpstr>
      <vt:lpstr>Что такое инверсия приоритетов</vt:lpstr>
      <vt:lpstr>Ошибка космического масштаба</vt:lpstr>
      <vt:lpstr>Механика инверсии</vt:lpstr>
      <vt:lpstr>Подходы к решению</vt:lpstr>
      <vt:lpstr>Priority Inheritance: как это работает</vt:lpstr>
      <vt:lpstr>Priority Ceiling: когда потолок полезнее</vt:lpstr>
      <vt:lpstr>Практика и рекомендации</vt:lpstr>
      <vt:lpstr>Итог</vt:lpstr>
      <vt:lpstr>Read-Copy-Update</vt:lpstr>
      <vt:lpstr>Зачем использовать RCU?</vt:lpstr>
      <vt:lpstr>Базовый паттерн RCU</vt:lpstr>
      <vt:lpstr>PowerPoint Presentation</vt:lpstr>
      <vt:lpstr>Удаление узла из дерева</vt:lpstr>
      <vt:lpstr>Read-side критическая секция и grace period</vt:lpstr>
      <vt:lpstr>Где RCU уместен / где нет</vt:lpstr>
      <vt:lpstr>Задача обедающих философов</vt:lpstr>
      <vt:lpstr>PowerPoint Presentation</vt:lpstr>
      <vt:lpstr>Примеры синхронизации процессов на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Примеры ipc на Python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danilov</dc:creator>
  <cp:lastModifiedBy>artem danilov</cp:lastModifiedBy>
  <cp:revision>1</cp:revision>
  <dcterms:created xsi:type="dcterms:W3CDTF">2025-11-04T16:01:50Z</dcterms:created>
  <dcterms:modified xsi:type="dcterms:W3CDTF">2025-11-04T18:25:38Z</dcterms:modified>
</cp:coreProperties>
</file>