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</p:sldIdLst>
  <p:sldSz cy="6858000" cx="12192000"/>
  <p:notesSz cx="6858000" cy="9144000"/>
  <p:embeddedFontLst>
    <p:embeddedFont>
      <p:font typeface="Play"/>
      <p:regular r:id="rId51"/>
      <p:bold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6" Type="http://schemas.openxmlformats.org/officeDocument/2006/relationships/slide" Target="slides/slide42.xml"/><Relationship Id="rId45" Type="http://schemas.openxmlformats.org/officeDocument/2006/relationships/slide" Target="slides/slide41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slide" Target="slides/slide44.xml"/><Relationship Id="rId47" Type="http://schemas.openxmlformats.org/officeDocument/2006/relationships/slide" Target="slides/slide43.xml"/><Relationship Id="rId49" Type="http://schemas.openxmlformats.org/officeDocument/2006/relationships/slide" Target="slides/slide4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51" Type="http://schemas.openxmlformats.org/officeDocument/2006/relationships/font" Target="fonts/Play-regular.fntdata"/><Relationship Id="rId50" Type="http://schemas.openxmlformats.org/officeDocument/2006/relationships/slide" Target="slides/slide46.xml"/><Relationship Id="rId52" Type="http://schemas.openxmlformats.org/officeDocument/2006/relationships/font" Target="fonts/Play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Барьер — это точка коллективной синхронизации. Каждый участник выполняет свою часть работы в текущей фазе и, достигнув конца, вызывает операцию «barrier». Поток блокируется, пока не подойдут все остальные. Когда последний участник приходит, происходит «размыкание» — все сразу начинают следующую фазу. Такая схема естественна для алгоритмов, где на итерации </a:t>
            </a:r>
            <a:r>
              <a:rPr i="1" lang="ru-RU"/>
              <a:t>n+1</a:t>
            </a:r>
            <a:r>
              <a:rPr lang="ru-RU"/>
              <a:t> нужны полностью готовые результаты итерации </a:t>
            </a:r>
            <a:r>
              <a:rPr i="1" lang="ru-RU"/>
              <a:t>n</a:t>
            </a:r>
            <a:r>
              <a:rPr lang="ru-RU"/>
              <a:t>.</a:t>
            </a:r>
            <a:endParaRPr/>
          </a:p>
        </p:txBody>
      </p:sp>
      <p:sp>
        <p:nvSpPr>
          <p:cNvPr id="98" name="Google Shape;98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Классический пример — релаксационные методы: теплопроводность, уравнения Лапласа и т. п. У нас есть состояние системы (матрица), и мы итеративно переходим к новому состоянию. Каждый поток считает свой фрагмент, но приступить к следующей итерации можно </a:t>
            </a:r>
            <a:r>
              <a:rPr b="1" lang="ru-RU"/>
              <a:t>только</a:t>
            </a:r>
            <a:r>
              <a:rPr lang="ru-RU"/>
              <a:t> когда новая матрица готова целиком. Поэтому в конце шага вставляется барьер, который выравнивает участников по времени.</a:t>
            </a:r>
            <a:endParaRPr/>
          </a:p>
        </p:txBody>
      </p:sp>
      <p:sp>
        <p:nvSpPr>
          <p:cNvPr id="110" name="Google Shape;110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В современном C++ удобнее всего использовать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std::barrier</a:t>
            </a:r>
            <a:r>
              <a:rPr lang="ru-RU"/>
              <a:t>: он сам управляет счётчиком и «поколениями», а также позволяет задать «completion step» — код, который выполнится один раз после схождения всех потоков (полезно для «переключения буферов» или сбора метрик). В POSIX —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pthread_barrier_t</a:t>
            </a:r>
            <a:r>
              <a:rPr lang="ru-RU"/>
              <a:t>. Если стандартного примитива нет, барьер легко реализовать через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mutex + condvar</a:t>
            </a:r>
            <a:r>
              <a:rPr lang="ru-RU"/>
              <a:t>: ведём счётчик пришедших и, когда он достигает N, переключаем «поколение» и будим всех.</a:t>
            </a:r>
            <a:endParaRPr/>
          </a:p>
        </p:txBody>
      </p:sp>
      <p:sp>
        <p:nvSpPr>
          <p:cNvPr id="117" name="Google Shape;11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Барьер — мощный, но чувствительный инструмент. Один отставший поток («straggler») останавливает всю группу. Если задали неправильное количество участников или чей-то поток не дошёл (исключение, ранний выход) — получите классический дедлок. Поэтому реализации держат «поколение» (generation) для безопасного переиспользования между итерациями. В промышленных фреймворках есть «broken barrier» — состояние, когда барьер принудительно размыкается с ошибкой, чтобы избежать вечного зависания.</a:t>
            </a:r>
            <a:endParaRPr/>
          </a:p>
        </p:txBody>
      </p:sp>
      <p:sp>
        <p:nvSpPr>
          <p:cNvPr id="130" name="Google Shape;13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Современные CPU переупорядочивают инструкции, чтобы быстрее исполнять код. Это значит, что без доп. гарантий </a:t>
            </a:r>
            <a:r>
              <a:rPr b="1" lang="ru-RU"/>
              <a:t>флаг готовности</a:t>
            </a:r>
            <a:r>
              <a:rPr lang="ru-RU"/>
              <a:t> может стать виден раньше, чем «данные готовности», и читатель прочитает старое значение. Правильный паттерн — связать публикацию данных и флага через </a:t>
            </a:r>
            <a:r>
              <a:rPr b="1" lang="ru-RU"/>
              <a:t>release/acquire</a:t>
            </a:r>
            <a:r>
              <a:rPr lang="ru-RU"/>
              <a:t>: запись с release «выпускает» предшествующие записи, а чтение с acquire «захватывает» их видимость. Аналогично можно вставить явный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atomic_thread_fence(memory_order_release/acquire)</a:t>
            </a:r>
            <a:r>
              <a:rPr lang="ru-RU"/>
              <a:t>.</a:t>
            </a:r>
            <a:endParaRPr/>
          </a:p>
        </p:txBody>
      </p:sp>
      <p:sp>
        <p:nvSpPr>
          <p:cNvPr id="137" name="Google Shape;13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29f5e3920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29f5e3920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g3a29f5e3920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29f5e3920_0_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29f5e3920_0_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a29f5e3920_0_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2a4d84ea5_0_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a2a4d84ea5_0_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a2a4d84ea5_0_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a29f5e3920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a29f5e3920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g3a29f5e3920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Это типичный приём для сеточных задач: у нас есть «старое» и «новое» состояние. Каждый поток считает свой фрагмент на основе </a:t>
            </a:r>
            <a:r>
              <a:rPr b="1" lang="ru-RU"/>
              <a:t>только старых</a:t>
            </a:r>
            <a:r>
              <a:rPr lang="ru-RU"/>
              <a:t> данных и пишет в новый буфер. Когда все фрагменты готовы, в completion-шаге барьера делаем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swap</a:t>
            </a:r>
            <a:r>
              <a:rPr lang="ru-RU"/>
              <a:t>. Это гарантирует, что никто не начнёт следующую итерацию со «смешанными» данными.</a:t>
            </a:r>
            <a:endParaRPr/>
          </a:p>
        </p:txBody>
      </p:sp>
      <p:sp>
        <p:nvSpPr>
          <p:cNvPr id="178" name="Google Shape;17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5" name="Google Shape;18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/>
              <a:t>Оптимальность барьера определяется не столько самим примитивом, сколько равномерностью нагрузки. Если один поток делает в 2 раза больше работы, остальным придётся его ждать каждую итерацию. Следите за обработкой ошибок: «сломанный» барьер лучше, чем вечная блокировка. </a:t>
            </a:r>
            <a:r>
              <a:rPr b="0"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std::barrier</a:t>
            </a:r>
            <a:r>
              <a:rPr b="0" lang="ru-RU"/>
              <a:t> даёт удобный и быстрый интерфейс; но там, где требуется тонкое управление порядком памяти, не забывайте про </a:t>
            </a:r>
            <a:r>
              <a:rPr b="0"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std::atomic</a:t>
            </a:r>
            <a:r>
              <a:rPr b="0" lang="ru-RU"/>
              <a:t> с </a:t>
            </a:r>
            <a:r>
              <a:rPr b="0"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release/acquire</a:t>
            </a:r>
            <a:r>
              <a:rPr b="0" lang="ru-RU"/>
              <a:t> или явные </a:t>
            </a:r>
            <a:r>
              <a:rPr b="0"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fence</a:t>
            </a:r>
            <a:r>
              <a:rPr b="0" lang="ru-RU"/>
              <a:t>.</a:t>
            </a:r>
            <a:endParaRPr b="0"/>
          </a:p>
        </p:txBody>
      </p:sp>
      <p:sp>
        <p:nvSpPr>
          <p:cNvPr id="186" name="Google Shape;186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Инверсия приоритетов — классическая аномалия планирования. Высокоприоритетный поток H хочет войти в критическую секцию, но мьютекс держит низкоприоритетный L. В этот момент среднеприоритетный M (которому мьютекс не нужен) постоянно вытесняет L. В итоге H стоит, L не получает CPU, чтобы освободить мьютекс, а M «правит балом». Это нарушает ключевую гарантию приоритетного планировщика: «более важная работа исполняется раньше».</a:t>
            </a:r>
            <a:endParaRPr/>
          </a:p>
        </p:txBody>
      </p:sp>
      <p:sp>
        <p:nvSpPr>
          <p:cNvPr id="200" name="Google Shape;20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На Pathfinder была общая «информационная шина» с мьютексом. Низкоприоритетный поток собирал метеоданные и иногда держал мьютекс. Средний по приоритету поток связи загружал CPU, мьютекс ему не требовался. Когда высокоприоритетный поток управления шиной пытался войти — он блокировался на мьютексе, а L не получал квант, чтобы выйти. Итог — фактическая инверсия приоритетов и сбои в работе, которые устраняли перезапусками, пока не применили корректную стратегию синхронизации.</a:t>
            </a:r>
            <a:endParaRPr/>
          </a:p>
        </p:txBody>
      </p:sp>
      <p:sp>
        <p:nvSpPr>
          <p:cNvPr id="207" name="Google Shape;207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3" name="Google Shape;21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Главная «ловушка» — средний приоритет. Если бы M не вмешивался, L быстро освободил бы мьютекс, H бы пошёл дальше — и никакой инверсии. Но пока M активен, L не получает шанса завершить критическую секцию. В системах реального времени это критично: дедлайны пропускаются, система «дергается» или зависает.</a:t>
            </a:r>
            <a:endParaRPr/>
          </a:p>
        </p:txBody>
      </p:sp>
      <p:sp>
        <p:nvSpPr>
          <p:cNvPr id="214" name="Google Shape;21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Практические варианты:</a:t>
            </a:r>
            <a:br>
              <a:rPr lang="ru-RU"/>
            </a:br>
            <a:r>
              <a:rPr lang="ru-RU"/>
              <a:t>— Отключение прерываний — грубо и небезопасно.</a:t>
            </a:r>
            <a:br>
              <a:rPr lang="ru-RU"/>
            </a:br>
            <a:r>
              <a:rPr lang="ru-RU"/>
              <a:t>— </a:t>
            </a:r>
            <a:r>
              <a:rPr b="1" lang="ru-RU"/>
              <a:t>Потолок (ceiling):</a:t>
            </a:r>
            <a:r>
              <a:rPr lang="ru-RU"/>
              <a:t> мьютексу назначают «верхний» приоритет: любой, кто его держит, исполняется не ниже потолка. Это предотвращает инверсию по определению, но требует хорошего статического анализа приоритетов.</a:t>
            </a:r>
            <a:br>
              <a:rPr lang="ru-RU"/>
            </a:br>
            <a:r>
              <a:rPr lang="ru-RU"/>
              <a:t>— </a:t>
            </a:r>
            <a:r>
              <a:rPr b="1" lang="ru-RU"/>
              <a:t>Наследование (inheritance):</a:t>
            </a:r>
            <a:r>
              <a:rPr lang="ru-RU"/>
              <a:t> как только H ждёт мьютекс у L, L временно «поднимают» до приоритета H. Он быстро освобождает ресурс — инверсия исчезает.</a:t>
            </a:r>
            <a:br>
              <a:rPr lang="ru-RU"/>
            </a:br>
            <a:r>
              <a:rPr lang="ru-RU"/>
              <a:t>— </a:t>
            </a:r>
            <a:r>
              <a:rPr b="1" lang="ru-RU"/>
              <a:t>Random boosting</a:t>
            </a:r>
            <a:r>
              <a:rPr lang="ru-RU"/>
              <a:t> — эвристика Windows: периодически повышают приоритет держателей, чтобы не залипали</a:t>
            </a:r>
            <a:endParaRPr/>
          </a:p>
        </p:txBody>
      </p:sp>
      <p:sp>
        <p:nvSpPr>
          <p:cNvPr id="221" name="Google Shape;221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Наследование приоритетов — наиболее «естественное» решение: рост приоритета происходит </a:t>
            </a:r>
            <a:r>
              <a:rPr b="1" lang="ru-RU"/>
              <a:t>только тогда и настолько</a:t>
            </a:r>
            <a:r>
              <a:rPr lang="ru-RU"/>
              <a:t>, насколько это нужно. Если несколько высоких потоков стоят на одном мьютексе, держатель наследует </a:t>
            </a:r>
            <a:r>
              <a:rPr b="1" lang="ru-RU"/>
              <a:t>максимальный</a:t>
            </a:r>
            <a:r>
              <a:rPr lang="ru-RU"/>
              <a:t> из их приоритетов. Как только ресурс освобождён, всё откатывается. Это решение и применили на Mars Pathfinder.</a:t>
            </a:r>
            <a:endParaRPr/>
          </a:p>
        </p:txBody>
      </p:sp>
      <p:sp>
        <p:nvSpPr>
          <p:cNvPr id="228" name="Google Shape;2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Потолок — это статический договор: «если ты входишь сюда — ты важный». Он особенно хорош в </a:t>
            </a:r>
            <a:r>
              <a:rPr b="1" lang="ru-RU"/>
              <a:t>RTOS</a:t>
            </a:r>
            <a:r>
              <a:rPr lang="ru-RU"/>
              <a:t> и системах с жёстким статическим планированием, где задачи и их приоритеты известны заранее. Цена — сложность конфигурации и потенциальная «избыточность» повышения там, где фактической конкуренции нет.</a:t>
            </a:r>
            <a:endParaRPr/>
          </a:p>
        </p:txBody>
      </p:sp>
      <p:sp>
        <p:nvSpPr>
          <p:cNvPr id="235" name="Google Shape;235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/>
              <a:t>Главная профилактика — короткие критические секции и разумная гранулярность блокировок. Для POSIX-потоков есть атрибуты мьютексов с нужными протоколами: это готовые механизмы борьбы с инверсией. Полезно собирать метрики: кто сколько держит мьютексы, кто на них ждёт и с какими приоритетами — такие «тёпловые карты» быстро показывают проблемные места.</a:t>
            </a:r>
            <a:endParaRPr b="0"/>
          </a:p>
        </p:txBody>
      </p:sp>
      <p:sp>
        <p:nvSpPr>
          <p:cNvPr id="242" name="Google Shape;242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8" name="Google Shape;248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/>
              <a:t>Инверсия приоритетов — не экзотика, а частая причина «загадочных» зависаний. У вас может быть идеальный алгоритм, но без корректной конфигурации синхронизации система теряет предсказуемость. Поэтому мы проектируем критические секции, выбираем протокол мьютексов, а затем проверяем это нагрузочными сценариями — как на стенде, так и в продакшене.</a:t>
            </a:r>
            <a:endParaRPr b="0"/>
          </a:p>
        </p:txBody>
      </p:sp>
      <p:sp>
        <p:nvSpPr>
          <p:cNvPr id="249" name="Google Shape;249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2" name="Google Shape;262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RCU — это подход, где мы сознательно избегаем локов на чтении. Читатели идут максимально быстро, а писатели готовят новую версию данных «в стороне» и потом одним атомарным шагом делают её видимой. Ключевая гарантия — читатель никогда не увидит смесь «старого и нового»: либо старый снимок, либо новый снимок структуры.</a:t>
            </a:r>
            <a:endParaRPr/>
          </a:p>
        </p:txBody>
      </p:sp>
      <p:sp>
        <p:nvSpPr>
          <p:cNvPr id="263" name="Google Shape;263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/>
              <a:t>RCU разделяет обновление на два этапа: публикация и последующее освобождение старых данных. Публикация — атомарная замена указателя. Реальный «подводный камень» — когда безопасно освобождать старую версию. Ответ: после grace period, когда </a:t>
            </a:r>
            <a:r>
              <a:rPr b="1" lang="ru-RU"/>
              <a:t>все</a:t>
            </a:r>
            <a:r>
              <a:rPr lang="ru-RU"/>
              <a:t> читатели гарантированно вышли из своих критических секций.</a:t>
            </a:r>
            <a:endParaRPr/>
          </a:p>
        </p:txBody>
      </p:sp>
      <p:sp>
        <p:nvSpPr>
          <p:cNvPr id="270" name="Google Shape;270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-RU"/>
              <a:t>Вставка</a:t>
            </a:r>
            <a:r>
              <a:rPr lang="ru-RU"/>
              <a:t> узла X:</a:t>
            </a:r>
            <a:br>
              <a:rPr lang="ru-RU"/>
            </a:br>
            <a:r>
              <a:rPr lang="ru-RU"/>
              <a:t>— полностью подготовить X → </a:t>
            </a:r>
            <a:r>
              <a:rPr b="1" lang="ru-RU"/>
              <a:t>одним атомарным записыванием</a:t>
            </a:r>
            <a:r>
              <a:rPr lang="ru-RU"/>
              <a:t> подвесить к A</a:t>
            </a:r>
            <a:br>
              <a:rPr lang="ru-RU"/>
            </a:br>
            <a:r>
              <a:rPr lang="ru-RU"/>
              <a:t>— читатели видят либо дерево без X, либо дерево с X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b="1" lang="ru-RU"/>
              <a:t>Удаление B, D</a:t>
            </a:r>
            <a:r>
              <a:rPr lang="ru-RU"/>
              <a:t>:</a:t>
            </a:r>
            <a:br>
              <a:rPr lang="ru-RU"/>
            </a:br>
            <a:r>
              <a:rPr lang="ru-RU"/>
              <a:t>— переназначить </a:t>
            </a:r>
            <a:r>
              <a:rPr lang="ru-RU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A-&gt;left = C</a:t>
            </a:r>
            <a:r>
              <a:rPr lang="ru-RU"/>
              <a:t> (атомарно)</a:t>
            </a:r>
            <a:br>
              <a:rPr lang="ru-RU"/>
            </a:br>
            <a:r>
              <a:rPr lang="ru-RU"/>
              <a:t>— читатели, находящиеся в A, пойдут в C (новая версия)</a:t>
            </a:r>
            <a:br>
              <a:rPr lang="ru-RU"/>
            </a:br>
            <a:r>
              <a:rPr lang="ru-RU"/>
              <a:t>— читатели, уже в B/D, дочитают старую версию</a:t>
            </a:r>
            <a:br>
              <a:rPr lang="ru-RU"/>
            </a:br>
            <a:r>
              <a:rPr lang="ru-RU"/>
              <a:t>— после grace period: освободить B, 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0" name="Google Shape;290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/>
              <a:t>Чтобы гарантировать корректный сбор мусора, читатель должен быстро «пролетать» через свою секцию и не засыпать в ней. Тогда ядро/рантайм может определить момент, когда все потоки побывали «снаружи» — это и есть grace period. Как только он завершился, мы уверены, что никто не держит ссылки на старые узлы — их можно освобождат</a:t>
            </a:r>
            <a:endParaRPr b="0"/>
          </a:p>
        </p:txBody>
      </p:sp>
      <p:sp>
        <p:nvSpPr>
          <p:cNvPr id="291" name="Google Shape;291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ru-RU"/>
              <a:t>RCU сияет там, где чтений намного больше, чем записей, и где можно строить обновления «в стороне», а потом просто переключать указатели. Если структура меняется «на месте» или нужно атомарно править много узлов за раз, потребуется более сложная техника</a:t>
            </a:r>
            <a:endParaRPr b="0"/>
          </a:p>
        </p:txBody>
      </p:sp>
      <p:sp>
        <p:nvSpPr>
          <p:cNvPr id="298" name="Google Shape;298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a2a4d84ea5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a2a4d84ea5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a2a4d84ea5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1" name="Google Shape;361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4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4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32.png"/><Relationship Id="rId5" Type="http://schemas.openxmlformats.org/officeDocument/2006/relationships/image" Target="../media/image3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6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7.png"/><Relationship Id="rId4" Type="http://schemas.openxmlformats.org/officeDocument/2006/relationships/image" Target="../media/image20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Операционные системы</a:t>
            </a:r>
            <a:endParaRPr/>
          </a:p>
        </p:txBody>
      </p:sp>
      <p:sp>
        <p:nvSpPr>
          <p:cNvPr id="89" name="Google Shape;89;p1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ru-RU"/>
              <a:t>Лекция 7. Синхронизация потоков/процессов и межпроцессная коммуникация. Часть 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Барьеры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Что такое барьер?</a:t>
            </a:r>
            <a:endParaRPr/>
          </a:p>
        </p:txBody>
      </p:sp>
      <p:sp>
        <p:nvSpPr>
          <p:cNvPr id="101" name="Google Shape;101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Синхронизация </a:t>
            </a:r>
            <a:r>
              <a:rPr b="1" lang="ru-RU"/>
              <a:t>группы</a:t>
            </a:r>
            <a:r>
              <a:rPr lang="ru-RU"/>
              <a:t> процессов/потоков по фазам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Никто не переходит к фазе </a:t>
            </a:r>
            <a:r>
              <a:rPr i="1" lang="ru-RU"/>
              <a:t>n+1</a:t>
            </a:r>
            <a:r>
              <a:rPr lang="ru-RU"/>
              <a:t>, пока все не закончили фазу </a:t>
            </a:r>
            <a:r>
              <a:rPr i="1" lang="ru-RU"/>
              <a:t>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«Дошел до барьера → жду остальных → все вместе продолжаем»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Подходит для </a:t>
            </a:r>
            <a:r>
              <a:rPr b="1" lang="ru-RU"/>
              <a:t>итеративных</a:t>
            </a:r>
            <a:r>
              <a:rPr lang="ru-RU"/>
              <a:t> алгоритмов и пошаговых моделей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379" y="637189"/>
            <a:ext cx="11167242" cy="55836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Пример: итеративная релаксация</a:t>
            </a:r>
            <a:endParaRPr/>
          </a:p>
        </p:txBody>
      </p:sp>
      <p:sp>
        <p:nvSpPr>
          <p:cNvPr id="113" name="Google Shape;113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Большая матрица (например, температуры на пластине)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Каждая итерация: вычисляем </a:t>
            </a:r>
            <a:r>
              <a:rPr b="1" lang="ru-RU"/>
              <a:t>новую матрицу</a:t>
            </a:r>
            <a:r>
              <a:rPr lang="ru-RU"/>
              <a:t> из </a:t>
            </a:r>
            <a:r>
              <a:rPr b="1" lang="ru-RU"/>
              <a:t>старой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Разбиваем матрицу между потоками (блоки/полосы)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После локальных вычислений — </a:t>
            </a:r>
            <a:r>
              <a:rPr b="1" lang="ru-RU"/>
              <a:t>барьер</a:t>
            </a:r>
            <a:r>
              <a:rPr lang="ru-RU"/>
              <a:t>: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Как все дождались, начинаем новую итерацию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Реализации барьеров</a:t>
            </a:r>
            <a:endParaRPr/>
          </a:p>
        </p:txBody>
      </p:sp>
      <p:sp>
        <p:nvSpPr>
          <p:cNvPr id="120" name="Google Shape;120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Готовые примитивы: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C++20: std::barrier (заголовок &lt;barrier&gt;)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POSIX: pthread_barrier_t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OpenMP: #pragma omp barrier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Можно собрать на mutex + condition_variable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Массовое повторное использование: счётчик участников + «поколение»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-1"/>
            <a:ext cx="8837397" cy="45930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37396" y="3027212"/>
            <a:ext cx="3354604" cy="3801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Подводные камни</a:t>
            </a:r>
            <a:endParaRPr/>
          </a:p>
        </p:txBody>
      </p:sp>
      <p:sp>
        <p:nvSpPr>
          <p:cNvPr id="133" name="Google Shape;133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Straggler: медленный участник задерживает всех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Неверное N или «пропавший» поток приводят к дедлоку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Нужна защита от повторного использования: счётчик поколений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«Broken barrier»: разрыв синхронизации при ошибке в одном из участников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Избегайте работы с общими данными между барьерами без нужных гарантий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Барьеры памяти (memory fences)</a:t>
            </a:r>
            <a:endParaRPr/>
          </a:p>
        </p:txBody>
      </p:sp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Не путать: синхронизационный барьер vs memory barrier (fence)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Memory fence упорядочивает операции памяти (чтения/записи)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Нужен из-за out-of-order execution и слабых моделей памяти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Например, если из-за флаг готовности данных будет установлен раньше данных, читатель увидит старые данные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Решение: release/acquire или явная atomic_thread_fence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6362700" cy="5772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Пример</a:t>
            </a:r>
            <a:endParaRPr/>
          </a:p>
        </p:txBody>
      </p:sp>
      <p:sp>
        <p:nvSpPr>
          <p:cNvPr id="153" name="Google Shape;153;p23"/>
          <p:cNvSpPr txBox="1"/>
          <p:nvPr/>
        </p:nvSpPr>
        <p:spPr>
          <a:xfrm>
            <a:off x="838200" y="2196908"/>
            <a:ext cx="10515600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808080"/>
                </a:solidFill>
                <a:latin typeface="Consolas"/>
                <a:ea typeface="Consolas"/>
                <a:cs typeface="Consolas"/>
                <a:sym typeface="Consolas"/>
              </a:rPr>
              <a:t>#include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ru-RU" sz="1800" u="none" cap="none" strike="noStrike">
                <a:solidFill>
                  <a:srgbClr val="E21F1F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b="0" i="0" lang="ru-RU" sz="1800" u="none" cap="none" strike="noStrike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atomic</a:t>
            </a:r>
            <a:r>
              <a:rPr b="0" i="0" lang="ru-RU" sz="1800" u="none" cap="none" strike="noStrike">
                <a:solidFill>
                  <a:srgbClr val="E21F1F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std::atomic&lt;</a:t>
            </a:r>
            <a:r>
              <a:rPr b="0" i="0" lang="ru-RU" sz="1800" u="none" cap="none" strike="noStrike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&gt; turn{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std::atomic&lt;</a:t>
            </a:r>
            <a:r>
              <a:rPr b="0" i="0" lang="ru-RU" sz="1800" u="none" cap="none" strike="noStrike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&gt; x{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};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// writer: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77F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 std::memory_order_relaxed);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377F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turn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store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 std::memory_order_release);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// публикуем флаг ПОСЛЕ данных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b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// reader: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F08C4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8F08C4"/>
                </a:solidFill>
                <a:latin typeface="Consolas"/>
                <a:ea typeface="Consolas"/>
                <a:cs typeface="Consolas"/>
                <a:sym typeface="Consolas"/>
              </a:rPr>
              <a:t>while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turn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(std::memory_order_acquire) != 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/* spin */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}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v = </a:t>
            </a: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(std::memory_order_relaxed);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// видим 100 гарантированно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5181600" cy="502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86400" y="152400"/>
            <a:ext cx="5505450" cy="300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01800" cy="4580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01800" y="0"/>
            <a:ext cx="5332721" cy="65531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4733135"/>
            <a:ext cx="4097001" cy="1960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268125"/>
            <a:ext cx="11887199" cy="3531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Пример: барьер + двойная буферизация</a:t>
            </a:r>
            <a:endParaRPr/>
          </a:p>
        </p:txBody>
      </p:sp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838200" y="1825625"/>
            <a:ext cx="10515600" cy="202047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Часто совмещают барьер с переключением буферов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Все считают в next, на барьере меняем роли current ↔ next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Пример: параллельное вычисление следующей популяции игры «Жизнь»</a:t>
            </a:r>
            <a:endParaRPr/>
          </a:p>
        </p:txBody>
      </p:sp>
      <p:sp>
        <p:nvSpPr>
          <p:cNvPr id="182" name="Google Shape;182;p27"/>
          <p:cNvSpPr txBox="1"/>
          <p:nvPr/>
        </p:nvSpPr>
        <p:spPr>
          <a:xfrm>
            <a:off x="838200" y="3846095"/>
            <a:ext cx="10515600" cy="2862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std::</a:t>
            </a:r>
            <a:r>
              <a:rPr b="0" i="0" lang="ru-RU" sz="1800" u="none" cap="none" strike="noStrike">
                <a:solidFill>
                  <a:srgbClr val="2B91AF"/>
                </a:solidFill>
                <a:latin typeface="Consolas"/>
                <a:ea typeface="Consolas"/>
                <a:cs typeface="Consolas"/>
                <a:sym typeface="Consolas"/>
              </a:rPr>
              <a:t>barrier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sync(</a:t>
            </a:r>
            <a:r>
              <a:rPr b="0" i="0" lang="ru-RU" sz="1800" u="none" cap="none" strike="noStrike">
                <a:solidFill>
                  <a:srgbClr val="2B91AF"/>
                </a:solidFill>
                <a:latin typeface="Consolas"/>
                <a:ea typeface="Consolas"/>
                <a:cs typeface="Consolas"/>
                <a:sym typeface="Consolas"/>
              </a:rPr>
              <a:t>N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 [&amp;]{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 std::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swap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(current, next);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// completion step: единожды после прихода всех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});</a:t>
            </a:r>
            <a:b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</a:b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FF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worker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0" i="0" lang="ru-RU" sz="1800" u="none" cap="none" strike="noStrike">
                <a:solidFill>
                  <a:srgbClr val="2B91AF"/>
                </a:solidFill>
                <a:latin typeface="Consolas"/>
                <a:ea typeface="Consolas"/>
                <a:cs typeface="Consolas"/>
                <a:sym typeface="Consolas"/>
              </a:rPr>
              <a:t>chunk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ru-RU" sz="1800" u="none" cap="none" strike="noStrike">
                <a:solidFill>
                  <a:srgbClr val="808080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 </a:t>
            </a:r>
            <a:r>
              <a:rPr b="0" i="0" lang="ru-RU" sz="1800" u="none" cap="none" strike="noStrike">
                <a:solidFill>
                  <a:srgbClr val="8F08C4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b="0" i="0" lang="ru-RU" sz="1800" u="none" cap="none" strike="noStrike">
                <a:solidFill>
                  <a:srgbClr val="0000FF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it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b="0" i="0" lang="ru-RU" sz="1800" u="none" cap="none" strike="noStrike">
                <a:solidFill>
                  <a:srgbClr val="09865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it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&lt;steps; ++</a:t>
            </a:r>
            <a:r>
              <a:rPr b="0" i="0" lang="ru-RU" sz="1800" u="none" cap="none" strike="noStrike">
                <a:solidFill>
                  <a:srgbClr val="1F377F"/>
                </a:solidFill>
                <a:latin typeface="Consolas"/>
                <a:ea typeface="Consolas"/>
                <a:cs typeface="Consolas"/>
                <a:sym typeface="Consolas"/>
              </a:rPr>
              <a:t>it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)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compute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(next, current, </a:t>
            </a:r>
            <a:r>
              <a:rPr b="0" i="0" lang="ru-RU" sz="1800" u="none" cap="none" strike="noStrike">
                <a:solidFill>
                  <a:srgbClr val="808080"/>
                </a:solidFill>
                <a:latin typeface="Consolas"/>
                <a:ea typeface="Consolas"/>
                <a:cs typeface="Consolas"/>
                <a:sym typeface="Consolas"/>
              </a:rPr>
              <a:t>c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);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 // читаем из current, пишем в next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    sync.</a:t>
            </a:r>
            <a:r>
              <a:rPr b="0" i="0" lang="ru-RU" sz="1800" u="none" cap="none" strike="noStrike">
                <a:solidFill>
                  <a:srgbClr val="74531F"/>
                </a:solidFill>
                <a:latin typeface="Consolas"/>
                <a:ea typeface="Consolas"/>
                <a:cs typeface="Consolas"/>
                <a:sym typeface="Consolas"/>
              </a:rPr>
              <a:t>arrive_and_wait</a:t>
            </a: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();</a:t>
            </a:r>
            <a:r>
              <a:rPr b="0" i="0" lang="ru-RU" sz="1800" u="none" cap="none" strike="noStrike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     // все дошли → безопасно переключиться</a:t>
            </a:r>
            <a:endParaRPr b="0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 }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onsolas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Практические рекомендации</a:t>
            </a:r>
            <a:endParaRPr/>
          </a:p>
        </p:txBody>
      </p:sp>
      <p:sp>
        <p:nvSpPr>
          <p:cNvPr id="189" name="Google Shape;189;p2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Измеряйте и минимизируйте дисбаланс работы между участниками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Обрабатывайте «поломку» барьера (исключения, отмена, ранний выход)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Для плотных циклов используйте std::barrier (низкие накладные расходы)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Не путайте с memory fences; комбинируйте при необходимости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Документируйте размер группы (N) и жизненный цикл барьера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Инверсия приоритетов</a:t>
            </a:r>
            <a:endParaRPr/>
          </a:p>
        </p:txBody>
      </p:sp>
      <p:sp>
        <p:nvSpPr>
          <p:cNvPr id="196" name="Google Shape;196;p2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Что такое инверсия приоритетов</a:t>
            </a:r>
            <a:endParaRPr/>
          </a:p>
        </p:txBody>
      </p:sp>
      <p:sp>
        <p:nvSpPr>
          <p:cNvPr id="203" name="Google Shape;203;p3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Ситуация: низкоприоритетный поток удерживает ресурс, который нужен высокоприоритетному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Проблема: высокоприоритетный поток блокируется, а среднеприоритетный работает и вытесняет низкий.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Приоритетный поток оказывается фактически «ниже» среднего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Возникает при мьютексах/общих ресурсах и приоритетном планировании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Ошибка космического масштаба</a:t>
            </a:r>
            <a:endParaRPr/>
          </a:p>
        </p:txBody>
      </p:sp>
      <p:sp>
        <p:nvSpPr>
          <p:cNvPr id="210" name="Google Shape;210;p3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На ровере: шина обмена с мьютексом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Потоки: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L — метеоданные (низкий приоритет, держит мьютекс)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M — связь/телеметрия (средний приоритет, мьютекс </a:t>
            </a:r>
            <a:r>
              <a:rPr b="1" lang="ru-RU"/>
              <a:t>не нужен</a:t>
            </a:r>
            <a:r>
              <a:rPr lang="ru-RU"/>
              <a:t>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H — управление шиной (высокий приоритет, </a:t>
            </a:r>
            <a:r>
              <a:rPr b="1" lang="ru-RU"/>
              <a:t>ждёт мьютекс</a:t>
            </a:r>
            <a:r>
              <a:rPr lang="ru-RU"/>
              <a:t>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Симптомы: зависания передачи, периодические перезапуски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Механика инверсии</a:t>
            </a:r>
            <a:endParaRPr/>
          </a:p>
        </p:txBody>
      </p:sp>
      <p:sp>
        <p:nvSpPr>
          <p:cNvPr id="217" name="Google Shape;217;p3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T0:</a:t>
            </a:r>
            <a:r>
              <a:rPr lang="ru-RU"/>
              <a:t> L захватывает мьютекс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T1:</a:t>
            </a:r>
            <a:r>
              <a:rPr lang="ru-RU"/>
              <a:t> M вытесняет L (L не успел сделать unlock)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T2:</a:t>
            </a:r>
            <a:r>
              <a:rPr lang="ru-RU"/>
              <a:t> H запускается → </a:t>
            </a:r>
            <a:r>
              <a:rPr b="1" lang="ru-RU"/>
              <a:t>блокируется</a:t>
            </a:r>
            <a:r>
              <a:rPr lang="ru-RU"/>
              <a:t> на мьютексе (ждёт L)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T3:</a:t>
            </a:r>
            <a:r>
              <a:rPr lang="ru-RU"/>
              <a:t> Планировщик снова даёт CPU M → L не бежит → H стоит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T4:</a:t>
            </a:r>
            <a:r>
              <a:rPr lang="ru-RU"/>
              <a:t> Патовая ситуация до тех пор, пока L не получит квант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Подходы к решению</a:t>
            </a:r>
            <a:endParaRPr/>
          </a:p>
        </p:txBody>
      </p:sp>
      <p:sp>
        <p:nvSpPr>
          <p:cNvPr id="224" name="Google Shape;224;p3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❌ Отключать прерывания в пользовательском коде — опасно и непереносимо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✅ Priority Ceiling (потолок приоритета): держатель мьютекса временно получает заранее заданный «потолочный» приоритет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✅ Priority Inheritance (наследование приоритета): держатель мьютекса наследует наивысший из ожидающих приоритетов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➕ Random Boosting (Windows): периодически случайно «подбадриваем» (повышаем приоритет) держателей мьютекса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Priority Inheritance: как это работает</a:t>
            </a:r>
            <a:endParaRPr/>
          </a:p>
        </p:txBody>
      </p:sp>
      <p:sp>
        <p:nvSpPr>
          <p:cNvPr id="231" name="Google Shape;231;p3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Когда </a:t>
            </a:r>
            <a:r>
              <a:rPr b="1" lang="ru-RU"/>
              <a:t>H ждёт</a:t>
            </a:r>
            <a:r>
              <a:rPr lang="ru-RU"/>
              <a:t> мьютекс у </a:t>
            </a:r>
            <a:r>
              <a:rPr b="1" lang="ru-RU"/>
              <a:t>L</a:t>
            </a:r>
            <a:r>
              <a:rPr lang="ru-RU"/>
              <a:t>, L временно повышают до приоритета H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b="1" lang="ru-RU"/>
              <a:t>M</a:t>
            </a:r>
            <a:r>
              <a:rPr lang="ru-RU"/>
              <a:t> больше не может вытеснять L → L завершает критическую секцию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После unlock приоритет L </a:t>
            </a:r>
            <a:r>
              <a:rPr b="1" lang="ru-RU"/>
              <a:t>возвращается</a:t>
            </a:r>
            <a:r>
              <a:rPr lang="ru-RU"/>
              <a:t> к исходному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Плюсы: динамично, хорошо работает для непредсказуемых путей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Минусы: накладные расходы ядра, сложнее отладка цепочек наследования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Priority Ceiling: когда потолок полезнее</a:t>
            </a:r>
            <a:endParaRPr/>
          </a:p>
        </p:txBody>
      </p:sp>
      <p:sp>
        <p:nvSpPr>
          <p:cNvPr id="238" name="Google Shape;238;p3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Каждому мьютексу назначается ceiling  — максимальный приоритет возможных «клиентов»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Поток, </a:t>
            </a:r>
            <a:r>
              <a:rPr b="1" lang="ru-RU"/>
              <a:t>вошедший</a:t>
            </a:r>
            <a:r>
              <a:rPr lang="ru-RU"/>
              <a:t> в критическую секцию, немедленно поднимается до ceiling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Гарантирует отсутствие инверсии и предотвращает </a:t>
            </a:r>
            <a:r>
              <a:rPr b="1" lang="ru-RU"/>
              <a:t>взаимные блокировки приоритетов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Минусы: нужен анализ всех путей/приоритетов, может «переповышать» слишком часто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Практика и рекомендации</a:t>
            </a:r>
            <a:endParaRPr/>
          </a:p>
        </p:txBody>
      </p:sp>
      <p:sp>
        <p:nvSpPr>
          <p:cNvPr id="245" name="Google Shape;245;p3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Минимизируйте длительность критических секций, не делайте внутри них I/O блокировок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Выделяйте отдельные мьютексы под независимые ресурсы (уменьшает конкуренцию)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При использовании POSIX можете включать протоколы: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PTHREAD_PRIO_INHERIT (наследование приоритетов)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PTHREAD_PRIO_PROTECT (priority ceiling)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Логируйте «долгие удержания» мьютексов; мониторьте время ожидания по приоритетам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ru-RU"/>
              <a:t>Для систем реального времени — тесты под нагрузкой с профилированием планировщика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Итог</a:t>
            </a:r>
            <a:endParaRPr/>
          </a:p>
        </p:txBody>
      </p:sp>
      <p:sp>
        <p:nvSpPr>
          <p:cNvPr id="252" name="Google Shape;252;p3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Инверсия приоритетов ломает ожидания от планировщика и срывает дедлайны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Лучшие практики: inheritance или ceiling + дисциплина критических секций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Реальные ОС применяют и эвристики (random boosting), но опора должна быть на протоколах мьютексов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Кейсы уровня Mars Pathfinder показывают: это не академическая проблема, а инженерная реальность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Read-Copy-Update</a:t>
            </a:r>
            <a:endParaRPr/>
          </a:p>
        </p:txBody>
      </p:sp>
      <p:sp>
        <p:nvSpPr>
          <p:cNvPr id="259" name="Google Shape;259;p3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Зачем использовать RCU?</a:t>
            </a:r>
            <a:endParaRPr/>
          </a:p>
        </p:txBody>
      </p:sp>
      <p:sp>
        <p:nvSpPr>
          <p:cNvPr id="266" name="Google Shape;266;p3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Самая быстрая блокировка — её отсутствие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RCU: параллельные чтения без локов, обновления без остановки читателей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Идея: читатель видит либо старую, либо новую версию структуры — не гибрид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Нет инверсии приоритетов, высокая масштабируемость на ядрах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Базовый паттерн RCU</a:t>
            </a:r>
            <a:endParaRPr/>
          </a:p>
        </p:txBody>
      </p:sp>
      <p:sp>
        <p:nvSpPr>
          <p:cNvPr id="273" name="Google Shape;273;p4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Читатель: входит в </a:t>
            </a:r>
            <a:r>
              <a:rPr i="1" lang="ru-RU"/>
              <a:t>read-side critical section</a:t>
            </a:r>
            <a:r>
              <a:rPr lang="ru-RU"/>
              <a:t>, читает, выходит</a:t>
            </a:r>
            <a:br>
              <a:rPr lang="ru-RU"/>
            </a:br>
            <a:r>
              <a:rPr lang="ru-RU"/>
              <a:t>без блокировок, без сна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Писатель: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создаёт копию/новый узел и полностью инициализирует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атомарно публикует (меняет указатель)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ждёт grace period (когда никто больше не использует старый указатель)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освобождает старую версию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t/>
            </a:r>
            <a:endParaRPr/>
          </a:p>
        </p:txBody>
      </p:sp>
      <p:pic>
        <p:nvPicPr>
          <p:cNvPr id="280" name="Google Shape;280;p4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8200" y="1894817"/>
            <a:ext cx="10515600" cy="4212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Удаление узла из дерева</a:t>
            </a:r>
            <a:endParaRPr/>
          </a:p>
        </p:txBody>
      </p:sp>
      <p:pic>
        <p:nvPicPr>
          <p:cNvPr id="287" name="Google Shape;287;p42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66999" y="1825625"/>
            <a:ext cx="9458002" cy="43513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Read-side критическая секция и grace period</a:t>
            </a:r>
            <a:endParaRPr/>
          </a:p>
        </p:txBody>
      </p:sp>
      <p:sp>
        <p:nvSpPr>
          <p:cNvPr id="294" name="Google Shape;294;p4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Read-side CS: нельзя блокироваться/спать</a:t>
            </a:r>
            <a:br>
              <a:rPr lang="ru-RU"/>
            </a:br>
            <a:r>
              <a:rPr lang="ru-RU"/>
              <a:t>— тогда можно оценить верхнюю границу времени чтения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Grace period: интервал, за который каждый поток хотя бы раз оказался вне read-side CS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Простая эвристика: подождать минимум один контекст-свитч у каждого участника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После grace period: безопасно освобождать старую версию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ru-RU"/>
              <a:t>Где RCU уместен / где нет</a:t>
            </a:r>
            <a:endParaRPr/>
          </a:p>
        </p:txBody>
      </p:sp>
      <p:sp>
        <p:nvSpPr>
          <p:cNvPr id="301" name="Google Shape;301;p4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Уместен: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Много читателей, мало записей (read-mostly)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Структуры с указателями и неизменяемыми узлами после публикации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Ядро ОС, сетевой стек, маршрутизация, таблицы поиска, кэши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ru-RU"/>
              <a:t>Не уместен: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Плотные модификации на месте (in-place), перемешивающие данные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Требуется транзакционная атомарность для нескольких узлов сразу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ru-RU"/>
              <a:t>Читатели могут блокироваться/спать внутри чтения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Задача обедающих философов</a:t>
            </a:r>
            <a:endParaRPr/>
          </a:p>
        </p:txBody>
      </p:sp>
      <p:sp>
        <p:nvSpPr>
          <p:cNvPr id="307" name="Google Shape;307;p4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7775" y="152400"/>
            <a:ext cx="7876443" cy="655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201" cy="55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Примеры синхронизации процессов на Python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1493544" cy="568609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23125" y="5812000"/>
            <a:ext cx="10374873" cy="756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0"/>
            <a:ext cx="8861409" cy="4319752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66100" y="3289300"/>
            <a:ext cx="4025900" cy="356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8717652" cy="4582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12200" y="3797300"/>
            <a:ext cx="3479800" cy="3060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91489" y="0"/>
            <a:ext cx="554325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5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40237" y="525518"/>
            <a:ext cx="5189831" cy="32522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2" name="Google Shape;35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-1"/>
            <a:ext cx="8837397" cy="459302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5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837396" y="3027212"/>
            <a:ext cx="3354604" cy="3801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rPr lang="ru-RU"/>
              <a:t>Примеры ipc на Python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"/>
            <a:ext cx="9091412" cy="5864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364" name="Google Shape;364;p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9186" y="6096000"/>
            <a:ext cx="11535851" cy="6148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1"/>
            <a:ext cx="9231378" cy="5644055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053958"/>
            <a:ext cx="9986764" cy="5436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5" name="Google Shape;375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0296698" cy="57596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201103"/>
            <a:ext cx="11380241" cy="415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5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" y="-1"/>
            <a:ext cx="7052441" cy="593553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5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36220" y="4340772"/>
            <a:ext cx="4735838" cy="8386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