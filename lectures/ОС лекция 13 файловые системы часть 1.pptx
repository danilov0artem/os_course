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4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485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8" r:id="rId74"/>
    <p:sldId id="327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DB297147-A0E9-472B-953F-905352E88EDB}">
          <p14:sldIdLst>
            <p14:sldId id="256"/>
            <p14:sldId id="484"/>
            <p14:sldId id="257"/>
            <p14:sldId id="258"/>
            <p14:sldId id="259"/>
            <p14:sldId id="260"/>
          </p14:sldIdLst>
        </p14:section>
        <p14:section name="Файлы" id="{DC06825F-9C93-4301-84F0-AE7C9FC70567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485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8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4" autoAdjust="0"/>
    <p:restoredTop sz="75168" autoAdjust="0"/>
  </p:normalViewPr>
  <p:slideViewPr>
    <p:cSldViewPr snapToGrid="0" showGuides="1">
      <p:cViewPr varScale="1">
        <p:scale>
          <a:sx n="95" d="100"/>
          <a:sy n="95" d="100"/>
        </p:scale>
        <p:origin x="1280" y="192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C0146-8AB6-4B5E-950E-E49A3E51927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A3548-F974-4B28-9500-7C27F0838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3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Любое приложение, которое мы запускаем, должно где-то хранить свои данные. Пока программа работает, часть информации можно держать в оперативной памяти. Но объём RAM ограничен — его часто не хватает, особенно если речь идёт о терабайтах данных.</a:t>
            </a:r>
          </a:p>
          <a:p>
            <a:endParaRPr lang="ru-RU" dirty="0"/>
          </a:p>
          <a:p>
            <a:r>
              <a:rPr lang="ru-RU" dirty="0"/>
              <a:t>Более того, оперативная память не сохраняет данные после завершения процесса или отключения питания. Для многих приложений, например баз данных, это неприемлемо — информация должна сохраняться неделями, месяцами и даже годами.</a:t>
            </a:r>
          </a:p>
          <a:p>
            <a:endParaRPr lang="ru-RU" dirty="0"/>
          </a:p>
          <a:p>
            <a:r>
              <a:rPr lang="ru-RU" dirty="0"/>
              <a:t>Наконец, данные часто нужны нескольким процессам одновременно — один записывает, другой читает. Это требует способа хранения, который не зависит от конкретного процесса.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51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решения этих задач используются внешние накопители — жёсткие диски и SSD. Они обеспечивают большой объём и долговечность хранения.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SSD стали популярны, потому что у них нет движущихся частей, они быстрее и надёжнее. Несмотря на разницу в технологии, и HDD, и SSD предоставляют одинаковый интерфейс: возможность читать и записывать блоки данных — операции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такие операции слишком низкоуровневые: представьте, что пользователю нужно искать нужные блоки вручную — это неудобно и неэффективно. Кроме того, в многозадачных ОС блок, который миллисекунду назад был свободен, может оказаться занятым другим процессом. Поэтому ОС предлагает более высокий уровень абстракции.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22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Операционная система вводит понятие </a:t>
            </a:r>
            <a:r>
              <a:rPr lang="ru-RU" b="1" dirty="0"/>
              <a:t>файла</a:t>
            </a:r>
            <a:r>
              <a:rPr lang="ru-RU" dirty="0"/>
              <a:t>. Файл — это логическая единица информации, которую создаёт процесс.</a:t>
            </a:r>
          </a:p>
          <a:p>
            <a:r>
              <a:rPr lang="ru-RU" dirty="0"/>
              <a:t>В отличие от данных в оперативной памяти, файл существует независимо от процесса. Он остаётся в системе после завершения программы и удаляется только по желанию пользователя.</a:t>
            </a:r>
          </a:p>
          <a:p>
            <a:r>
              <a:rPr lang="ru-RU" dirty="0"/>
              <a:t>Процессы могут создавать новые файлы, читать и изменять существующие. Таким образом, файл — это универсальный механизм долговременного хранения информации.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03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Управлением всех файлов занимается </a:t>
            </a:r>
            <a:r>
              <a:rPr lang="ru-RU" b="1" dirty="0"/>
              <a:t>файловая система</a:t>
            </a:r>
            <a:r>
              <a:rPr lang="ru-RU" dirty="0"/>
              <a:t>. Она определяет, как файлы хранятся на диске, как называются, кто имеет к ним доступ, какие операции разрешены.</a:t>
            </a:r>
          </a:p>
          <a:p>
            <a:r>
              <a:rPr lang="ru-RU" dirty="0"/>
              <a:t>С точки зрения пользователя важны имена, структура каталогов, безопасность и удобство работы.</a:t>
            </a:r>
          </a:p>
          <a:p>
            <a:r>
              <a:rPr lang="ru-RU" dirty="0"/>
              <a:t>А вот внутренние детали — например, как ОС отмечает свободные блоки или организует таблицы размещения файлов — интересны уже разработчикам ОС.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13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Файл — это не просто набор байтов на диске, а удобная абстракция, с помощью которой пользователь и программа могут хранить и извлекать данные, не задумываясь о технических деталях.</a:t>
            </a:r>
          </a:p>
          <a:p>
            <a:endParaRPr lang="ru-RU" dirty="0"/>
          </a:p>
          <a:p>
            <a:r>
              <a:rPr lang="ru-RU" dirty="0"/>
              <a:t>Когда процесс создаёт файл, он даёт ему имя — именно по этому имени другие процессы смогут обращаться к нему позже. Это делает файл независимым от конкретной программы.</a:t>
            </a:r>
          </a:p>
          <a:p>
            <a:endParaRPr lang="ru-RU" dirty="0"/>
          </a:p>
          <a:p>
            <a:r>
              <a:rPr lang="ru-RU" dirty="0"/>
              <a:t>Таким образом, имя файла — это ключ к информации, а файловая система отвечает за то, чтобы это имя оставалось стабильным и уникальным.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1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Правила именования файлов различаются между операционными системами.</a:t>
            </a:r>
          </a:p>
          <a:p>
            <a:endParaRPr lang="ru-RU" dirty="0"/>
          </a:p>
          <a:p>
            <a:r>
              <a:rPr lang="ru-RU" dirty="0"/>
              <a:t>Например, старый формат FAT16, использовавшийся в MS-DOS и ранних версиях Windows, ограничивал длину имени восьмью символами и тремя символами расширения. Сегодня такие ограничения почти исчезли — мы можем использовать длинные, читаемые имена, включая символы вроде пробела или восклицательного знака.</a:t>
            </a:r>
          </a:p>
          <a:p>
            <a:endParaRPr lang="ru-RU" dirty="0"/>
          </a:p>
          <a:p>
            <a:r>
              <a:rPr lang="ru-RU" dirty="0"/>
              <a:t>Обратите внимание на регистр букв: в UNIX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test.txt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Test.txt</a:t>
            </a:r>
            <a:r>
              <a:rPr lang="ru-RU" dirty="0"/>
              <a:t> — это разные файлы, а в Windows — один и тот же. Это важный момент при переносе программ и данных между системами.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26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 Windows унаследовала файловую систему FAT от MS-DOS. FAT16 и FAT32 использовались десятилетиями — они просты, но ограничены по размеру тома и количеству файлов.</a:t>
            </a:r>
          </a:p>
          <a:p>
            <a:endParaRPr lang="ru-RU" dirty="0"/>
          </a:p>
          <a:p>
            <a:r>
              <a:rPr lang="ru-RU" dirty="0"/>
              <a:t>Современные версии Windows перешли на NTFS — более надёжную и защищённую систему с поддержкой прав доступа, журналирования и шифрования.</a:t>
            </a:r>
          </a:p>
          <a:p>
            <a:endParaRPr lang="ru-RU" dirty="0"/>
          </a:p>
          <a:p>
            <a:r>
              <a:rPr lang="ru-RU" dirty="0"/>
              <a:t>Для серверов Microsoft предложила </a:t>
            </a:r>
            <a:r>
              <a:rPr lang="ru-RU" dirty="0" err="1"/>
              <a:t>ReFS</a:t>
            </a:r>
            <a:r>
              <a:rPr lang="ru-RU" dirty="0"/>
              <a:t> — устойчивую файловую систему, а для флешек и внешних накопителей разработала </a:t>
            </a:r>
            <a:r>
              <a:rPr lang="ru-RU" dirty="0" err="1"/>
              <a:t>exFAT</a:t>
            </a:r>
            <a:r>
              <a:rPr lang="ru-RU" dirty="0"/>
              <a:t>, которая стала стандартом для обмена данными между разными устройствами.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51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Расширения — это удобный способ указать, с какими данными мы имеем дело. 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 — исходный код на C,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jpg</a:t>
            </a:r>
            <a:r>
              <a:rPr lang="ru-RU" dirty="0"/>
              <a:t> — изображение,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</a:t>
            </a:r>
            <a:r>
              <a:rPr lang="ru-RU" dirty="0"/>
              <a:t> — документ.</a:t>
            </a:r>
          </a:p>
          <a:p>
            <a:endParaRPr lang="ru-RU" dirty="0"/>
          </a:p>
          <a:p>
            <a:r>
              <a:rPr lang="ru-RU" dirty="0"/>
              <a:t>В UNIX расширения нужны только человеку — сама ОС не придаёт им значения. Но программы, например компилятор C, могут требовать, чтобы файл заканчивался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Windows всё устроено иначе: система «знает», что делать с каждым типом файла. Расширение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docx</a:t>
            </a:r>
            <a:r>
              <a:rPr lang="ru-RU" dirty="0"/>
              <a:t> связано с Microsoft Word,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.mp3</a:t>
            </a:r>
            <a:r>
              <a:rPr lang="ru-RU" dirty="0"/>
              <a:t> — с медиаплеером. Поэтому, когда пользователь дважды щёлкает по файлу, запускается нужная программа автоматически.</a:t>
            </a:r>
          </a:p>
          <a:p>
            <a:endParaRPr lang="ru-RU" dirty="0"/>
          </a:p>
          <a:p>
            <a:r>
              <a:rPr lang="ru-RU" dirty="0"/>
              <a:t>Это упрощает работу, но делает расширения более критичными — если их изменить, система может «потерять» связь с нужным приложением.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68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Таблица показывает примеры распространённых расширений. Мы видим, что по ним легко определить назначение файла.</a:t>
            </a:r>
          </a:p>
          <a:p>
            <a:r>
              <a:rPr lang="ru-RU" dirty="0"/>
              <a:t>Это облегчает взаимодействие пользователя с системой и программами. Расширения фактически стали универсальным языком обмена между приложениями.</a:t>
            </a:r>
          </a:p>
          <a:p>
            <a:r>
              <a:rPr lang="ru-RU" dirty="0"/>
              <a:t>При этом важно понимать: ОС не всегда проверяет содержимое файла. Например, можно назвать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virus.txt</a:t>
            </a:r>
            <a:r>
              <a:rPr lang="ru-RU" dirty="0"/>
              <a:t>, но внутри может быть исполняемый код. Поэтому расширения — лишь подсказка, а не гарантия безопасности.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4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Структура файла определяет, как данные организованы и как к ним можно обращаться.</a:t>
            </a:r>
          </a:p>
          <a:p>
            <a:r>
              <a:rPr lang="ru-RU" dirty="0"/>
              <a:t>Современные операционные системы — такие как UNIX, Linux, </a:t>
            </a:r>
            <a:r>
              <a:rPr lang="ru-RU" dirty="0" err="1"/>
              <a:t>macOS</a:t>
            </a:r>
            <a:r>
              <a:rPr lang="ru-RU" dirty="0"/>
              <a:t> и Windows — рассматривают файл просто как поток байтов. Они не знают, текст это, изображение или исполняемый код. Такой подход универсален и позволяет программам самим решать, как интерпретировать данные.</a:t>
            </a:r>
          </a:p>
          <a:p>
            <a:r>
              <a:rPr lang="ru-RU" dirty="0"/>
              <a:t>Другие модели — последовательности записей и деревья — встречаются реже, но важны для понимания эволюции файловых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32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модели «последовательность байтов» файл — это просто цепочка байтов.</a:t>
            </a:r>
          </a:p>
          <a:p>
            <a:r>
              <a:rPr lang="ru-RU" dirty="0"/>
              <a:t>Операционная система не хранит никакой информации о структуре содержимого. Для неё — это просто набор данных.</a:t>
            </a:r>
          </a:p>
          <a:p>
            <a:r>
              <a:rPr lang="ru-RU" dirty="0"/>
              <a:t>Такой подход делает систему универсальной. Программы сами решают, что значат эти байты: текст, изображение или бинарный код.</a:t>
            </a:r>
          </a:p>
          <a:p>
            <a:r>
              <a:rPr lang="ru-RU" dirty="0"/>
              <a:t>Это основа всех современных ОС: UNIX, Linux, </a:t>
            </a:r>
            <a:r>
              <a:rPr lang="ru-RU" dirty="0" err="1"/>
              <a:t>macOS</a:t>
            </a:r>
            <a:r>
              <a:rPr lang="ru-RU" dirty="0"/>
              <a:t> и Windows используют именно такую модель, поскольку она не ограничивает разработчиков.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56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Следующий уровень организации — файлы, состоящие из записей фиксированной длины.</a:t>
            </a:r>
          </a:p>
          <a:p>
            <a:r>
              <a:rPr lang="ru-RU" dirty="0"/>
              <a:t>Это историческая модель, возникшая во времена перфокарт, когда каждая карта имела 80 символов.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Программы тех лет читали данные по одной записи — одной карте — и записывали результат строками для принтера, обычно по 132 символа.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Сегодня такие структуры почти не используются в обычных системах, но их идея легла в основу хранения данных в базах и табличных форматах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56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Третий тип — древовидная структура. Здесь каждая запись имеет ключ, например, имя животного в базе данных зоопарка.</a:t>
            </a:r>
          </a:p>
          <a:p>
            <a:r>
              <a:rPr lang="ru-RU" dirty="0"/>
              <a:t>Операционная система может быстро найти нужную запись по ключу, не просматривая весь файл.</a:t>
            </a:r>
          </a:p>
          <a:p>
            <a:r>
              <a:rPr lang="ru-RU" dirty="0"/>
              <a:t>Добавление новых записей тоже выполняет ОС — она решает, куда их поместить в дереве, чтобы сохранить порядок.</a:t>
            </a:r>
          </a:p>
          <a:p>
            <a:r>
              <a:rPr lang="ru-RU" dirty="0"/>
              <a:t>Такая структура характерна для больших коммерческих систем, где нужно быстро искать и обновлять данные — например, в банковских или складских базах.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962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сравнить три модели, становится очевидно, почему современные ОС используют первую.</a:t>
            </a:r>
          </a:p>
          <a:p>
            <a:r>
              <a:rPr lang="ru-RU" dirty="0"/>
              <a:t>Модель байтового потока максимально гибкая: она не диктует формат и не ограничивает разработчиков.</a:t>
            </a:r>
          </a:p>
          <a:p>
            <a:r>
              <a:rPr lang="ru-RU" dirty="0"/>
              <a:t>Записные и древовидные модели эффективны в узких сценариях, но менее универсальны. Сегодня их принципы используются внутри баз данных и файловых систем, но не как внешний интерфейс для пользователей.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5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большинстве операционных систем файлы делятся на несколько категорий.</a:t>
            </a:r>
          </a:p>
          <a:p>
            <a:r>
              <a:rPr lang="ru-RU" dirty="0"/>
              <a:t>Самые привычные — это </a:t>
            </a:r>
            <a:r>
              <a:rPr lang="ru-RU" b="1" dirty="0"/>
              <a:t>обычные файлы</a:t>
            </a:r>
            <a:r>
              <a:rPr lang="ru-RU" dirty="0"/>
              <a:t>, которые содержат пользовательскую информацию: тексты, программы, изображения.</a:t>
            </a:r>
          </a:p>
          <a:p>
            <a:r>
              <a:rPr lang="ru-RU" dirty="0"/>
              <a:t>Второй тип — </a:t>
            </a:r>
            <a:r>
              <a:rPr lang="ru-RU" b="1" dirty="0"/>
              <a:t>каталоги</a:t>
            </a:r>
            <a:r>
              <a:rPr lang="ru-RU" dirty="0"/>
              <a:t>. Это тоже файлы, но они управляют структурой файловой системы и хранят сведения о других файлах.</a:t>
            </a:r>
          </a:p>
          <a:p>
            <a:r>
              <a:rPr lang="ru-RU" dirty="0"/>
              <a:t>Кроме того, UNIX-подобные системы используют </a:t>
            </a:r>
            <a:r>
              <a:rPr lang="ru-RU" b="1" dirty="0"/>
              <a:t>файлы устройств</a:t>
            </a:r>
            <a:r>
              <a:rPr lang="ru-RU" dirty="0"/>
              <a:t>: </a:t>
            </a:r>
            <a:r>
              <a:rPr lang="ru-RU" i="1" dirty="0" err="1"/>
              <a:t>character</a:t>
            </a:r>
            <a:r>
              <a:rPr lang="ru-RU" i="1" dirty="0"/>
              <a:t> </a:t>
            </a:r>
            <a:r>
              <a:rPr lang="ru-RU" i="1" dirty="0" err="1"/>
              <a:t>special</a:t>
            </a:r>
            <a:r>
              <a:rPr lang="ru-RU" dirty="0"/>
              <a:t> моделируют устройства последовательного ввода-вывода (например, терминалы), а </a:t>
            </a:r>
            <a:r>
              <a:rPr lang="ru-RU" i="1" dirty="0" err="1"/>
              <a:t>block</a:t>
            </a:r>
            <a:r>
              <a:rPr lang="ru-RU" i="1" dirty="0"/>
              <a:t> </a:t>
            </a:r>
            <a:r>
              <a:rPr lang="ru-RU" i="1" dirty="0" err="1"/>
              <a:t>special</a:t>
            </a:r>
            <a:r>
              <a:rPr lang="ru-RU" dirty="0"/>
              <a:t> — устройства блочного доступа, такие как диски.</a:t>
            </a:r>
          </a:p>
          <a:p>
            <a:r>
              <a:rPr lang="ru-RU" dirty="0"/>
              <a:t>Это решение делает работу с устройствами унифицированной: в UNIX всё — это файл.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832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Обычные файлы бывают двух типов: </a:t>
            </a:r>
            <a:r>
              <a:rPr lang="ru-RU" b="1" dirty="0"/>
              <a:t>текстовые (ASCII)</a:t>
            </a:r>
            <a:r>
              <a:rPr lang="ru-RU" dirty="0"/>
              <a:t> и </a:t>
            </a:r>
            <a:r>
              <a:rPr lang="ru-RU" b="1" dirty="0"/>
              <a:t>бинарные</a:t>
            </a:r>
            <a:r>
              <a:rPr lang="ru-RU" dirty="0"/>
              <a:t>.</a:t>
            </a:r>
          </a:p>
          <a:p>
            <a:r>
              <a:rPr lang="ru-RU" dirty="0"/>
              <a:t>Текстовые файлы содержат строки символов — их легко открыть, просмотреть и передавать между программами. Это основа совместимости в UNIX: одна программа может выводить текст, а другая — читать его через конвейер.</a:t>
            </a:r>
          </a:p>
          <a:p>
            <a:r>
              <a:rPr lang="ru-RU" dirty="0"/>
              <a:t>Бинарные файлы — это уже формат, понятный только программам, которые их используют. Например, исполняемый файл содержит код, данные, таблицы символов — и всё это в машинном представлении.</a:t>
            </a:r>
          </a:p>
          <a:p>
            <a:r>
              <a:rPr lang="ru-RU" dirty="0"/>
              <a:t>Распечатав бинарный файл, вы увидите лишь хаотичные символы, но для компьютера они имеют чёткое значение.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12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показана типичная структура исполняемого бинарного файла в UNIX. </a:t>
            </a:r>
          </a:p>
          <a:p>
            <a:r>
              <a:rPr lang="ru-RU" dirty="0"/>
              <a:t>На первый взгляд он выглядит как последовательность байтов, но ОС может выполнить этот файл, если он имеет определённый формат.</a:t>
            </a:r>
          </a:p>
          <a:p>
            <a:r>
              <a:rPr lang="ru-RU" dirty="0"/>
              <a:t>Секция </a:t>
            </a:r>
            <a:r>
              <a:rPr lang="ru-RU" b="1" dirty="0" err="1"/>
              <a:t>Header</a:t>
            </a:r>
            <a:r>
              <a:rPr lang="ru-RU" dirty="0"/>
              <a:t> содержит «магическое число» — специальный идентификатор, подтверждающий, что файл можно запускать. Там же указаны размеры частей и адрес точки входа.</a:t>
            </a:r>
          </a:p>
          <a:p>
            <a:r>
              <a:rPr lang="ru-RU" dirty="0"/>
              <a:t>Далее идут сегменты </a:t>
            </a:r>
            <a:r>
              <a:rPr lang="ru-RU" b="1" dirty="0"/>
              <a:t>текста</a:t>
            </a:r>
            <a:r>
              <a:rPr lang="ru-RU" dirty="0"/>
              <a:t> и </a:t>
            </a:r>
            <a:r>
              <a:rPr lang="ru-RU" b="1" dirty="0"/>
              <a:t>данных</a:t>
            </a:r>
            <a:r>
              <a:rPr lang="ru-RU" dirty="0"/>
              <a:t>, которые при запуске загружаются в память.</a:t>
            </a:r>
          </a:p>
          <a:p>
            <a:r>
              <a:rPr lang="ru-RU" dirty="0"/>
              <a:t>Секция </a:t>
            </a:r>
            <a:r>
              <a:rPr lang="ru-RU" b="1" dirty="0" err="1"/>
              <a:t>Relocation</a:t>
            </a:r>
            <a:r>
              <a:rPr lang="ru-RU" b="1" dirty="0"/>
              <a:t> </a:t>
            </a:r>
            <a:r>
              <a:rPr lang="ru-RU" b="1" dirty="0" err="1"/>
              <a:t>bits</a:t>
            </a:r>
            <a:r>
              <a:rPr lang="ru-RU" dirty="0"/>
              <a:t> используется для корректировки адресов при загрузке, а </a:t>
            </a:r>
            <a:r>
              <a:rPr lang="ru-RU" b="1" dirty="0" err="1"/>
              <a:t>symbol</a:t>
            </a:r>
            <a:r>
              <a:rPr lang="ru-RU" b="1" dirty="0"/>
              <a:t> </a:t>
            </a:r>
            <a:r>
              <a:rPr lang="ru-RU" b="1" dirty="0" err="1"/>
              <a:t>table</a:t>
            </a:r>
            <a:r>
              <a:rPr lang="ru-RU" dirty="0"/>
              <a:t> хранит имена функций и переменных — она нужна при отладке.</a:t>
            </a:r>
          </a:p>
          <a:p>
            <a:endParaRPr lang="ru-RU" dirty="0"/>
          </a:p>
          <a:p>
            <a:r>
              <a:rPr lang="ru-RU" dirty="0"/>
              <a:t>Ещё один пример бинарного файла — </a:t>
            </a:r>
            <a:r>
              <a:rPr lang="ru-RU" b="1" dirty="0"/>
              <a:t>архив</a:t>
            </a:r>
            <a:r>
              <a:rPr lang="ru-RU" dirty="0"/>
              <a:t>, содержащий набор готовых модулей.</a:t>
            </a:r>
          </a:p>
          <a:p>
            <a:r>
              <a:rPr lang="ru-RU" dirty="0"/>
              <a:t>Каждый модуль начинается с собственного заголовка, где указаны имя, дата создания, права доступа и размер.</a:t>
            </a:r>
          </a:p>
          <a:p>
            <a:r>
              <a:rPr lang="ru-RU" dirty="0"/>
              <a:t>Такой формат позволяет компоновщику быстро находить нужный модуль при сборке программы.</a:t>
            </a:r>
          </a:p>
          <a:p>
            <a:r>
              <a:rPr lang="ru-RU" dirty="0"/>
              <a:t>Если вывести архив на экран, вы увидите бессмысленный набор символов — ведь это чисто машинные данные.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12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некоторых старых системах типы файлов были жёстко заданы.</a:t>
            </a:r>
          </a:p>
          <a:p>
            <a:r>
              <a:rPr lang="ru-RU" dirty="0"/>
              <a:t>Например, система TOPS-20 при запуске программы проверяла, не изменился ли исходный код после компиляции, и при необходимости автоматически перекомпилировала его.</a:t>
            </a:r>
          </a:p>
          <a:p>
            <a:r>
              <a:rPr lang="ru-RU" dirty="0"/>
              <a:t>Однако такой подход создавал трудности: если пользователь хотел использовать файл нестандартным образом, ОС просто не позволяла. Поэтому современные системы гораздо гибче — они не навязывают тип, а лишь дают подсказку, например через расширение</a:t>
            </a:r>
          </a:p>
          <a:p>
            <a:endParaRPr lang="ru-RU" dirty="0"/>
          </a:p>
          <a:p>
            <a:r>
              <a:rPr lang="ru-RU" dirty="0"/>
              <a:t>UNIX предлагает инструмент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dirty="0"/>
              <a:t>, который определяет тип файла по его содержимому, а не по расширению.</a:t>
            </a:r>
          </a:p>
          <a:p>
            <a:r>
              <a:rPr lang="ru-RU" dirty="0"/>
              <a:t>Он анализирует начальные байты и применяет эвристики, чтобы распознать текст, изображение, исполняемый код или каталог. Это делает работу более надёжной: даже если вы измените расширение, 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dirty="0"/>
              <a:t> всё равно определит реальный тип. Такой подход отражает философию UNIX — «всё можно узнать, если смотреть на данные напрямую».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063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Исторически первые операционные системы поддерживали только </a:t>
            </a:r>
            <a:r>
              <a:rPr lang="ru-RU" b="1" dirty="0"/>
              <a:t>последовательный доступ</a:t>
            </a:r>
            <a:r>
              <a:rPr lang="ru-RU" dirty="0"/>
              <a:t>.</a:t>
            </a:r>
          </a:p>
          <a:p>
            <a:r>
              <a:rPr lang="ru-RU" dirty="0"/>
              <a:t>Программа могла читать файл только от начала до конца, байт за байтом. Такой подход идеально подходил для </a:t>
            </a:r>
            <a:r>
              <a:rPr lang="ru-RU" b="1" dirty="0"/>
              <a:t>магнитных лент</a:t>
            </a:r>
            <a:r>
              <a:rPr lang="ru-RU" dirty="0"/>
              <a:t>, где перемотка занимала много времени, а случайный доступ был невозможен.</a:t>
            </a:r>
          </a:p>
          <a:p>
            <a:endParaRPr lang="ru-RU" dirty="0"/>
          </a:p>
          <a:p>
            <a:r>
              <a:rPr lang="ru-RU" dirty="0"/>
              <a:t>С появлением </a:t>
            </a:r>
            <a:r>
              <a:rPr lang="ru-RU" b="1" dirty="0"/>
              <a:t>жёстких дисков</a:t>
            </a:r>
            <a:r>
              <a:rPr lang="ru-RU" dirty="0"/>
              <a:t> ситуация изменилась — теперь можно было переходить к любому месту в файле. Так появился </a:t>
            </a:r>
            <a:r>
              <a:rPr lang="ru-RU" b="1" dirty="0"/>
              <a:t>произвольный доступ (</a:t>
            </a:r>
            <a:r>
              <a:rPr lang="ru-RU" b="1" dirty="0" err="1"/>
              <a:t>random</a:t>
            </a:r>
            <a:r>
              <a:rPr lang="ru-RU" b="1" dirty="0"/>
              <a:t> </a:t>
            </a:r>
            <a:r>
              <a:rPr lang="ru-RU" b="1" dirty="0" err="1"/>
              <a:t>access</a:t>
            </a:r>
            <a:r>
              <a:rPr lang="ru-RU" b="1" dirty="0"/>
              <a:t>)</a:t>
            </a:r>
            <a:r>
              <a:rPr lang="ru-RU" dirty="0"/>
              <a:t>, который стал необходим для приложений, где нужно быстро находить конкретные данные, например в базах данных или системах бронирования авиабилетов.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0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последовательном доступе данные читаются только в том порядке, в котором они записаны.</a:t>
            </a:r>
          </a:p>
          <a:p>
            <a:r>
              <a:rPr lang="ru-RU" dirty="0"/>
              <a:t>Этот метод прост и подходит для работы с линейными носителями, где последовательность чтения естественна — например, при обработке логов или потоковых данных.</a:t>
            </a:r>
          </a:p>
          <a:p>
            <a:r>
              <a:rPr lang="ru-RU" dirty="0"/>
              <a:t>Хотя можно «перемотать» файл и начать чтение заново, перемещение к произвольной позиции невозможно.</a:t>
            </a:r>
          </a:p>
          <a:p>
            <a:r>
              <a:rPr lang="ru-RU" dirty="0"/>
              <a:t>Сегодня этот тип доступа встречается редко, но он по-прежнему используется в системах потоковой записи и резервного копирования.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70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</a:t>
            </a:r>
            <a:r>
              <a:rPr lang="ru-RU" b="1" dirty="0"/>
              <a:t>произвольном доступе</a:t>
            </a:r>
            <a:r>
              <a:rPr lang="ru-RU" dirty="0"/>
              <a:t> программа может обратиться к любому месту файла напрямую.</a:t>
            </a:r>
          </a:p>
          <a:p>
            <a:r>
              <a:rPr lang="ru-RU" dirty="0"/>
              <a:t>Например, если нужно изменить запись №5000, нет необходимости читать первые 4999 — достаточно перейти к нужной позиции.</a:t>
            </a:r>
          </a:p>
          <a:p>
            <a:r>
              <a:rPr lang="ru-RU" dirty="0"/>
              <a:t>В UNIX и Windows для этого используется операция </a:t>
            </a:r>
            <a:r>
              <a:rPr lang="ru-RU" b="1" dirty="0" err="1"/>
              <a:t>seek</a:t>
            </a:r>
            <a:r>
              <a:rPr lang="ru-RU" dirty="0"/>
              <a:t>, которая устанавливает текущую позицию чтения или записи. После этого можно продолжить работу с файлом как обычно. Это делает доступ к данным чрезвычайно быстрым — именно поэтому такой подход обязателен для баз данных, редакторов и современных файловых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642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имени и содержимого, каждый файл имеет </a:t>
            </a:r>
            <a:r>
              <a:rPr lang="ru-RU" b="1" dirty="0"/>
              <a:t>набор атрибутов</a:t>
            </a:r>
            <a:r>
              <a:rPr lang="ru-RU" dirty="0"/>
              <a:t>, или метаданных.</a:t>
            </a:r>
          </a:p>
          <a:p>
            <a:r>
              <a:rPr lang="ru-RU" dirty="0"/>
              <a:t>Это информация, которую сама операционная система хранит и обновляет при каждом изменении файла.</a:t>
            </a:r>
          </a:p>
          <a:p>
            <a:r>
              <a:rPr lang="ru-RU" dirty="0"/>
              <a:t>Атрибуты помогают системе знать, кто может читать файл, когда он был изменён, сколько он весит, и нужно ли его, например, скрыть от пользователя.</a:t>
            </a:r>
          </a:p>
          <a:p>
            <a:r>
              <a:rPr lang="ru-RU" dirty="0"/>
              <a:t>Без атрибутов работа файловой системы была бы невозможна — ведь именно они управляют поведением файла и его видимостью.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451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Первая группа атрибутов касается </a:t>
            </a:r>
            <a:r>
              <a:rPr lang="ru-RU" b="1" dirty="0"/>
              <a:t>доступа и защиты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Атрибут </a:t>
            </a:r>
            <a:r>
              <a:rPr lang="ru-RU" i="1" dirty="0"/>
              <a:t>Protection</a:t>
            </a:r>
            <a:r>
              <a:rPr lang="ru-RU" dirty="0"/>
              <a:t> определяет, какие пользователи и с какими правами могут читать, изменять или удалять файл.</a:t>
            </a:r>
          </a:p>
          <a:p>
            <a:r>
              <a:rPr lang="ru-RU" dirty="0"/>
              <a:t>Некоторые системы требуют пароль для открытия — тогда пароль хранится прямо как атрибут.</a:t>
            </a:r>
          </a:p>
          <a:p>
            <a:endParaRPr lang="ru-RU" dirty="0"/>
          </a:p>
          <a:p>
            <a:r>
              <a:rPr lang="ru-RU" dirty="0"/>
              <a:t>Кроме того, сохраняются данные о </a:t>
            </a:r>
            <a:r>
              <a:rPr lang="ru-RU" b="1" dirty="0"/>
              <a:t>создателе</a:t>
            </a:r>
            <a:r>
              <a:rPr lang="ru-RU" dirty="0"/>
              <a:t> файла и его </a:t>
            </a:r>
            <a:r>
              <a:rPr lang="ru-RU" b="1" dirty="0"/>
              <a:t>текущем владельце</a:t>
            </a:r>
            <a:r>
              <a:rPr lang="ru-RU" dirty="0"/>
              <a:t> — это важно в многопользовательских системах, таких как UNIX или Windows Server, где каждый файл принадлежит определённому пользователю или группе.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65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Вторая группа атрибутов — это </a:t>
            </a:r>
            <a:r>
              <a:rPr lang="ru-RU" b="1" dirty="0"/>
              <a:t>флаги</a:t>
            </a:r>
            <a:r>
              <a:rPr lang="ru-RU" dirty="0"/>
              <a:t>, то есть короткие битовые поля, определяющие состояние файла.</a:t>
            </a:r>
          </a:p>
          <a:p>
            <a:r>
              <a:rPr lang="ru-RU" dirty="0"/>
              <a:t>Например, </a:t>
            </a:r>
            <a:r>
              <a:rPr lang="ru-RU" i="1" dirty="0" err="1"/>
              <a:t>Read-only</a:t>
            </a:r>
            <a:r>
              <a:rPr lang="ru-RU" dirty="0"/>
              <a:t> запрещает запись, </a:t>
            </a:r>
            <a:r>
              <a:rPr lang="ru-RU" i="1" dirty="0" err="1"/>
              <a:t>Hidden</a:t>
            </a:r>
            <a:r>
              <a:rPr lang="ru-RU" dirty="0"/>
              <a:t> скрывает файл от обычных пользователей, а </a:t>
            </a:r>
            <a:r>
              <a:rPr lang="ru-RU" i="1" dirty="0"/>
              <a:t>System</a:t>
            </a:r>
            <a:r>
              <a:rPr lang="ru-RU" dirty="0"/>
              <a:t> отмечает служебные файлы ОС.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Флаг </a:t>
            </a:r>
            <a:r>
              <a:rPr lang="ru-RU" i="1" dirty="0" err="1"/>
              <a:t>Archive</a:t>
            </a:r>
            <a:r>
              <a:rPr lang="ru-RU" dirty="0"/>
              <a:t> используется программами резервного копирования: когда файл изменяется, система устанавливает этот флаг, а после успешного бэкапа — программа сбрасывает его.</a:t>
            </a:r>
            <a:endParaRPr lang="en-US" dirty="0"/>
          </a:p>
          <a:p>
            <a:endParaRPr lang="ru-RU" dirty="0"/>
          </a:p>
          <a:p>
            <a:r>
              <a:rPr lang="ru-RU" i="1" dirty="0" err="1"/>
              <a:t>Temporary</a:t>
            </a:r>
            <a:r>
              <a:rPr lang="ru-RU" dirty="0"/>
              <a:t> сообщает ОС, что при закрытии файла можно не записывать его содержимое на носитель, если в ОЗУ достаточно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флаги делают файловую систему «умной»: она знает, как обращаться с каждым файлом без участия пользователя.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905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одна важная категория атрибутов — </a:t>
            </a:r>
            <a:r>
              <a:rPr lang="ru-RU" b="1" dirty="0"/>
              <a:t>время</a:t>
            </a:r>
            <a:r>
              <a:rPr lang="ru-RU" dirty="0"/>
              <a:t>.</a:t>
            </a:r>
          </a:p>
          <a:p>
            <a:r>
              <a:rPr lang="ru-RU" dirty="0"/>
              <a:t>Система хранит дату и время создания, последнего доступа и последнего изменения.</a:t>
            </a:r>
          </a:p>
          <a:p>
            <a:r>
              <a:rPr lang="ru-RU" dirty="0"/>
              <a:t>Эти данные используются для синхронизации и автоматизации. Например, компилятор проверяет: если исходный код изменён позже, чем скомпилированный бинарный файл, — программу нужно перекомпилировать.</a:t>
            </a:r>
          </a:p>
          <a:p>
            <a:r>
              <a:rPr lang="ru-RU" dirty="0"/>
              <a:t>Кроме того, по времени доступа можно определить, какие файлы недавно использовались пользователем, что полезно для оптимизации или аудита.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195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Атрибуты, связанные с размерами и записями, особенно важны для файлов, содержащих структурированные данные.</a:t>
            </a:r>
          </a:p>
          <a:p>
            <a:r>
              <a:rPr lang="ru-RU" i="1" dirty="0"/>
              <a:t>Current </a:t>
            </a:r>
            <a:r>
              <a:rPr lang="ru-RU" i="1" dirty="0" err="1"/>
              <a:t>size</a:t>
            </a:r>
            <a:r>
              <a:rPr lang="ru-RU" dirty="0"/>
              <a:t> показывает фактический объём файла, а </a:t>
            </a:r>
            <a:r>
              <a:rPr lang="ru-RU" i="1" dirty="0" err="1"/>
              <a:t>Maximum</a:t>
            </a:r>
            <a:r>
              <a:rPr lang="ru-RU" i="1" dirty="0"/>
              <a:t> </a:t>
            </a:r>
            <a:r>
              <a:rPr lang="ru-RU" i="1" dirty="0" err="1"/>
              <a:t>size</a:t>
            </a:r>
            <a:r>
              <a:rPr lang="ru-RU" dirty="0"/>
              <a:t> использовался в старых ОС для резервирования места заранее — сегодня это не требуется.</a:t>
            </a:r>
          </a:p>
          <a:p>
            <a:r>
              <a:rPr lang="ru-RU" dirty="0"/>
              <a:t>В системах, где доступ к данным осуществляется по ключам, например в базах данных, дополнительно указываются длина записи, позиция и размер ключевого поля.</a:t>
            </a:r>
          </a:p>
          <a:p>
            <a:r>
              <a:rPr lang="ru-RU" dirty="0"/>
              <a:t>Эти параметры позволяют программам быстро находить нужные данные без полного перебора.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275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примере видно, как атрибуты отображаются в UNIX.</a:t>
            </a:r>
          </a:p>
          <a:p>
            <a:r>
              <a:rPr lang="ru-RU" dirty="0"/>
              <a:t>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</a:t>
            </a:r>
            <a:r>
              <a:rPr lang="ru-RU" dirty="0"/>
              <a:t> выводит не только имя файла, но и права доступа, владельца, размер и дату изменения.</a:t>
            </a:r>
          </a:p>
          <a:p>
            <a:r>
              <a:rPr lang="ru-RU" dirty="0"/>
              <a:t>Каждый элемент — это часть набора метаданных, которые ОС хранит в структуре, называемой </a:t>
            </a:r>
            <a:r>
              <a:rPr lang="ru-RU" b="1" dirty="0" err="1"/>
              <a:t>inode</a:t>
            </a:r>
            <a:r>
              <a:rPr lang="ru-RU" dirty="0"/>
              <a:t>.</a:t>
            </a:r>
          </a:p>
          <a:p>
            <a:r>
              <a:rPr lang="ru-RU" dirty="0"/>
              <a:t>Благодаря этим данным система знает, кто имеет право читать файл, сколько он весит, и когда был изменён. Всё это делает файловую систему надёжной и управляемой.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657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приложения могли работать с файлами, операционная система предоставляет стандартный набор системных вызовов.</a:t>
            </a:r>
          </a:p>
          <a:p>
            <a:r>
              <a:rPr lang="ru-RU" dirty="0"/>
              <a:t>Эти вызовы делятся на несколько групп: создание и удаление файлов, открытие и закрытие, операции ввода-вывода, управление текущей позицией и работа с атрибутами.</a:t>
            </a:r>
          </a:p>
          <a:p>
            <a:r>
              <a:rPr lang="ru-RU" dirty="0"/>
              <a:t>Они образуют универсальный интерфейс, с помощью которого любая программа может взаимодействовать с файловой системой, независимо от того, работает ли она в Windows, UNIX или Linux.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289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Операция </a:t>
            </a:r>
            <a:r>
              <a:rPr lang="ru-RU" b="1" dirty="0" err="1"/>
              <a:t>Create</a:t>
            </a:r>
            <a:r>
              <a:rPr lang="ru-RU" dirty="0"/>
              <a:t> создаёт новый файл — обычно пустой, но уже со всеми нужными атрибутами: владельцем, правами доступа, метками времени.</a:t>
            </a:r>
          </a:p>
          <a:p>
            <a:r>
              <a:rPr lang="ru-RU" dirty="0"/>
              <a:t>Когда файл больше не нужен, используется операция </a:t>
            </a:r>
            <a:r>
              <a:rPr lang="ru-RU" b="1" dirty="0" err="1"/>
              <a:t>Delete</a:t>
            </a:r>
            <a:r>
              <a:rPr lang="ru-RU" dirty="0"/>
              <a:t>, которая не только удаляет его из каталога, но и освобождает блоки диска.</a:t>
            </a:r>
          </a:p>
          <a:p>
            <a:r>
              <a:rPr lang="ru-RU" dirty="0"/>
              <a:t>Это критически важно, потому что без удаления файлов диск быстро заполнился бы мусором.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257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работой с файлом его необходимо </a:t>
            </a:r>
            <a:r>
              <a:rPr lang="ru-RU" b="1" dirty="0"/>
              <a:t>открыть</a:t>
            </a:r>
            <a:r>
              <a:rPr lang="ru-RU" dirty="0"/>
              <a:t>.</a:t>
            </a:r>
          </a:p>
          <a:p>
            <a:r>
              <a:rPr lang="ru-RU" dirty="0"/>
              <a:t>При этом операционная система считывает важные данные — атрибуты и таблицу блоков — и размещает их в оперативной памяти, чтобы последующие операции выполнялись быстрее.</a:t>
            </a:r>
          </a:p>
          <a:p>
            <a:r>
              <a:rPr lang="ru-RU" dirty="0"/>
              <a:t>После завершения работы вызывается </a:t>
            </a:r>
            <a:r>
              <a:rPr lang="ru-RU" b="1" dirty="0" err="1"/>
              <a:t>Close</a:t>
            </a:r>
            <a:r>
              <a:rPr lang="ru-RU" dirty="0"/>
              <a:t>. Это освобождает ресурсы и гарантирует, что последний блок данных будет записан на диск, даже если он неполный.</a:t>
            </a:r>
          </a:p>
          <a:p>
            <a:r>
              <a:rPr lang="ru-RU" dirty="0"/>
              <a:t>Многие ОС ограничивают количество одновременно открытых файлов, что стимулирует разработчиков не забывать закрывать файлы.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746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err="1"/>
              <a:t>Read</a:t>
            </a:r>
            <a:r>
              <a:rPr lang="ru-RU" dirty="0"/>
              <a:t> — читает данные из файла в буфер программы.</a:t>
            </a:r>
          </a:p>
          <a:p>
            <a:r>
              <a:rPr lang="ru-RU" b="1" dirty="0" err="1"/>
              <a:t>Write</a:t>
            </a:r>
            <a:r>
              <a:rPr lang="ru-RU" dirty="0"/>
              <a:t> — записывает данные. Если текущая позиция находится в середине файла, данные будут перезаписаны — прежнее содержимое теряется навсегда. Если позиция стоит на конце файла, файл увеличится.</a:t>
            </a:r>
          </a:p>
          <a:p>
            <a:r>
              <a:rPr lang="ru-RU" b="1" dirty="0" err="1"/>
              <a:t>Append</a:t>
            </a:r>
            <a:r>
              <a:rPr lang="ru-RU" dirty="0"/>
              <a:t> позволяет добавлять данные только в конец файла. Такой вызов удобен для логов или журналов, где важно не перезаписывать старую информацию.</a:t>
            </a:r>
          </a:p>
          <a:p>
            <a:r>
              <a:rPr lang="ru-RU" dirty="0"/>
              <a:t>Некоторые системы не имеют отдельного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append</a:t>
            </a:r>
            <a:r>
              <a:rPr lang="ru-RU" dirty="0"/>
              <a:t>, потому что его можно реализовать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336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Операция </a:t>
            </a:r>
            <a:r>
              <a:rPr lang="ru-RU" b="1" dirty="0" err="1"/>
              <a:t>seek</a:t>
            </a:r>
            <a:r>
              <a:rPr lang="ru-RU" dirty="0"/>
              <a:t> — основа произвольного доступа к файлу.</a:t>
            </a:r>
          </a:p>
          <a:p>
            <a:r>
              <a:rPr lang="ru-RU" dirty="0"/>
              <a:t>Она позволяет указать, откуда продолжать чтение или запись. После её выполнения файл ведёт себя как при обычном последовательном доступе, но начинается работа с новой позиции.</a:t>
            </a:r>
          </a:p>
          <a:p>
            <a:r>
              <a:rPr lang="ru-RU" dirty="0"/>
              <a:t>Благодаря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</a:t>
            </a:r>
            <a:r>
              <a:rPr lang="ru-RU" dirty="0"/>
              <a:t> программы могут быстро находить нужные записи — например, в базе данных или большом журнале.</a:t>
            </a:r>
          </a:p>
          <a:p>
            <a:r>
              <a:rPr lang="ru-RU" dirty="0"/>
              <a:t>В UNIX и Windows 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seek</a:t>
            </a:r>
            <a:r>
              <a:rPr lang="ru-RU" dirty="0"/>
              <a:t> обеспечивает мощный и гибкий доступ к файлам.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720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Многие программы используют атрибуты файлов для принятия решений.</a:t>
            </a:r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</a:t>
            </a:r>
            <a:r>
              <a:rPr lang="ru-RU" dirty="0"/>
              <a:t> проверяет: если код изменён позже, чем объектный файл, нужно перекомпилировать программу. Для этого он использует вызов </a:t>
            </a:r>
            <a:r>
              <a:rPr lang="ru-RU" b="1" dirty="0"/>
              <a:t>Get </a:t>
            </a:r>
            <a:r>
              <a:rPr lang="ru-RU" b="1" dirty="0" err="1"/>
              <a:t>attributes</a:t>
            </a:r>
            <a:r>
              <a:rPr lang="ru-RU" dirty="0"/>
              <a:t>.</a:t>
            </a:r>
          </a:p>
          <a:p>
            <a:r>
              <a:rPr lang="ru-RU" dirty="0"/>
              <a:t>Другие атрибуты — например, права доступа — могут быть изменены пользователем с помощью </a:t>
            </a:r>
            <a:r>
              <a:rPr lang="ru-RU" b="1" dirty="0" err="1"/>
              <a:t>Set</a:t>
            </a:r>
            <a:r>
              <a:rPr lang="ru-RU" b="1" dirty="0"/>
              <a:t> </a:t>
            </a:r>
            <a:r>
              <a:rPr lang="ru-RU" b="1" dirty="0" err="1"/>
              <a:t>attributes</a:t>
            </a:r>
            <a:r>
              <a:rPr lang="ru-RU" dirty="0"/>
              <a:t>.</a:t>
            </a:r>
          </a:p>
          <a:p>
            <a:r>
              <a:rPr lang="ru-RU" dirty="0"/>
              <a:t>Это ключевой элемент управления безопасностью и организацией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523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Вызов </a:t>
            </a:r>
            <a:r>
              <a:rPr lang="ru-RU" b="1" dirty="0" err="1"/>
              <a:t>Rename</a:t>
            </a:r>
            <a:r>
              <a:rPr lang="ru-RU" dirty="0"/>
              <a:t> переименовывает файл, не перемещая и не копируя его содержимое.</a:t>
            </a:r>
          </a:p>
          <a:p>
            <a:r>
              <a:rPr lang="ru-RU" dirty="0"/>
              <a:t>Внутри операционной системы это просто изменение записи в каталоге.</a:t>
            </a:r>
          </a:p>
          <a:p>
            <a:r>
              <a:rPr lang="ru-RU" dirty="0"/>
              <a:t>В противном случае, чтобы переименовать 50-гигабайтный файл, пришлось бы скопировать его в новый файл и удалить старый — это заняло бы огромное количество времени.</a:t>
            </a:r>
          </a:p>
          <a:p>
            <a:r>
              <a:rPr lang="ru-RU" dirty="0"/>
              <a:t>Поэтому отдельный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rename</a:t>
            </a:r>
            <a:r>
              <a:rPr lang="ru-RU" dirty="0"/>
              <a:t> — обязательная часть любой современной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570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Программа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copyfile</a:t>
            </a:r>
            <a:r>
              <a:rPr lang="ru-RU" dirty="0"/>
              <a:t> получает два аргумента командной строки: имя исходного файла и имя файла назначения. Она открывает первый файл для чтения, создаёт второй для записи, затем в цикле читает фрагменты по 4096 байт и записывает их в выходной файл.</a:t>
            </a:r>
          </a:p>
          <a:p>
            <a:r>
              <a:rPr lang="ru-RU" dirty="0"/>
              <a:t>Ключевые элементы программы: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открывает файл и возвращает файловый дескриптор;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создаёт файл и задаёт режим защиты;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количество реально прочитанных байтов;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записывает эти байты в выходной файл;</a:t>
            </a:r>
          </a:p>
          <a:p>
            <a:r>
              <a:rPr lang="ru-RU" dirty="0"/>
              <a:t>цикл завершается, когда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0 (достигнут конец файла);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закрывает оба файла;</a:t>
            </a:r>
          </a:p>
          <a:p>
            <a:r>
              <a:rPr lang="ru-RU" dirty="0"/>
              <a:t>завершение с кодом 0 означает успех.</a:t>
            </a:r>
          </a:p>
          <a:p>
            <a:r>
              <a:rPr lang="ru-RU" dirty="0"/>
              <a:t>Этот пример демонстрирует, как программы взаимодействуют с файловой системой на низком уровне.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949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Каталог — это файл, который содержит записи о других файлах.</a:t>
            </a:r>
          </a:p>
          <a:p>
            <a:r>
              <a:rPr lang="ru-RU" dirty="0"/>
              <a:t>Его задача — организовать хранение данных так, чтобы пользователь мог легко находить, создавать и удалять файлы.</a:t>
            </a:r>
          </a:p>
          <a:p>
            <a:r>
              <a:rPr lang="ru-RU" dirty="0"/>
              <a:t>Каталог содержит имена файлов и ссылки на их атрибуты, такие как права, размеры и место на диске.</a:t>
            </a:r>
          </a:p>
          <a:p>
            <a:r>
              <a:rPr lang="ru-RU" dirty="0"/>
              <a:t>Все современные файловые системы используют каталоги, причём каталоги сами являются файлами — просто особого типа.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709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Самая простая форма организации — это система, где есть </a:t>
            </a:r>
            <a:r>
              <a:rPr lang="ru-RU" b="1" dirty="0"/>
              <a:t>только один каталог</a:t>
            </a:r>
            <a:r>
              <a:rPr lang="ru-RU" dirty="0"/>
              <a:t>.</a:t>
            </a:r>
          </a:p>
          <a:p>
            <a:r>
              <a:rPr lang="ru-RU" dirty="0"/>
              <a:t>Все файлы помещаются в него, имена обязательно уникальны, никаких подкаталогов нет.</a:t>
            </a:r>
          </a:p>
          <a:p>
            <a:r>
              <a:rPr lang="ru-RU" dirty="0"/>
              <a:t>Такое решение встречалось на ранних персональных компьютерах и даже на суперкомпьютере CDC 6600.</a:t>
            </a:r>
          </a:p>
          <a:p>
            <a:r>
              <a:rPr lang="ru-RU" dirty="0"/>
              <a:t>Несмотря на примитивность, у него есть достоинства: оно простое и очень быстрое — искать файл можно только в одном месте.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91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Такое устройство каталогов имеет очевидные преимущества — прежде всего простоту.</a:t>
            </a:r>
          </a:p>
          <a:p>
            <a:r>
              <a:rPr lang="ru-RU" dirty="0"/>
              <a:t>Оно идеально подходит для устройств с минимальными ресурсами: там, где нет многопользовательских сценариев, нет сложных структур данных, и файлов мало.</a:t>
            </a:r>
          </a:p>
          <a:p>
            <a:r>
              <a:rPr lang="ru-RU" dirty="0"/>
              <a:t>Однако при увеличении числа файлов возникают проблемы: отсутствие группировки, невозможность создавать подкаталоги, невозможность двух пользователей иметь файлы с одинаковыми именами.</a:t>
            </a:r>
          </a:p>
          <a:p>
            <a:r>
              <a:rPr lang="ru-RU" dirty="0"/>
              <a:t>Поэтому в современных ОС одноуровневые каталоги не применяются, но в маленьких встроенных системах — очень даже.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649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Автор подчёркивает интересный исторический цикл: идеи, от которых отказываются в больших системах, через годы возвращаются в маленьких устройствах.</a:t>
            </a:r>
          </a:p>
          <a:p>
            <a:r>
              <a:rPr lang="ru-RU" dirty="0"/>
              <a:t>Одноуровневый каталог — отличный пример. Он был слишком прост для современных компьютеров, но идеально подходит для микроконтроллеров, RFID-чипов или цифровых камер.</a:t>
            </a:r>
          </a:p>
          <a:p>
            <a:r>
              <a:rPr lang="ru-RU" dirty="0"/>
              <a:t>В таких устройствах нет сложных требований, нет многопользовательского режима, файлов мало — и простота становится преимуществом.</a:t>
            </a:r>
          </a:p>
          <a:p>
            <a:r>
              <a:rPr lang="ru-RU" dirty="0"/>
              <a:t>Поэтому, когда вы видите что-то «устаревшее» — подумайте, где это может оказаться полезным сегодня.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09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Одноуровневая система каталогов — слишком примитивна для реальной работы.</a:t>
            </a:r>
          </a:p>
          <a:p>
            <a:r>
              <a:rPr lang="ru-RU" dirty="0"/>
              <a:t>Современные пользователи хранят тысячи файлов: документы, проекты, программы, фотографии, архивы. Если бы все они лежали в одном списке, найти нужный было бы практически невозможно.</a:t>
            </a:r>
          </a:p>
          <a:p>
            <a:r>
              <a:rPr lang="ru-RU" dirty="0"/>
              <a:t>Поэтому используется иерархическая структура — дерево каталогов. Она позволяет группировать файлы по тематике, проектам или владельцам и обеспечивает порядок в большой файловой системе.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394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многопользовательских системах файловая система используется сразу многими людьми.</a:t>
            </a:r>
          </a:p>
          <a:p>
            <a:r>
              <a:rPr lang="ru-RU" dirty="0"/>
              <a:t>Чтобы разделить их данные, каждому создаётся собственный </a:t>
            </a:r>
            <a:r>
              <a:rPr lang="ru-RU" b="1" dirty="0"/>
              <a:t>домашний каталог</a:t>
            </a:r>
            <a:r>
              <a:rPr lang="ru-RU" dirty="0"/>
              <a:t>, который служит корнем его личной иерархии.</a:t>
            </a:r>
          </a:p>
          <a:p>
            <a:r>
              <a:rPr lang="ru-RU" dirty="0"/>
              <a:t>Внутри него пользователь может организовать файлы так, как считает нужным: создавать папки под отдельные проекты, архивы, документы и т. д.</a:t>
            </a:r>
          </a:p>
          <a:p>
            <a:r>
              <a:rPr lang="ru-RU" dirty="0"/>
              <a:t>Это не только удобно, но и обеспечивает безопасность — пользователи не мешают друг другу.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146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Главные преимущества иерархических каталогов — гибкость и масштабируемость.</a:t>
            </a:r>
          </a:p>
          <a:p>
            <a:r>
              <a:rPr lang="ru-RU" dirty="0"/>
              <a:t>Пользователь может создать сколь угодно глубокое дерево, отражающее структуру его работы. Например, каталог курса → лабораторные → по неделям → по студентам.</a:t>
            </a:r>
          </a:p>
          <a:p>
            <a:r>
              <a:rPr lang="ru-RU" dirty="0"/>
              <a:t>Такая модель хорошо соответствует реальной организации информации и значительно упрощает навигацию.</a:t>
            </a:r>
          </a:p>
          <a:p>
            <a:r>
              <a:rPr lang="ru-RU" dirty="0"/>
              <a:t>Именно поэтому все современные операционные системы — от Linux до Windows и </a:t>
            </a:r>
            <a:r>
              <a:rPr lang="ru-RU" dirty="0" err="1"/>
              <a:t>macOS</a:t>
            </a:r>
            <a:r>
              <a:rPr lang="ru-RU" dirty="0"/>
              <a:t> — используют иерархические каталоги.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513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Интересно, что идея иерархических каталогов не возникла сразу.</a:t>
            </a:r>
          </a:p>
          <a:p>
            <a:r>
              <a:rPr lang="ru-RU" dirty="0"/>
              <a:t>Она появилась в системе </a:t>
            </a:r>
            <a:r>
              <a:rPr lang="ru-RU" b="1" dirty="0" err="1"/>
              <a:t>Multics</a:t>
            </a:r>
            <a:r>
              <a:rPr lang="ru-RU" dirty="0"/>
              <a:t> — уникальной и очень передовой ОС 1960-х годов, от которой позже пошёл UNIX.</a:t>
            </a:r>
          </a:p>
          <a:p>
            <a:r>
              <a:rPr lang="ru-RU" dirty="0"/>
              <a:t>Многие идеи </a:t>
            </a:r>
            <a:r>
              <a:rPr lang="ru-RU" dirty="0" err="1"/>
              <a:t>Multics</a:t>
            </a:r>
            <a:r>
              <a:rPr lang="ru-RU" dirty="0"/>
              <a:t> стали стандартом, включая дерево каталогов.</a:t>
            </a:r>
          </a:p>
          <a:p>
            <a:r>
              <a:rPr lang="ru-RU" dirty="0"/>
              <a:t>Сегодня трудно представить файловую систему без иерархии — это настолько привычно, что кажется само собой разумеющимся. Но когда-то это была революция в организации данных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852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иерархии каталогов важно уметь точно указать, где находится файл.</a:t>
            </a:r>
          </a:p>
          <a:p>
            <a:r>
              <a:rPr lang="ru-RU" dirty="0"/>
              <a:t>Для этого используются два типа путей: абсолютные и относительные.</a:t>
            </a:r>
          </a:p>
          <a:p>
            <a:r>
              <a:rPr lang="ru-RU" dirty="0"/>
              <a:t>Абсолютный путь всегда начинается от корня и однозначно определяет местоположение.</a:t>
            </a:r>
          </a:p>
          <a:p>
            <a:r>
              <a:rPr lang="ru-RU" dirty="0"/>
              <a:t>Относительный — интерпретируется относительно текущего рабочего каталога процесса.</a:t>
            </a:r>
          </a:p>
          <a:p>
            <a:r>
              <a:rPr lang="ru-RU" dirty="0"/>
              <a:t>В реальной работе оба варианта активно используются.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30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Абсолютный путь — это полный маршрут от корневого каталога до файла.</a:t>
            </a:r>
          </a:p>
          <a:p>
            <a:r>
              <a:rPr lang="ru-RU" dirty="0"/>
              <a:t>В UNIX используется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, в Windows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ru-RU" dirty="0"/>
              <a:t>, в MULTICS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</a:p>
          <a:p>
            <a:r>
              <a:rPr lang="ru-RU" dirty="0"/>
              <a:t>Абсолютные пути хороши тем, что не зависят от текущего каталога. Они всегда приводят к одному и тому же файлу.</a:t>
            </a:r>
          </a:p>
          <a:p>
            <a:r>
              <a:rPr lang="ru-RU" dirty="0"/>
              <a:t>Поэтому программы, которым нужно гарантированно получить доступ к определённому файлу, обязаны использовать абсолютные пути.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334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Относительные пути не начинаются с разделителя.</a:t>
            </a:r>
          </a:p>
          <a:p>
            <a:r>
              <a:rPr lang="ru-RU" dirty="0"/>
              <a:t>Они интерпретируются относительно </a:t>
            </a:r>
            <a:r>
              <a:rPr lang="ru-RU" b="1" dirty="0"/>
              <a:t>рабочего каталога</a:t>
            </a:r>
            <a:r>
              <a:rPr lang="ru-RU" dirty="0"/>
              <a:t>, который есть у каждого процесса.</a:t>
            </a:r>
          </a:p>
          <a:p>
            <a:r>
              <a:rPr lang="ru-RU" dirty="0"/>
              <a:t>Например, если рабочий каталог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user1</a:t>
            </a:r>
            <a:r>
              <a:rPr lang="ru-RU" dirty="0"/>
              <a:t>, то имя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</a:t>
            </a:r>
            <a:r>
              <a:rPr lang="ru-RU" dirty="0"/>
              <a:t> эквивалентно полному пути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user1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</a:t>
            </a:r>
            <a:r>
              <a:rPr lang="ru-RU" dirty="0"/>
              <a:t>.</a:t>
            </a:r>
          </a:p>
          <a:p>
            <a:r>
              <a:rPr lang="ru-RU" dirty="0"/>
              <a:t>Пользователю намного удобнее работать с короткими относительными путями.</a:t>
            </a:r>
          </a:p>
          <a:p>
            <a:r>
              <a:rPr lang="ru-RU" dirty="0"/>
              <a:t>Однако программы должны быть осторожны: если рабочий каталог неизвестен, лучше использовать абсолютный путь.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212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примере видно, как работает относительный путь.</a:t>
            </a:r>
          </a:p>
          <a:p>
            <a:r>
              <a:rPr lang="ru-RU" dirty="0"/>
              <a:t>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user1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user1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mailbox.bak</a:t>
            </a:r>
            <a:r>
              <a:rPr lang="ru-RU" dirty="0"/>
              <a:t> использует абсолютные пути.</a:t>
            </a:r>
          </a:p>
          <a:p>
            <a:r>
              <a:rPr lang="ru-RU" dirty="0"/>
              <a:t>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mailbox.bak</a:t>
            </a:r>
            <a:r>
              <a:rPr lang="ru-RU" dirty="0"/>
              <a:t> делает то же самое, потому что файл находится в текущем каталоге.</a:t>
            </a:r>
          </a:p>
          <a:p>
            <a:r>
              <a:rPr lang="ru-RU" dirty="0"/>
              <a:t>Это показывает, что относительные пути — всего лишь удобное сокращение.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760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некоторых ситуациях относительные пути неприемлемы.</a:t>
            </a:r>
          </a:p>
          <a:p>
            <a:r>
              <a:rPr lang="ru-RU" dirty="0"/>
              <a:t>Например, программа проверки орфографии должна всегда открывать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dictionary</a:t>
            </a:r>
            <a:r>
              <a:rPr lang="ru-RU" dirty="0"/>
              <a:t>.</a:t>
            </a:r>
          </a:p>
          <a:p>
            <a:r>
              <a:rPr lang="ru-RU" dirty="0"/>
              <a:t>Она не может полагаться на то, в каком каталоге её запустил пользователь.</a:t>
            </a:r>
          </a:p>
          <a:p>
            <a:r>
              <a:rPr lang="ru-RU" dirty="0"/>
              <a:t>Абсолютные пути дают гарантированный результат и позволяют избежать ошибок.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729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Каждый процесс имеет свой собственный рабочий каталог и может менять его.</a:t>
            </a:r>
          </a:p>
          <a:p>
            <a:r>
              <a:rPr lang="ru-RU" dirty="0"/>
              <a:t>Это изменение локально — оно не влияет на другие процессы.</a:t>
            </a:r>
          </a:p>
          <a:p>
            <a:r>
              <a:rPr lang="ru-RU" dirty="0"/>
              <a:t>Однако библиотечные функции избегают изменения каталога, потому что это может нарушить работу остальной программы.</a:t>
            </a:r>
          </a:p>
          <a:p>
            <a:r>
              <a:rPr lang="ru-RU" dirty="0"/>
              <a:t>Если им всё же приходится делать это, они обязаны вернуть каталог обратно.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5250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любом каталоге существуют два специальных элемента: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</a:t>
            </a:r>
            <a:r>
              <a:rPr lang="ru-RU" dirty="0"/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 означает текущий каталог,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</a:t>
            </a:r>
            <a:r>
              <a:rPr lang="ru-RU" dirty="0"/>
              <a:t> — его родителя.</a:t>
            </a:r>
          </a:p>
          <a:p>
            <a:r>
              <a:rPr lang="ru-RU" dirty="0"/>
              <a:t>Эти обозначения позволяют легко перемещаться по дереву каталогов, не вводя длинные пути.</a:t>
            </a:r>
          </a:p>
          <a:p>
            <a:r>
              <a:rPr lang="ru-RU" dirty="0"/>
              <a:t>Например: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../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dictionary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</a:t>
            </a:r>
            <a:br>
              <a:rPr lang="ru-RU" dirty="0"/>
            </a:br>
            <a:r>
              <a:rPr lang="ru-RU" dirty="0"/>
              <a:t>копирует файл из соседнего каталога в текущий.</a:t>
            </a:r>
          </a:p>
          <a:p>
            <a:r>
              <a:rPr lang="ru-RU" dirty="0"/>
              <a:t>Это удобный и мощный механизм, который используют все UNIX-подобные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488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Каталоги — это ключевой элемент файловой системы, и операционная система предоставляет специальные вызовы для управления ими.</a:t>
            </a:r>
          </a:p>
          <a:p>
            <a:r>
              <a:rPr lang="ru-RU" dirty="0"/>
              <a:t>Большинство операций напоминают работу с обычными файлами: каталоги тоже можно открывать, читать, закрывать и переименовывать.</a:t>
            </a:r>
          </a:p>
          <a:p>
            <a:r>
              <a:rPr lang="ru-RU" dirty="0"/>
              <a:t>Есть и особые операции — например, создание жёстких ссылок или удаление записи каталога. Эти механизмы определяют, как файлы появляются в каталоге, как исчезают и как могут иметь несколько имён.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0508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Команда или системный вызов </a:t>
            </a:r>
            <a:r>
              <a:rPr lang="ru-RU" b="1" dirty="0" err="1"/>
              <a:t>mkdir</a:t>
            </a:r>
            <a:r>
              <a:rPr lang="ru-RU" dirty="0"/>
              <a:t> создаёт каталог, который по умолчанию содержит два элемента: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 — сам каталог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</a:t>
            </a:r>
            <a:r>
              <a:rPr lang="ru-RU" dirty="0"/>
              <a:t> — ссылку на родителя.</a:t>
            </a:r>
          </a:p>
          <a:p>
            <a:r>
              <a:rPr lang="ru-RU" dirty="0"/>
              <a:t>Удаление каталога возможно только тогда, когда он пуст — то есть содержит только эти две специальные записи. Это предотвращает случайное удаление данных.</a:t>
            </a:r>
          </a:p>
          <a:p>
            <a:r>
              <a:rPr lang="ru-RU" dirty="0"/>
              <a:t>Такой подход обеспечивает целостность структуры файловой системы.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872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прочитать содержимое каталога, его необходимо открыть с помощью </a:t>
            </a:r>
            <a:r>
              <a:rPr lang="ru-RU" b="1" dirty="0" err="1"/>
              <a:t>opendir</a:t>
            </a:r>
            <a:r>
              <a:rPr lang="ru-RU" dirty="0"/>
              <a:t>.</a:t>
            </a:r>
          </a:p>
          <a:p>
            <a:r>
              <a:rPr lang="ru-RU" dirty="0"/>
              <a:t>В цикле вызывается </a:t>
            </a:r>
            <a:r>
              <a:rPr lang="ru-RU" b="1" dirty="0" err="1"/>
              <a:t>readdir</a:t>
            </a:r>
            <a:r>
              <a:rPr lang="ru-RU" dirty="0"/>
              <a:t>, который возвращает по одной записи — имя файла или подкаталога.</a:t>
            </a:r>
          </a:p>
          <a:p>
            <a:r>
              <a:rPr lang="ru-RU" dirty="0"/>
              <a:t>Так работает, например, команда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ru-RU" dirty="0"/>
              <a:t>.</a:t>
            </a:r>
          </a:p>
          <a:p>
            <a:r>
              <a:rPr lang="ru-RU" dirty="0"/>
              <a:t>Раньше было возможно читать каталоги обычным вызовом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dirty="0"/>
              <a:t>, но это требовало знания внутреннего формата каталога — а он различается между файловыми системами.</a:t>
            </a:r>
          </a:p>
          <a:p>
            <a:r>
              <a:rPr lang="ru-RU" dirty="0"/>
              <a:t>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readdir</a:t>
            </a:r>
            <a:r>
              <a:rPr lang="ru-RU" dirty="0"/>
              <a:t> делает интерфейс унифицированным и защищает программы от несовместимостей.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169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Операция </a:t>
            </a:r>
            <a:r>
              <a:rPr lang="ru-RU" b="1" dirty="0" err="1"/>
              <a:t>rename</a:t>
            </a:r>
            <a:r>
              <a:rPr lang="ru-RU" dirty="0"/>
              <a:t> для каталога работает точно так же, как для файла.</a:t>
            </a:r>
          </a:p>
          <a:p>
            <a:r>
              <a:rPr lang="ru-RU" dirty="0"/>
              <a:t>Каталог остаётся тем же, меняется только имя в списке его родителя.</a:t>
            </a:r>
          </a:p>
          <a:p>
            <a:r>
              <a:rPr lang="ru-RU" dirty="0"/>
              <a:t>Это дёшево и эффективно: каталоги не копируются и не перемещаются физически, меняется только запись в структуре каталога.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144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Жёсткая ссылка — это дополнительное имя для существующего файла.</a:t>
            </a:r>
          </a:p>
          <a:p>
            <a:r>
              <a:rPr lang="ru-RU" dirty="0"/>
              <a:t>Запись в каталоге указывает на тот же </a:t>
            </a:r>
            <a:r>
              <a:rPr lang="ru-RU" dirty="0" err="1"/>
              <a:t>inode</a:t>
            </a:r>
            <a:r>
              <a:rPr lang="ru-RU" dirty="0"/>
              <a:t>, что и исходный файл.</a:t>
            </a:r>
          </a:p>
          <a:p>
            <a:r>
              <a:rPr lang="ru-RU" dirty="0" err="1"/>
              <a:t>inode</a:t>
            </a:r>
            <a:r>
              <a:rPr lang="ru-RU" dirty="0"/>
              <a:t> содержит счётчик ссылок: пока он больше нуля, файл существует.</a:t>
            </a:r>
          </a:p>
          <a:p>
            <a:r>
              <a:rPr lang="ru-RU" dirty="0"/>
              <a:t>Такой механизм делает хранение эффективным: данные не копируются.</a:t>
            </a:r>
          </a:p>
          <a:p>
            <a:r>
              <a:rPr lang="ru-RU" dirty="0"/>
              <a:t>Есть ограничения: жёсткие ссылки работают только внутри одного диска, и в UNIX нельзя делать 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link</a:t>
            </a:r>
            <a:r>
              <a:rPr lang="ru-RU" dirty="0"/>
              <a:t> на каталоги, чтобы избежать циклов в дереве.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718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Вызов </a:t>
            </a:r>
            <a:r>
              <a:rPr lang="ru-RU" b="1" dirty="0" err="1"/>
              <a:t>unlink</a:t>
            </a:r>
            <a:r>
              <a:rPr lang="ru-RU" dirty="0"/>
              <a:t> удаляет запись каталога.</a:t>
            </a:r>
          </a:p>
          <a:p>
            <a:r>
              <a:rPr lang="ru-RU" dirty="0"/>
              <a:t>Если это была единственная ссылка на файл, система удаляет и </a:t>
            </a:r>
            <a:r>
              <a:rPr lang="ru-RU" dirty="0" err="1"/>
              <a:t>inode</a:t>
            </a:r>
            <a:r>
              <a:rPr lang="ru-RU" dirty="0"/>
              <a:t>, и данные.</a:t>
            </a:r>
          </a:p>
          <a:p>
            <a:r>
              <a:rPr lang="ru-RU" dirty="0"/>
              <a:t>Если ссылок несколько, файл остаётся доступным через другие имена.</a:t>
            </a:r>
          </a:p>
          <a:p>
            <a:r>
              <a:rPr lang="ru-RU" dirty="0"/>
              <a:t>Это отличается от удаления в Windows, где файл удаляется целиком и всегда.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7624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нами демонстрация того, как работают </a:t>
            </a:r>
            <a:r>
              <a:rPr lang="ru-RU" b="1" dirty="0"/>
              <a:t>жёсткие ссылки (</a:t>
            </a:r>
            <a:r>
              <a:rPr lang="ru-RU" b="1" dirty="0" err="1"/>
              <a:t>hard</a:t>
            </a:r>
            <a:r>
              <a:rPr lang="ru-RU" b="1" dirty="0"/>
              <a:t> </a:t>
            </a:r>
            <a:r>
              <a:rPr lang="ru-RU" b="1" dirty="0" err="1"/>
              <a:t>links</a:t>
            </a:r>
            <a:r>
              <a:rPr lang="ru-RU" b="1" dirty="0"/>
              <a:t>)</a:t>
            </a:r>
            <a:r>
              <a:rPr lang="ru-RU" dirty="0"/>
              <a:t> в файловой системе Linux.</a:t>
            </a:r>
          </a:p>
          <a:p>
            <a:r>
              <a:rPr lang="ru-RU" dirty="0"/>
              <a:t>Сначала командой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</a:t>
            </a:r>
            <a:r>
              <a:rPr lang="ru-RU" dirty="0"/>
              <a:t> мы смотрим содержимое каталога. Видим один файл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file2.txt</a:t>
            </a:r>
            <a:r>
              <a:rPr lang="ru-RU" dirty="0"/>
              <a:t>. В столбце перед именем файла находится число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dirty="0"/>
              <a:t> — это количество жёстких ссылок на данный файл, то есть количество записей в каталогах, указывающих на один и тот же </a:t>
            </a:r>
            <a:r>
              <a:rPr lang="ru-RU" dirty="0" err="1"/>
              <a:t>inode</a:t>
            </a:r>
            <a:r>
              <a:rPr lang="ru-RU" dirty="0"/>
              <a:t>.</a:t>
            </a:r>
          </a:p>
          <a:p>
            <a:r>
              <a:rPr lang="ru-RU" dirty="0"/>
              <a:t>Далее мы создаём жёсткую ссылку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dirty="0"/>
              <a:t>, выполнив команду: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file2.txt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endParaRPr lang="ru-RU" dirty="0"/>
          </a:p>
          <a:p>
            <a:r>
              <a:rPr lang="ru-RU" dirty="0"/>
              <a:t>После этого снова выводим каталог командой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-l</a:t>
            </a:r>
            <a:r>
              <a:rPr lang="ru-RU" dirty="0"/>
              <a:t>. Теперь в списке два файла: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file2.txt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dirty="0"/>
              <a:t>. Обратите внимание, что оба файла имеют </a:t>
            </a:r>
            <a:r>
              <a:rPr lang="ru-RU" b="1" dirty="0"/>
              <a:t>одинаковый размер, дату и права</a:t>
            </a:r>
            <a:r>
              <a:rPr lang="ru-RU" dirty="0"/>
              <a:t>, а главное — </a:t>
            </a:r>
            <a:r>
              <a:rPr lang="ru-RU" b="1" dirty="0"/>
              <a:t>число ссылок изменилось с 1 до 2</a:t>
            </a:r>
            <a:r>
              <a:rPr lang="ru-RU" dirty="0"/>
              <a:t>. Это означает, что оба имени указывают на один и тот же </a:t>
            </a:r>
            <a:r>
              <a:rPr lang="ru-RU" dirty="0" err="1"/>
              <a:t>inode</a:t>
            </a:r>
            <a:r>
              <a:rPr lang="ru-RU" dirty="0"/>
              <a:t>, то есть физически это один файл с двумя разными именами.</a:t>
            </a:r>
          </a:p>
          <a:p>
            <a:r>
              <a:rPr lang="ru-RU" dirty="0"/>
              <a:t>Теперь выполним команду: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unlink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file2.txt</a:t>
            </a:r>
            <a:endParaRPr lang="ru-RU" dirty="0"/>
          </a:p>
          <a:p>
            <a:r>
              <a:rPr lang="ru-RU" dirty="0"/>
              <a:t>Она удаляет только имя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file2.txt</a:t>
            </a:r>
            <a:r>
              <a:rPr lang="ru-RU" dirty="0"/>
              <a:t> из каталога, но не удаляет сам файл, потому что на него осталась ещё одна жёсткая ссылка –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dirty="0"/>
              <a:t>.</a:t>
            </a:r>
          </a:p>
          <a:p>
            <a:r>
              <a:rPr lang="ru-RU" dirty="0"/>
              <a:t>После этого снова смотрим каталог. Теперь видим только файл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</a:t>
            </a:r>
            <a:r>
              <a:rPr lang="ru-RU" dirty="0"/>
              <a:t>, а число ссылок стало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dirty="0"/>
              <a:t>. Это означает, что физически файл всё ещё существует, но у него осталось только одно имя.</a:t>
            </a:r>
          </a:p>
          <a:p>
            <a:r>
              <a:rPr lang="ru-RU" dirty="0"/>
              <a:t>Таким образом, эта демонстрация показывает, что </a:t>
            </a:r>
            <a:r>
              <a:rPr lang="ru-RU" b="1" dirty="0"/>
              <a:t>удаление имени файла не обязательно удаляет сам файл</a:t>
            </a:r>
            <a:r>
              <a:rPr lang="ru-RU" dirty="0"/>
              <a:t>: он исчезает только после удаления последней ссылки на него. Это ключевой принцип работы UNIX-подобных файловых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140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Символическая ссылка — это отдельный файл, в котором хранится путь к другому файлу.</a:t>
            </a:r>
          </a:p>
          <a:p>
            <a:r>
              <a:rPr lang="ru-RU" dirty="0"/>
              <a:t>Когда программа открывает символическую ссылку, файловая система автоматически следует пути и открывает настоящий файл.</a:t>
            </a:r>
          </a:p>
          <a:p>
            <a:r>
              <a:rPr lang="ru-RU" dirty="0"/>
              <a:t>В отличие от жёсткой ссылки, символическая может указывать на файл на другом диске или даже на удалённом сервере.</a:t>
            </a:r>
          </a:p>
          <a:p>
            <a:r>
              <a:rPr lang="ru-RU" dirty="0"/>
              <a:t>Однако она работает чуть медленнее: нужно сначала прочитать путь, а потом открыть целевой файл.</a:t>
            </a:r>
          </a:p>
          <a:p>
            <a:r>
              <a:rPr lang="ru-RU" dirty="0" err="1"/>
              <a:t>Symbolic</a:t>
            </a:r>
            <a:r>
              <a:rPr lang="ru-RU" dirty="0"/>
              <a:t> </a:t>
            </a:r>
            <a:r>
              <a:rPr lang="ru-RU" dirty="0" err="1"/>
              <a:t>links</a:t>
            </a:r>
            <a:r>
              <a:rPr lang="ru-RU" dirty="0"/>
              <a:t> — важный инструмент UNIX-подобных систем: они обеспечивают гибкость, аналогичную ярлыкам Windows.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A3548-F974-4B28-9500-7C27F0838703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94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020B-C7D2-2FAC-91A0-5C8B50189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CB3ED-9BCD-3397-E963-FE6314B7E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132E-94E0-B30C-09B0-2E8AC434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61D43-AC26-DB6B-D707-9FBDFFC1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4F8E8-E822-0BC7-400B-FD2FA63D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B91A4-5BF5-E90A-350F-5D5AE2C4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283E6-9324-7422-8910-F484399CD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AF69-6051-A92E-B3EC-8007BF7D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06E6-436C-69A2-C346-EAB28B17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4D7AE-B7B1-5E4F-87F5-C3BBC06C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7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00E7-38F8-ED7B-43A2-044B6BB2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BB879-E022-B168-3D86-41227E59D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9DC91-E3D6-94A8-8C31-EB21565C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10C20-892E-1379-DE1A-17EEC1A8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D1985-2029-9F68-2C6C-6A36903B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7A80-BF2C-A904-F2F4-AFDDEF24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2C64-00C1-0E04-E4D8-D1E447F39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D6A15-B660-251C-2B3F-8E1CC0673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A0DF5-FE6D-1DF7-585C-680EDE6E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941C9-8A67-CCB3-82AA-1035DA30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8427D-DBED-0D0D-5432-1CF78924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5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DE10B-84BB-CB6A-1A37-7032AE5E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3991F-24EA-A9C5-D754-0A8B863E5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D275A-D3FF-AE5C-830C-F69808182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A5EFE0-6098-1964-FA03-627479406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F5153-C873-F51D-E4D3-3503E7056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594A8-7EEB-DA07-B27E-60184AE1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76B4D-AC05-0D50-596E-6CBFED45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E05C0C-3F89-E616-BC4F-DACBEB14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10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91F4-A401-123A-A9CC-FB65CA0F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600E8-CF17-2248-8185-9F923F12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47E8E-15D2-5B28-04F8-A092881E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C5B4E-32E1-E6E8-9F81-BD35C8F4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6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3664A-C103-76C1-5974-F3D8009AC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B6D61-DAF3-E65B-B2C0-52E9E9C8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8CE12-DFFB-F8CE-BE00-EC1EE0E2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2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DBBF-B095-0B55-D419-C5325FA7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C7C8-E584-F21D-30FE-37DA34E62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80B0F-E3BA-9E36-FE6F-A799B2AC9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BD0F5-3230-7876-132B-589F7ABC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397F6-13BE-DAA0-9541-E8259E9A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87B76-A972-C908-2884-4C99004F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8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AA4A-CCC4-BBDF-B71D-05FB2C09F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D07F8-9F4E-955B-FEFD-E738A5549A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F18AE-5625-A2BA-CCAB-A44F7F537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731F7-B0EE-73A8-FA1F-4B5313C9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C2C36-1B81-C57D-6674-69A81B5D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478C6-5F61-C182-819F-EB4B65FC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0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C9C4-B4BA-4DA8-B7CC-695820F4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5F878-4143-DB0D-9CCD-0E5239FE4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C1BF3-E81C-7619-0F27-DA95921D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FE882-C968-4592-95C6-EB211722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FCDF-81F0-38E5-1C48-7EDCA8036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3ECB0-D789-24ED-AD7D-E2400774F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0EB49-D8CE-DBF6-6372-B5F5282F5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B9536-B30F-02CC-F5F3-C962FA07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CEC74-CE7B-9468-4AA8-F8BBF94B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83024-2605-AE5D-7AE4-9BB7E701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5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9CAA5-ABCC-3D1D-55DB-ADB2DDD8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F9AE-2B97-3C6E-3EB0-258951D82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497C7-C8D5-C870-5C2D-44A2C6F2E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C64EA-184C-4C83-8202-F93067E264F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39EB-0F68-091F-F82B-7DDA0249F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2D456-6DFD-D76B-25D7-9933EB8D1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889AB-A5F7-4E11-AF8C-0883BB2D9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NTF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u.wikipedia.org/wiki/ExFAT" TargetMode="External"/><Relationship Id="rId4" Type="http://schemas.openxmlformats.org/officeDocument/2006/relationships/hyperlink" Target="https://ru.wikipedia.org/wiki/ReFS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F566-3310-2689-76D0-332DBDEE27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Операционные системы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D7AC3-90FC-6C13-8B7B-14640FF7D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13. Файловые система. Часть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62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B2948C-CEFD-3D5B-3BE1-C694B928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97" y="2382839"/>
            <a:ext cx="11810606" cy="148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85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804E-5FA8-576D-F316-7A8183E1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Необходимость файловых систем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CBF08-BF36-BD35-AFC9-4F130404B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Приложения должны хранить и обрабатывать большие объёмы данных, однако ОЗУ слишком малом и теряет данные при завершении процесса</a:t>
            </a:r>
          </a:p>
          <a:p>
            <a:r>
              <a:rPr lang="ru-RU" dirty="0"/>
              <a:t>Данные должны сохраняться даже после сбоев и выключения питания</a:t>
            </a:r>
          </a:p>
          <a:p>
            <a:r>
              <a:rPr lang="ru-RU" dirty="0"/>
              <a:t>Несколько процессов должны иметь доступ к одной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3764874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46C3-F6A3-B400-9292-8F099D09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Устройства для долговременного хранения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80BB6-6D77-39CE-A20D-71E9958F5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носители: жёсткие диски и SSD</a:t>
            </a:r>
          </a:p>
          <a:p>
            <a:pPr lvl="1"/>
            <a:r>
              <a:rPr lang="ru-RU" dirty="0"/>
              <a:t>SSD — быстрые, без подвижных частей, но тоже "дисковые" по интерфейсу</a:t>
            </a:r>
          </a:p>
          <a:p>
            <a:r>
              <a:rPr lang="ru-RU" dirty="0"/>
              <a:t>Операции:</a:t>
            </a:r>
          </a:p>
          <a:p>
            <a:pPr lvl="1"/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block</a:t>
            </a:r>
            <a:r>
              <a:rPr lang="ru-RU" dirty="0"/>
              <a:t> k</a:t>
            </a:r>
          </a:p>
          <a:p>
            <a:pPr lvl="1"/>
            <a:r>
              <a:rPr lang="ru-RU" dirty="0" err="1"/>
              <a:t>Write</a:t>
            </a:r>
            <a:r>
              <a:rPr lang="ru-RU" dirty="0"/>
              <a:t> </a:t>
            </a:r>
            <a:r>
              <a:rPr lang="ru-RU" dirty="0" err="1"/>
              <a:t>block</a:t>
            </a:r>
            <a:r>
              <a:rPr lang="ru-RU" dirty="0"/>
              <a:t> k</a:t>
            </a:r>
          </a:p>
          <a:p>
            <a:r>
              <a:rPr lang="ru-RU" dirty="0"/>
              <a:t>Недостаток: неудобно для пользователя и многозадачных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98607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1C9C-7FD1-6741-E942-8C0C8E83A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Абстракция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3CF0C-331F-3591-2BD2-1077609C3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 — логическая единица информации, создаваемая процессом и управляемая операционной системой</a:t>
            </a:r>
          </a:p>
          <a:p>
            <a:r>
              <a:rPr lang="ru-RU" dirty="0"/>
              <a:t>Хранит данные независимо от процессов</a:t>
            </a:r>
          </a:p>
          <a:p>
            <a:r>
              <a:rPr lang="ru-RU" dirty="0"/>
              <a:t>Исчезает только по инициативе владельца</a:t>
            </a:r>
          </a:p>
        </p:txBody>
      </p:sp>
    </p:spTree>
    <p:extLst>
      <p:ext uri="{BB962C8B-B14F-4D97-AF65-F5344CB8AC3E}">
        <p14:creationId xmlns:p14="http://schemas.microsoft.com/office/powerpoint/2010/main" val="281854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F3EF-DBFF-314E-742C-59A9956D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Роль файловой 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B27D9-340B-24A5-84FC-402D53C7C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Компонент операционной системы, который управляет структурой, доступом и хранением файлов</a:t>
            </a:r>
          </a:p>
          <a:p>
            <a:r>
              <a:rPr lang="ru-RU" dirty="0"/>
              <a:t>Обеспечивает:</a:t>
            </a:r>
          </a:p>
          <a:p>
            <a:pPr lvl="1"/>
            <a:r>
              <a:rPr lang="ru-RU" dirty="0"/>
              <a:t>Удобный интерфейс для пользователя</a:t>
            </a:r>
          </a:p>
          <a:p>
            <a:pPr lvl="1"/>
            <a:r>
              <a:rPr lang="ru-RU" dirty="0"/>
              <a:t>Безопасность и совместный доступ</a:t>
            </a:r>
          </a:p>
          <a:p>
            <a:r>
              <a:rPr lang="ru-RU" dirty="0"/>
              <a:t>Внутреннее устройство ФС скрыто от пользователей и программ</a:t>
            </a:r>
          </a:p>
        </p:txBody>
      </p:sp>
    </p:spTree>
    <p:extLst>
      <p:ext uri="{BB962C8B-B14F-4D97-AF65-F5344CB8AC3E}">
        <p14:creationId xmlns:p14="http://schemas.microsoft.com/office/powerpoint/2010/main" val="3370425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FD9878-76A8-524D-0470-8F7373032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 с точки зрения пользователя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CD6C33-3028-4643-073B-7AB5F8261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11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7E611E-97B6-866D-E6D2-C3225ED3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файл и зачем нужны имена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6F2EBF-963C-AA19-6BA7-E741B41B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Файл — абстракция для хранения информации на диске</a:t>
            </a:r>
          </a:p>
          <a:p>
            <a:r>
              <a:rPr lang="ru-RU" dirty="0"/>
              <a:t>Скрывает детали физического хранения</a:t>
            </a:r>
          </a:p>
          <a:p>
            <a:r>
              <a:rPr lang="ru-RU" dirty="0"/>
              <a:t>Каждый файл имеет </a:t>
            </a:r>
            <a:r>
              <a:rPr lang="ru-RU" b="1" dirty="0"/>
              <a:t>имя</a:t>
            </a:r>
            <a:r>
              <a:rPr lang="ru-RU" dirty="0"/>
              <a:t>, по которому его находят</a:t>
            </a:r>
          </a:p>
          <a:p>
            <a:r>
              <a:rPr lang="ru-RU" dirty="0"/>
              <a:t>После завершения процесса файл продолжает существовать</a:t>
            </a:r>
          </a:p>
        </p:txBody>
      </p:sp>
    </p:spTree>
    <p:extLst>
      <p:ext uri="{BB962C8B-B14F-4D97-AF65-F5344CB8AC3E}">
        <p14:creationId xmlns:p14="http://schemas.microsoft.com/office/powerpoint/2010/main" val="497551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FE1A-A89E-9A54-B2D6-E2B52D090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именования файлов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6FC6A-0E37-7DEF-FA89-7A623B69F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Имя задаётся пользователем при создании файла</a:t>
            </a:r>
          </a:p>
          <a:p>
            <a:r>
              <a:rPr lang="ru-RU" dirty="0"/>
              <a:t>Современные ОС: до 255 символов (буквы, цифры, спецсимволы)</a:t>
            </a:r>
          </a:p>
          <a:p>
            <a:r>
              <a:rPr lang="ru-RU" dirty="0"/>
              <a:t>Старые системы (MS-DOS): 8 символов + 3 для расширения</a:t>
            </a:r>
          </a:p>
          <a:p>
            <a:r>
              <a:rPr lang="ru-RU" dirty="0"/>
              <a:t>Чувствительность к регистру:</a:t>
            </a:r>
          </a:p>
          <a:p>
            <a:pPr lvl="1"/>
            <a:r>
              <a:rPr lang="ru-RU" dirty="0"/>
              <a:t>UNIX различает имена: </a:t>
            </a:r>
            <a:r>
              <a:rPr lang="ru-RU" dirty="0" err="1"/>
              <a:t>maria</a:t>
            </a:r>
            <a:r>
              <a:rPr lang="ru-RU" dirty="0"/>
              <a:t>, Maria, MARIA – разные файлы</a:t>
            </a:r>
          </a:p>
          <a:p>
            <a:pPr lvl="1"/>
            <a:r>
              <a:rPr lang="ru-RU" dirty="0"/>
              <a:t>MS-DOS — нет</a:t>
            </a:r>
          </a:p>
        </p:txBody>
      </p:sp>
    </p:spTree>
    <p:extLst>
      <p:ext uri="{BB962C8B-B14F-4D97-AF65-F5344CB8AC3E}">
        <p14:creationId xmlns:p14="http://schemas.microsoft.com/office/powerpoint/2010/main" val="242269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D150-1E5F-3C68-5EE1-2C272D4E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Семейство файловых систем Windows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FFB4-75B6-C8C0-DC57-1540A8095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Старые Windows: FAT16, FAT32</a:t>
            </a:r>
          </a:p>
          <a:p>
            <a:r>
              <a:rPr lang="ru-RU" dirty="0"/>
              <a:t>Современные: </a:t>
            </a:r>
            <a:r>
              <a:rPr lang="ru-RU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NTFS</a:t>
            </a:r>
            <a:r>
              <a:rPr lang="ru-RU" dirty="0"/>
              <a:t> (настольные версии), </a:t>
            </a:r>
            <a:r>
              <a:rPr lang="ru-RU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ReFS</a:t>
            </a:r>
            <a:r>
              <a:rPr lang="ru-RU" dirty="0"/>
              <a:t> (серверные версии)</a:t>
            </a:r>
          </a:p>
          <a:p>
            <a:r>
              <a:rPr lang="ru-RU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exFAT</a:t>
            </a:r>
            <a:r>
              <a:rPr lang="ru-RU" dirty="0"/>
              <a:t> — оптимизирован для флешек и больших томов</a:t>
            </a:r>
          </a:p>
          <a:p>
            <a:r>
              <a:rPr lang="ru-RU" dirty="0"/>
              <a:t>FAT-семейство всё ещё поддерживается ради совместимости</a:t>
            </a:r>
          </a:p>
        </p:txBody>
      </p:sp>
    </p:spTree>
    <p:extLst>
      <p:ext uri="{BB962C8B-B14F-4D97-AF65-F5344CB8AC3E}">
        <p14:creationId xmlns:p14="http://schemas.microsoft.com/office/powerpoint/2010/main" val="119282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D28E-9226-FC5E-63CC-69837666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Расширения файлов и их значение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87880-88C4-42C8-CF1C-200AD7C39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Имя часто состоит из двух частей: </a:t>
            </a:r>
            <a:r>
              <a:rPr lang="ru-RU" dirty="0" err="1"/>
              <a:t>имя.расширение</a:t>
            </a:r>
            <a:endParaRPr lang="ru-RU" dirty="0"/>
          </a:p>
          <a:p>
            <a:r>
              <a:rPr lang="ru-RU" dirty="0"/>
              <a:t>Расширение указывает тип содержимого: .</a:t>
            </a:r>
            <a:r>
              <a:rPr lang="ru-RU" dirty="0" err="1"/>
              <a:t>txt</a:t>
            </a:r>
            <a:r>
              <a:rPr lang="ru-RU" dirty="0"/>
              <a:t>, .</a:t>
            </a:r>
            <a:r>
              <a:rPr lang="ru-RU" dirty="0" err="1"/>
              <a:t>jpg</a:t>
            </a:r>
            <a:r>
              <a:rPr lang="ru-RU" dirty="0"/>
              <a:t>, .mp3, .</a:t>
            </a:r>
            <a:r>
              <a:rPr lang="ru-RU" dirty="0" err="1"/>
              <a:t>zip</a:t>
            </a:r>
            <a:r>
              <a:rPr lang="ru-RU" dirty="0"/>
              <a:t> и т.д.</a:t>
            </a:r>
          </a:p>
          <a:p>
            <a:r>
              <a:rPr lang="ru-RU" dirty="0"/>
              <a:t>В UNIX — только соглашение (ОС не проверяет)</a:t>
            </a:r>
          </a:p>
          <a:p>
            <a:r>
              <a:rPr lang="ru-RU" dirty="0"/>
              <a:t>В Windows — важная часть системы: расширение связано с программой, обрабатывающей его</a:t>
            </a:r>
          </a:p>
        </p:txBody>
      </p:sp>
    </p:spTree>
    <p:extLst>
      <p:ext uri="{BB962C8B-B14F-4D97-AF65-F5344CB8AC3E}">
        <p14:creationId xmlns:p14="http://schemas.microsoft.com/office/powerpoint/2010/main" val="4281798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7F08-E235-2570-0697-4BE8BFBC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расширений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1DE247-DBF9-E516-E6AC-03B72D567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628253"/>
              </p:ext>
            </p:extLst>
          </p:nvPr>
        </p:nvGraphicFramePr>
        <p:xfrm>
          <a:off x="838200" y="1825625"/>
          <a:ext cx="10515600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4455">
                  <a:extLst>
                    <a:ext uri="{9D8B030D-6E8A-4147-A177-3AD203B41FA5}">
                      <a16:colId xmlns:a16="http://schemas.microsoft.com/office/drawing/2014/main" val="1910608278"/>
                    </a:ext>
                  </a:extLst>
                </a:gridCol>
                <a:gridCol w="5701145">
                  <a:extLst>
                    <a:ext uri="{9D8B030D-6E8A-4147-A177-3AD203B41FA5}">
                      <a16:colId xmlns:a16="http://schemas.microsoft.com/office/drawing/2014/main" val="3795449646"/>
                    </a:ext>
                  </a:extLst>
                </a:gridCol>
              </a:tblGrid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Расширение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014543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bak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Резервная копия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042784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.c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Исходный код на </a:t>
                      </a:r>
                      <a:r>
                        <a:rPr lang="en-US" sz="1600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813247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.gif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Графический формат </a:t>
                      </a:r>
                      <a:r>
                        <a:rPr lang="en-US" sz="1600" dirty="0"/>
                        <a:t>GIF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11057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.html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Веб-страница </a:t>
                      </a:r>
                      <a:r>
                        <a:rPr lang="en-US" sz="1600" dirty="0"/>
                        <a:t>HTML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447401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.jpg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Изображение </a:t>
                      </a:r>
                      <a:r>
                        <a:rPr lang="en-US" sz="1600" dirty="0"/>
                        <a:t>JPEG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843801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.mp3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Аудио (</a:t>
                      </a:r>
                      <a:r>
                        <a:rPr lang="en-US" sz="1600" dirty="0"/>
                        <a:t>MPEG Layer 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927499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.mpg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Видео (</a:t>
                      </a:r>
                      <a:r>
                        <a:rPr lang="en-US" sz="1600" dirty="0"/>
                        <a:t>MPEG)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967737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.o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Объектный файл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812613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.pdf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Документ </a:t>
                      </a:r>
                      <a:r>
                        <a:rPr lang="en-US" sz="1600" dirty="0"/>
                        <a:t>PDF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604467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ps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Формат </a:t>
                      </a:r>
                      <a:r>
                        <a:rPr lang="en-US" sz="1600" dirty="0"/>
                        <a:t>PostScript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075620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tex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Текст для системы </a:t>
                      </a:r>
                      <a:r>
                        <a:rPr lang="en-US" sz="1600" dirty="0"/>
                        <a:t>TEX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1780676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.txt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Обычный текст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35593"/>
                  </a:ext>
                </a:extLst>
              </a:tr>
              <a:tr h="25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.zip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/>
                        <a:t>Сжатый архив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641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799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F3B5B9-65D2-7954-BAB4-DFB2685D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файла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B0D75-710E-CA8A-B95D-FB08AB748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9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A1D6FF-7049-502C-58C1-EFA90D28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структуры файлов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83A7675-0543-5CA7-8825-ED094BDA2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512224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9053662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860498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12492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структуры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Пример использования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69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Последовательность байтов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Поток байтов без внутренней структуры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UNIX, Windows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06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Последовательность записей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Фиксированные записи одинаковой длины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Старые мэйнфреймы, перфокарты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74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Дерево записей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Записи с ключами, упорядоченные в виде дерева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Коммерческие базы данных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294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8218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D6EE-1D52-40BF-150E-FDD3B8E0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 как последовательность байтов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F120E-C922-FC53-E25A-F21227985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809509" cy="4351338"/>
          </a:xfrm>
        </p:spPr>
        <p:txBody>
          <a:bodyPr/>
          <a:lstStyle/>
          <a:p>
            <a:r>
              <a:rPr lang="ru-RU" dirty="0"/>
              <a:t>ОС не знает, что хранится в файле</a:t>
            </a:r>
          </a:p>
          <a:p>
            <a:r>
              <a:rPr lang="ru-RU" dirty="0"/>
              <a:t>В файле могут храниться любые данные — текст, изображение, программа</a:t>
            </a:r>
          </a:p>
          <a:p>
            <a:r>
              <a:rPr lang="ru-RU" dirty="0"/>
              <a:t>Этот подход даёт максимальную гибкость и широко используется в UNIX, Linux, </a:t>
            </a:r>
            <a:r>
              <a:rPr lang="ru-RU" dirty="0" err="1"/>
              <a:t>macOS</a:t>
            </a:r>
            <a:r>
              <a:rPr lang="ru-RU" dirty="0"/>
              <a:t>, Windows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A9F5FC-0543-D37D-C884-46CE829707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72263" y="1825625"/>
            <a:ext cx="15814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08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EC27-F267-E5BD-3F61-6838BD7D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 как последовательность записей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DBD53-1896-71A5-72A1-613043714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272549" cy="4351338"/>
          </a:xfrm>
        </p:spPr>
        <p:txBody>
          <a:bodyPr>
            <a:normAutofit/>
          </a:bodyPr>
          <a:lstStyle/>
          <a:p>
            <a:r>
              <a:rPr lang="ru-RU" dirty="0"/>
              <a:t>Файлы состоят из фиксированных по длине записей</a:t>
            </a:r>
          </a:p>
          <a:p>
            <a:r>
              <a:rPr lang="ru-RU" dirty="0"/>
              <a:t>Каждая операция чтения/записи работает с одной записью</a:t>
            </a:r>
          </a:p>
          <a:p>
            <a:r>
              <a:rPr lang="ru-RU" dirty="0"/>
              <a:t>Использовалось в эпоху перфокарт (80 символов) и линейных принтеров (132 символа)</a:t>
            </a:r>
          </a:p>
          <a:p>
            <a:r>
              <a:rPr lang="ru-RU" dirty="0"/>
              <a:t>Сейчас практически не используется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403A50-E4CC-84D5-3315-D90559195A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326955" y="1825625"/>
            <a:ext cx="18979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24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9F95-4BDA-E76B-E7CE-304F8B756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Файлы как деревья записей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DE44-1780-F1D4-7D2A-85876D0CF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42954" cy="4351338"/>
          </a:xfrm>
        </p:spPr>
        <p:txBody>
          <a:bodyPr>
            <a:normAutofit/>
          </a:bodyPr>
          <a:lstStyle/>
          <a:p>
            <a:r>
              <a:rPr lang="ru-RU" dirty="0"/>
              <a:t>Записи различной длины</a:t>
            </a:r>
          </a:p>
          <a:p>
            <a:r>
              <a:rPr lang="ru-RU" dirty="0"/>
              <a:t>Каждая запись содержит </a:t>
            </a:r>
            <a:r>
              <a:rPr lang="ru-RU" b="1" dirty="0"/>
              <a:t>ключ</a:t>
            </a:r>
            <a:r>
              <a:rPr lang="ru-RU" dirty="0"/>
              <a:t> для поиска</a:t>
            </a:r>
          </a:p>
          <a:p>
            <a:r>
              <a:rPr lang="ru-RU" dirty="0"/>
              <a:t>Файл организован как </a:t>
            </a:r>
            <a:r>
              <a:rPr lang="ru-RU" b="1" dirty="0"/>
              <a:t>дерево</a:t>
            </a:r>
            <a:r>
              <a:rPr lang="ru-RU" dirty="0"/>
              <a:t>, отсортированное по ключам</a:t>
            </a:r>
          </a:p>
          <a:p>
            <a:r>
              <a:rPr lang="ru-RU" dirty="0"/>
              <a:t>Поддерживает быстрый поиск и вставку</a:t>
            </a:r>
          </a:p>
          <a:p>
            <a:r>
              <a:rPr lang="ru-RU" dirty="0"/>
              <a:t>Используется в коммерческих и банковских системах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EEE000-C3B7-2941-DA53-6559A6A077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15446" y="1825626"/>
            <a:ext cx="4138353" cy="191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31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7D604B-8063-1D85-08B4-6836BD6A2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подходов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3FD506B-A100-2337-8CB5-FBC2E5F81F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2707186"/>
              </p:ext>
            </p:extLst>
          </p:nvPr>
        </p:nvGraphicFramePr>
        <p:xfrm>
          <a:off x="838200" y="1825625"/>
          <a:ext cx="105156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292406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937469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875937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60609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Последовательность байтов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Последовательность записей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Дерево записей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714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Структура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Неструктурированная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Фиксированные записи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Иерархическая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94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Гибкость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Максимальная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00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Скорость поиска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Линейная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 записи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Быстрая (по ключу)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867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 современные ОС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Исторические системы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Коммерческие БД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622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657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B63B8B-C04B-EEA9-01A4-EE0086CE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файлов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96C720-308D-8662-5FE3-37016B01F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59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150868-5F12-2671-C024-AB6C2147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типы файлов в ОС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31963C4-DD27-D631-1AAC-E922F750E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026894"/>
              </p:ext>
            </p:extLst>
          </p:nvPr>
        </p:nvGraphicFramePr>
        <p:xfrm>
          <a:off x="838200" y="1825625"/>
          <a:ext cx="10515597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142">
                  <a:extLst>
                    <a:ext uri="{9D8B030D-6E8A-4147-A177-3AD203B41FA5}">
                      <a16:colId xmlns:a16="http://schemas.microsoft.com/office/drawing/2014/main" val="1710407236"/>
                    </a:ext>
                  </a:extLst>
                </a:gridCol>
                <a:gridCol w="4490256">
                  <a:extLst>
                    <a:ext uri="{9D8B030D-6E8A-4147-A177-3AD203B41FA5}">
                      <a16:colId xmlns:a16="http://schemas.microsoft.com/office/drawing/2014/main" val="36333762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03296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Тип файла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Назначение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Примеры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69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Обычные (</a:t>
                      </a:r>
                      <a:r>
                        <a:rPr lang="en-US" sz="2000" dirty="0"/>
                        <a:t>Regular)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Пользовательские данные и программы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Документы, изображения, исполняемые файлы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069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Каталоги </a:t>
                      </a:r>
                      <a:r>
                        <a:rPr lang="en-US" sz="2000" dirty="0"/>
                        <a:t>(Directories)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Системные файлы, описывающие структуру ФС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/home</a:t>
                      </a:r>
                    </a:p>
                    <a:p>
                      <a:r>
                        <a:rPr lang="en-US" sz="2000" dirty="0"/>
                        <a:t>C:\Users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10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Character special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Последовательные устройства ввода/вывода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Терминалы, принтеры, </a:t>
                      </a:r>
                      <a:r>
                        <a:rPr lang="en-US" sz="2000" dirty="0"/>
                        <a:t>COM-</a:t>
                      </a:r>
                      <a:r>
                        <a:rPr lang="ru-RU" sz="2000" dirty="0"/>
                        <a:t>порты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84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Block special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Блочные устройства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Жесткие диски,</a:t>
                      </a:r>
                      <a:r>
                        <a:rPr lang="en-US" sz="2000" dirty="0"/>
                        <a:t> SSD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884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747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EB90-687E-F1CC-6493-C9A6E9DA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Текстовые и бинарные файлы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4C5A35-D4C1-FFA5-304E-877F17D11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793092"/>
              </p:ext>
            </p:extLst>
          </p:nvPr>
        </p:nvGraphicFramePr>
        <p:xfrm>
          <a:off x="838200" y="1825625"/>
          <a:ext cx="1051560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795665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70597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423365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96420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файла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Формат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Особенности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ASCII (</a:t>
                      </a:r>
                      <a:r>
                        <a:rPr lang="ru-RU" dirty="0"/>
                        <a:t>текстовые)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Человекочитаемые</a:t>
                      </a:r>
                      <a:r>
                        <a:rPr lang="ru-RU" dirty="0"/>
                        <a:t> символы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Можно открыть любым редактором, удобно для обмена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Конфигурация, логи, исходный код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98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Бинарные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Машинный формат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Нечитаемые напрямую, структурированы программой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Исполняемые файлы, архивы, изображения, аудио, видео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176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7313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70CA91-2BD9-8FD2-DF12-F7FAA3A9B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9899" y="116115"/>
            <a:ext cx="7152201" cy="662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91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DB9D-25CC-AFAC-AF18-D03E9CFB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45863"/>
            <a:ext cx="10515600" cy="1325563"/>
          </a:xfrm>
        </p:spPr>
        <p:txBody>
          <a:bodyPr/>
          <a:lstStyle/>
          <a:p>
            <a:r>
              <a:rPr lang="ru-RU" dirty="0"/>
              <a:t>Типизация файлов и ограничения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75581-D053-E76F-1AA4-5E6B50D6B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38119"/>
            <a:ext cx="10515600" cy="4351338"/>
          </a:xfrm>
        </p:spPr>
        <p:txBody>
          <a:bodyPr/>
          <a:lstStyle/>
          <a:p>
            <a:r>
              <a:rPr lang="ru-RU" dirty="0"/>
              <a:t>ОС должны уметь распознавать хотя бы один тип файлов: свои собственные исполняемые файлы</a:t>
            </a:r>
          </a:p>
          <a:p>
            <a:r>
              <a:rPr lang="ru-RU" dirty="0"/>
              <a:t>В </a:t>
            </a:r>
            <a:r>
              <a:rPr lang="en-US" dirty="0"/>
              <a:t>Windows</a:t>
            </a:r>
            <a:r>
              <a:rPr lang="ru-RU" dirty="0"/>
              <a:t> многое определяется расширением файла</a:t>
            </a:r>
          </a:p>
          <a:p>
            <a:r>
              <a:rPr lang="ru-RU" dirty="0"/>
              <a:t>В </a:t>
            </a:r>
            <a:r>
              <a:rPr lang="en-US" dirty="0"/>
              <a:t>*nix</a:t>
            </a:r>
            <a:r>
              <a:rPr lang="ru-RU" dirty="0"/>
              <a:t> предлагает утилиту </a:t>
            </a:r>
            <a:r>
              <a:rPr lang="en-US" dirty="0"/>
              <a:t>file</a:t>
            </a:r>
            <a:r>
              <a:rPr lang="ru-RU" dirty="0"/>
              <a:t>, который определяет тип файла по его содержимому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293C9-669C-266B-E20C-6822E257B046}"/>
              </a:ext>
            </a:extLst>
          </p:cNvPr>
          <p:cNvSpPr txBox="1"/>
          <p:nvPr/>
        </p:nvSpPr>
        <p:spPr>
          <a:xfrm>
            <a:off x="218900" y="3113788"/>
            <a:ext cx="11754197" cy="20621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latin typeface="Consolas" panose="020B0609020204030204" pitchFamily="49" charset="0"/>
              </a:rPr>
              <a:t>vivid@MSI</a:t>
            </a:r>
            <a:r>
              <a:rPr lang="en-US" sz="1600" dirty="0">
                <a:latin typeface="Consolas" panose="020B0609020204030204" pitchFamily="49" charset="0"/>
              </a:rPr>
              <a:t>:~/code$ ls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a.out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</a:rPr>
              <a:t>prog.c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vivid@MSI</a:t>
            </a:r>
            <a:r>
              <a:rPr lang="en-US" sz="1600" dirty="0">
                <a:latin typeface="Consolas" panose="020B0609020204030204" pitchFamily="49" charset="0"/>
              </a:rPr>
              <a:t>:~/code$ file </a:t>
            </a:r>
            <a:r>
              <a:rPr lang="en-US" sz="1600" dirty="0" err="1">
                <a:latin typeface="Consolas" panose="020B0609020204030204" pitchFamily="49" charset="0"/>
              </a:rPr>
              <a:t>prog.c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prog.c</a:t>
            </a:r>
            <a:r>
              <a:rPr lang="en-US" sz="1600" dirty="0">
                <a:latin typeface="Consolas" panose="020B0609020204030204" pitchFamily="49" charset="0"/>
              </a:rPr>
              <a:t>: C source, ASCII text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vivid@MSI</a:t>
            </a:r>
            <a:r>
              <a:rPr lang="en-US" sz="1600" dirty="0">
                <a:latin typeface="Consolas" panose="020B0609020204030204" pitchFamily="49" charset="0"/>
              </a:rPr>
              <a:t>:~/code$ file </a:t>
            </a:r>
            <a:r>
              <a:rPr lang="en-US" sz="1600" dirty="0" err="1">
                <a:latin typeface="Consolas" panose="020B0609020204030204" pitchFamily="49" charset="0"/>
              </a:rPr>
              <a:t>a.out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a.out</a:t>
            </a:r>
            <a:r>
              <a:rPr lang="en-US" sz="1600" dirty="0">
                <a:latin typeface="Consolas" panose="020B0609020204030204" pitchFamily="49" charset="0"/>
              </a:rPr>
              <a:t>: ELF 64-bit LSB pie executable, x86-64, version 1 (SYSV), dynamically linked, interpreter /lib64/ld-linux-x86-64.so.2, </a:t>
            </a:r>
            <a:r>
              <a:rPr lang="en-US" sz="1600" dirty="0" err="1">
                <a:latin typeface="Consolas" panose="020B0609020204030204" pitchFamily="49" charset="0"/>
              </a:rPr>
              <a:t>BuildID</a:t>
            </a:r>
            <a:r>
              <a:rPr lang="en-US" sz="1600" dirty="0">
                <a:latin typeface="Consolas" panose="020B0609020204030204" pitchFamily="49" charset="0"/>
              </a:rPr>
              <a:t>[sha1]=b694a25e80326865fd957f750b3e469d303f03ab, for GNU/Linux 3.2.0, not stripped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AF133-8573-AE42-A468-764F0DEFC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0" y="5333285"/>
            <a:ext cx="7772400" cy="117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62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14737A-D7A3-6360-C0D0-98F1C7EE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содержимому файла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C746A6-9E46-0FC6-914A-31B88D81D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34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6774DB-D224-33E1-2D2C-FC1D3CAA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доступа к файлам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0E3CA22-187F-A219-DD4B-5A3448C68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111461"/>
              </p:ext>
            </p:extLst>
          </p:nvPr>
        </p:nvGraphicFramePr>
        <p:xfrm>
          <a:off x="838200" y="1825625"/>
          <a:ext cx="10515597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5027889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7452926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38917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 доступа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62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Последовательный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Чтение и запись только в порядке следования байтов или записей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Магнитные ленты, логи, потоковые данные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221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Произвольный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Доступ к любому месту файла напрямую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Базы данных, системы бронирования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643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2462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5428-2E52-A923-191D-2A17D2E62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Последовательный доступ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005F-110D-F845-2E7D-95DAEFD12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Данные читаются строго по порядку</a:t>
            </a:r>
          </a:p>
          <a:p>
            <a:r>
              <a:rPr lang="ru-RU" dirty="0"/>
              <a:t>Нельзя «перепрыгнуть» к нужной записи</a:t>
            </a:r>
          </a:p>
          <a:p>
            <a:r>
              <a:rPr lang="ru-RU" dirty="0"/>
              <a:t>Можно «перемотать» файл и начать сначала</a:t>
            </a:r>
          </a:p>
          <a:p>
            <a:r>
              <a:rPr lang="ru-RU" dirty="0"/>
              <a:t>Простая реализация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4F88-C401-96F1-2933-D32754FA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Произвольный доступ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82DDA-A433-8633-6DE7-99CB879B0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читать или записывать данные в любом месте файла</a:t>
            </a:r>
          </a:p>
          <a:p>
            <a:r>
              <a:rPr lang="ru-RU" dirty="0"/>
              <a:t>Работает только на дисковых устройствах (HDD, SSD)</a:t>
            </a:r>
          </a:p>
          <a:p>
            <a:r>
              <a:rPr lang="ru-RU" dirty="0"/>
              <a:t>Ключевая операция — </a:t>
            </a:r>
            <a:r>
              <a:rPr lang="ru-RU" b="1" dirty="0" err="1"/>
              <a:t>seek</a:t>
            </a:r>
            <a:r>
              <a:rPr lang="ru-RU" dirty="0"/>
              <a:t> (установить позицию)</a:t>
            </a:r>
          </a:p>
          <a:p>
            <a:pPr lvl="1"/>
            <a:r>
              <a:rPr lang="ru-RU" dirty="0"/>
              <a:t>После </a:t>
            </a:r>
            <a:r>
              <a:rPr lang="ru-RU" dirty="0" err="1"/>
              <a:t>seek</a:t>
            </a:r>
            <a:r>
              <a:rPr lang="ru-RU" dirty="0"/>
              <a:t> можно читать или писать последовательно</a:t>
            </a:r>
          </a:p>
          <a:p>
            <a:r>
              <a:rPr lang="ru-RU" dirty="0"/>
              <a:t>Применяется в современных ОС (UNIX, Windows)</a:t>
            </a:r>
          </a:p>
        </p:txBody>
      </p:sp>
    </p:spTree>
    <p:extLst>
      <p:ext uri="{BB962C8B-B14F-4D97-AF65-F5344CB8AC3E}">
        <p14:creationId xmlns:p14="http://schemas.microsoft.com/office/powerpoint/2010/main" val="1472117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0AE2-6EB4-54E9-66DB-DF29A9C0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методов доступа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57AA73-4D74-077C-2598-5B380C247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9864555"/>
              </p:ext>
            </p:extLst>
          </p:nvPr>
        </p:nvGraphicFramePr>
        <p:xfrm>
          <a:off x="838200" y="1825625"/>
          <a:ext cx="1051559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0228187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7457990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47273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Последовательный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Произвольный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644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Порядок чтения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последовательно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Произвольный порядок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264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Скорость поиска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60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Устройство хранения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Магнитная лента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Диски (</a:t>
                      </a:r>
                      <a:r>
                        <a:rPr lang="en-US" dirty="0"/>
                        <a:t>HDD/SSD)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56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Типичные задачи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Лог-файлы, резервные копии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Базы данных, видео-форматы, архивы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913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Гибкость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322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649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04B4-C605-3757-518F-C583DD709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файла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3CD4A-7F97-A71B-B95E-953158EDF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49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048CCB-B476-B227-32F6-BE103582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атрибуты файла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18A6A7-4596-32EA-FAD9-2D07FFBAB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Дополнительные данные, описывающие файл</a:t>
            </a:r>
          </a:p>
          <a:p>
            <a:r>
              <a:rPr lang="ru-RU" dirty="0"/>
              <a:t>Также называются </a:t>
            </a:r>
            <a:r>
              <a:rPr lang="ru-RU" b="1" dirty="0"/>
              <a:t>метаданными</a:t>
            </a:r>
            <a:endParaRPr lang="ru-RU" dirty="0"/>
          </a:p>
          <a:p>
            <a:r>
              <a:rPr lang="ru-RU" dirty="0"/>
              <a:t>Содержат сведения о:</a:t>
            </a:r>
          </a:p>
          <a:p>
            <a:pPr lvl="1"/>
            <a:r>
              <a:rPr lang="ru-RU" dirty="0"/>
              <a:t>Владельце и правах доступа</a:t>
            </a:r>
          </a:p>
          <a:p>
            <a:pPr lvl="1"/>
            <a:r>
              <a:rPr lang="ru-RU" dirty="0"/>
              <a:t>Времени создания и изменения</a:t>
            </a:r>
          </a:p>
          <a:p>
            <a:pPr lvl="1"/>
            <a:r>
              <a:rPr lang="ru-RU" dirty="0"/>
              <a:t>Типе, флагах и размере файла</a:t>
            </a:r>
          </a:p>
          <a:p>
            <a:r>
              <a:rPr lang="ru-RU" dirty="0"/>
              <a:t>Используются ОС для управления и защиты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40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B878-9171-61B7-9B85-9736A3B1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Атрибуты, связанные с безопасностью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81FCC2-391E-9D6C-7EA0-F4ABC59F0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487930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793">
                  <a:extLst>
                    <a:ext uri="{9D8B030D-6E8A-4147-A177-3AD203B41FA5}">
                      <a16:colId xmlns:a16="http://schemas.microsoft.com/office/drawing/2014/main" val="2702067174"/>
                    </a:ext>
                  </a:extLst>
                </a:gridCol>
                <a:gridCol w="7047807">
                  <a:extLst>
                    <a:ext uri="{9D8B030D-6E8A-4147-A177-3AD203B41FA5}">
                      <a16:colId xmlns:a16="http://schemas.microsoft.com/office/drawing/2014/main" val="2106650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Атрибут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440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Определяет, кто и как может обращаться к файлу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06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Требует ли пароль для доступа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42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Указывает, кто создал файл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7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Текущий владелец файла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66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380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A143-A03B-E782-03AD-E21C793F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Флаги и специальные признаки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363138-6DE2-26BA-C621-B34EC5745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3636461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924">
                  <a:extLst>
                    <a:ext uri="{9D8B030D-6E8A-4147-A177-3AD203B41FA5}">
                      <a16:colId xmlns:a16="http://schemas.microsoft.com/office/drawing/2014/main" val="3032614314"/>
                    </a:ext>
                  </a:extLst>
                </a:gridCol>
                <a:gridCol w="6831676">
                  <a:extLst>
                    <a:ext uri="{9D8B030D-6E8A-4147-A177-3AD203B41FA5}">
                      <a16:colId xmlns:a16="http://schemas.microsoft.com/office/drawing/2014/main" val="3323321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Флаг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99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Read-only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 — чтение/запись, 1 — только чтение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87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Hidden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 — отображается, 1 — скрыт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96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системный файл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33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требует резервного копирования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46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Temporary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удалить после закрытия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46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файл заблокирован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002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ASCII/Binary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Указывает тип данных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29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 — поддерживает произвольный доступ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34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11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94B2-C4BB-D683-B52F-999841CC9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Временн</a:t>
            </a:r>
            <a:r>
              <a:rPr lang="ru-RU" b="1" dirty="0"/>
              <a:t>ы</a:t>
            </a:r>
            <a:r>
              <a:rPr lang="ru-RU" dirty="0"/>
              <a:t>е метки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942BD9-64E8-2C06-4F50-C620EB753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533488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200661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89045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Атрибут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83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Когда файл был создан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6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Last Access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Когда файл последний раз открывался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20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Last Modification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Когда файл последний раз изменялся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24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641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8C8298-8C35-BCD3-0489-5BFF0303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Размеры и структура записи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116E33C-EFA1-F01A-412B-4EE60BE117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432501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455365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29226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Атрибут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691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Current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Текущий размер файла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39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Maximum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Максимально допустимый размер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50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Record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Размер одной записи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Смещение ключа в записи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65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Длина ключевого поля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230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88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1A83-80BD-D696-90E7-21BF0DD0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атрибутов файлов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31EF5-8E67-5FBF-EDE3-BF7FFB7C4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$ ls -l report.txt</a:t>
            </a:r>
            <a:br>
              <a:rPr lang="pt-BR" dirty="0"/>
            </a:br>
            <a:r>
              <a:rPr lang="pt-BR" dirty="0"/>
              <a:t>-rw-r--r-- 1 alice users 5420 Nov 10 15:42 report.txt</a:t>
            </a:r>
          </a:p>
          <a:p>
            <a:r>
              <a:rPr lang="pt-BR" dirty="0"/>
              <a:t>-rw-r--r–</a:t>
            </a:r>
            <a:r>
              <a:rPr lang="ru-RU" dirty="0"/>
              <a:t> права доступа</a:t>
            </a:r>
          </a:p>
          <a:p>
            <a:r>
              <a:rPr lang="en-US" dirty="0"/>
              <a:t>1</a:t>
            </a:r>
            <a:r>
              <a:rPr lang="ru-RU" dirty="0"/>
              <a:t> - количество ссылок</a:t>
            </a:r>
          </a:p>
          <a:p>
            <a:r>
              <a:rPr lang="en-US" dirty="0" err="1"/>
              <a:t>alice</a:t>
            </a:r>
            <a:r>
              <a:rPr lang="en-US" dirty="0"/>
              <a:t> </a:t>
            </a:r>
            <a:r>
              <a:rPr lang="ru-RU" dirty="0"/>
              <a:t>– владелец</a:t>
            </a:r>
          </a:p>
          <a:p>
            <a:r>
              <a:rPr lang="en-US" dirty="0"/>
              <a:t>users </a:t>
            </a:r>
            <a:r>
              <a:rPr lang="ru-RU" dirty="0"/>
              <a:t>- Группа</a:t>
            </a:r>
          </a:p>
          <a:p>
            <a:r>
              <a:rPr lang="ru-RU" dirty="0"/>
              <a:t>5420 - размер (в байтах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/>
              <a:t>Nov 10 15:42 </a:t>
            </a:r>
            <a:r>
              <a:rPr lang="ru-RU" dirty="0"/>
              <a:t>время последнего изменения</a:t>
            </a:r>
          </a:p>
          <a:p>
            <a:r>
              <a:rPr lang="en-US" dirty="0"/>
              <a:t>report.txt </a:t>
            </a:r>
            <a:r>
              <a:rPr lang="ru-RU" dirty="0"/>
              <a:t>Имя файла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2629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D4371D-9B2E-8688-4371-8ABA5708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файлами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2FF7A5-428A-CA98-19E1-501D4D81A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30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AC5FCE-CCCA-2F59-F27F-FC75E45B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группы операций над файлами</a:t>
            </a:r>
            <a:r>
              <a:rPr lang="en-US" dirty="0"/>
              <a:t> (</a:t>
            </a:r>
            <a:r>
              <a:rPr lang="ru-RU" dirty="0"/>
              <a:t>системных вызовов</a:t>
            </a:r>
            <a:r>
              <a:rPr lang="en-US" dirty="0"/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AF897C-20FD-6451-D83B-94399A0D8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и удаление: </a:t>
            </a:r>
            <a:r>
              <a:rPr lang="en-US" b="1" dirty="0"/>
              <a:t>Create, Delete</a:t>
            </a:r>
            <a:endParaRPr lang="en-US" dirty="0"/>
          </a:p>
          <a:p>
            <a:r>
              <a:rPr lang="ru-RU" dirty="0"/>
              <a:t>Управление доступом: </a:t>
            </a:r>
            <a:r>
              <a:rPr lang="en-US" b="1" dirty="0"/>
              <a:t>Open, Close</a:t>
            </a:r>
            <a:endParaRPr lang="en-US" dirty="0"/>
          </a:p>
          <a:p>
            <a:r>
              <a:rPr lang="ru-RU" dirty="0"/>
              <a:t>Чтение и запись: </a:t>
            </a:r>
            <a:r>
              <a:rPr lang="en-US" b="1" dirty="0"/>
              <a:t>Read, Write, Append</a:t>
            </a:r>
            <a:endParaRPr lang="en-US" dirty="0"/>
          </a:p>
          <a:p>
            <a:r>
              <a:rPr lang="ru-RU" dirty="0"/>
              <a:t>Работа с позицией: </a:t>
            </a:r>
            <a:r>
              <a:rPr lang="en-US" b="1" dirty="0"/>
              <a:t>Seek</a:t>
            </a:r>
            <a:endParaRPr lang="en-US" dirty="0"/>
          </a:p>
          <a:p>
            <a:r>
              <a:rPr lang="ru-RU" dirty="0"/>
              <a:t>Метаданные: </a:t>
            </a:r>
            <a:r>
              <a:rPr lang="en-US" b="1" dirty="0"/>
              <a:t>Get attributes, Set attributes</a:t>
            </a:r>
            <a:endParaRPr lang="en-US" dirty="0"/>
          </a:p>
          <a:p>
            <a:r>
              <a:rPr lang="ru-RU" dirty="0"/>
              <a:t>Прочее: </a:t>
            </a:r>
            <a:r>
              <a:rPr lang="en-US" b="1" dirty="0"/>
              <a:t>Rename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9528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FD33-ACAD-1549-0C4C-876026D6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и удаление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A6BC5-028E-81E1-33F7-2DEDEE62B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Create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Создаёт новый пустой файл</a:t>
            </a:r>
          </a:p>
          <a:p>
            <a:pPr lvl="1"/>
            <a:r>
              <a:rPr lang="ru-RU" dirty="0"/>
              <a:t>Устанавливает начальные атрибуты</a:t>
            </a:r>
          </a:p>
          <a:p>
            <a:r>
              <a:rPr lang="ru-RU" b="1" dirty="0" err="1"/>
              <a:t>Delete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Удаляет файл из файловой системы</a:t>
            </a:r>
          </a:p>
          <a:p>
            <a:pPr lvl="1"/>
            <a:r>
              <a:rPr lang="ru-RU" dirty="0"/>
              <a:t>Освобождает занимаемое дисковое пространство</a:t>
            </a:r>
          </a:p>
        </p:txBody>
      </p:sp>
    </p:spTree>
    <p:extLst>
      <p:ext uri="{BB962C8B-B14F-4D97-AF65-F5344CB8AC3E}">
        <p14:creationId xmlns:p14="http://schemas.microsoft.com/office/powerpoint/2010/main" val="31648017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F324-7FD5-564E-DCCA-0B19335B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Открытие и закрытие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DB70-EC11-ACC7-96F0-5FE30ED57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Open:</a:t>
            </a:r>
            <a:endParaRPr lang="ru-RU" dirty="0"/>
          </a:p>
          <a:p>
            <a:pPr lvl="1"/>
            <a:r>
              <a:rPr lang="ru-RU" dirty="0"/>
              <a:t>Загружает атрибуты и дисковые адреса в память</a:t>
            </a:r>
          </a:p>
          <a:p>
            <a:pPr lvl="1"/>
            <a:r>
              <a:rPr lang="ru-RU" dirty="0"/>
              <a:t>Готовит файл к быстрому доступу</a:t>
            </a:r>
          </a:p>
          <a:p>
            <a:r>
              <a:rPr lang="ru-RU" b="1" dirty="0" err="1"/>
              <a:t>Close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Освобождает внутренние структуры ОС</a:t>
            </a:r>
          </a:p>
          <a:p>
            <a:pPr lvl="1"/>
            <a:r>
              <a:rPr lang="ru-RU" dirty="0"/>
              <a:t>Записывает последний незаполненный блок</a:t>
            </a:r>
          </a:p>
        </p:txBody>
      </p:sp>
    </p:spTree>
    <p:extLst>
      <p:ext uri="{BB962C8B-B14F-4D97-AF65-F5344CB8AC3E}">
        <p14:creationId xmlns:p14="http://schemas.microsoft.com/office/powerpoint/2010/main" val="1857227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B975-761E-7586-D82A-90106B5B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содержимым файла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55310-ECAA-2B2D-1E4A-B934D2D3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</a:t>
            </a:r>
          </a:p>
          <a:p>
            <a:pPr lvl="1"/>
            <a:r>
              <a:rPr lang="ru-RU" dirty="0"/>
              <a:t>Читает данные из файла (обычно, с текущей позиции)</a:t>
            </a:r>
            <a:endParaRPr lang="en-US" dirty="0"/>
          </a:p>
          <a:p>
            <a:r>
              <a:rPr lang="en-US" dirty="0"/>
              <a:t>Write</a:t>
            </a:r>
            <a:endParaRPr lang="ru-RU" dirty="0"/>
          </a:p>
          <a:p>
            <a:pPr lvl="1"/>
            <a:r>
              <a:rPr lang="ru-RU" dirty="0"/>
              <a:t>Записывает данные, может расширить файл или переписать существующие данные</a:t>
            </a:r>
            <a:endParaRPr lang="en-US" dirty="0"/>
          </a:p>
          <a:p>
            <a:r>
              <a:rPr lang="en-US" dirty="0"/>
              <a:t>Append</a:t>
            </a:r>
            <a:endParaRPr lang="ru-RU" dirty="0"/>
          </a:p>
          <a:p>
            <a:pPr lvl="1"/>
            <a:r>
              <a:rPr lang="ru-RU" dirty="0"/>
              <a:t>Добавляет данные в конец файла</a:t>
            </a:r>
          </a:p>
          <a:p>
            <a:pPr lvl="1"/>
            <a:r>
              <a:rPr lang="ru-RU" dirty="0"/>
              <a:t>Может быть реализован через </a:t>
            </a:r>
            <a:r>
              <a:rPr lang="en-US" dirty="0" err="1"/>
              <a:t>Seek+Write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8744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5553-7D40-2412-7DD7-9B36FDF7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Seek – </a:t>
            </a:r>
            <a:r>
              <a:rPr lang="ru-RU" dirty="0"/>
              <a:t>произвольный доступ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2F6D2-02E0-D19C-4E1E-81C328CAD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Устанавливает текущую позицию в файле</a:t>
            </a:r>
          </a:p>
          <a:p>
            <a:r>
              <a:rPr lang="ru-RU" dirty="0"/>
              <a:t>Позволяет читать/писать данные с произвольного места</a:t>
            </a:r>
          </a:p>
          <a:p>
            <a:r>
              <a:rPr lang="ru-RU" dirty="0"/>
              <a:t>Используется в UNIX и Windows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3F0E0-1BE7-D282-ED99-34291D460C8B}"/>
              </a:ext>
            </a:extLst>
          </p:cNvPr>
          <p:cNvSpPr/>
          <p:nvPr/>
        </p:nvSpPr>
        <p:spPr>
          <a:xfrm>
            <a:off x="980902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2D492B-568A-DF61-0660-3193CD5EA43A}"/>
              </a:ext>
            </a:extLst>
          </p:cNvPr>
          <p:cNvSpPr/>
          <p:nvPr/>
        </p:nvSpPr>
        <p:spPr>
          <a:xfrm>
            <a:off x="1596044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0F112-307D-0496-F8D8-2D178CDB2651}"/>
              </a:ext>
            </a:extLst>
          </p:cNvPr>
          <p:cNvSpPr/>
          <p:nvPr/>
        </p:nvSpPr>
        <p:spPr>
          <a:xfrm>
            <a:off x="2211186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CD5AA-697D-194A-CAB0-9D21D5C5937E}"/>
              </a:ext>
            </a:extLst>
          </p:cNvPr>
          <p:cNvSpPr/>
          <p:nvPr/>
        </p:nvSpPr>
        <p:spPr>
          <a:xfrm>
            <a:off x="2826328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C2B2D6-025C-D99A-41F5-98D5BE316611}"/>
              </a:ext>
            </a:extLst>
          </p:cNvPr>
          <p:cNvSpPr/>
          <p:nvPr/>
        </p:nvSpPr>
        <p:spPr>
          <a:xfrm>
            <a:off x="3441470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AE174B-6D3D-75AA-C68B-01CB09488338}"/>
              </a:ext>
            </a:extLst>
          </p:cNvPr>
          <p:cNvSpPr/>
          <p:nvPr/>
        </p:nvSpPr>
        <p:spPr>
          <a:xfrm>
            <a:off x="4056612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780F1-E6F0-76D7-473A-08EDAE59F38E}"/>
              </a:ext>
            </a:extLst>
          </p:cNvPr>
          <p:cNvSpPr/>
          <p:nvPr/>
        </p:nvSpPr>
        <p:spPr>
          <a:xfrm>
            <a:off x="4671754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9D64A-6EEF-B1C7-4E46-2F56EFAE5D62}"/>
              </a:ext>
            </a:extLst>
          </p:cNvPr>
          <p:cNvSpPr/>
          <p:nvPr/>
        </p:nvSpPr>
        <p:spPr>
          <a:xfrm>
            <a:off x="5286896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E4D9D7-A611-BD40-A1C2-2D54006A81C9}"/>
              </a:ext>
            </a:extLst>
          </p:cNvPr>
          <p:cNvSpPr/>
          <p:nvPr/>
        </p:nvSpPr>
        <p:spPr>
          <a:xfrm>
            <a:off x="5902038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0C70CC-97B7-1E3F-26D1-2BDE802CBB8A}"/>
              </a:ext>
            </a:extLst>
          </p:cNvPr>
          <p:cNvSpPr/>
          <p:nvPr/>
        </p:nvSpPr>
        <p:spPr>
          <a:xfrm>
            <a:off x="6517180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22826E86-FE74-022E-D632-92812FE7F9B1}"/>
              </a:ext>
            </a:extLst>
          </p:cNvPr>
          <p:cNvSpPr/>
          <p:nvPr/>
        </p:nvSpPr>
        <p:spPr>
          <a:xfrm>
            <a:off x="1654233" y="4958845"/>
            <a:ext cx="498764" cy="5486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CA1E26-DDED-27FC-605F-AC58B8B80BA6}"/>
              </a:ext>
            </a:extLst>
          </p:cNvPr>
          <p:cNvSpPr/>
          <p:nvPr/>
        </p:nvSpPr>
        <p:spPr>
          <a:xfrm>
            <a:off x="7132322" y="4289367"/>
            <a:ext cx="615142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19617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0.14935 0.0004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6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797C34-F774-F278-8470-03AF36658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985" y="0"/>
            <a:ext cx="7076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14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4171-3D9D-5633-8D60-CE35A78F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атрибутами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DB093-BBEA-1B4A-1AB9-1FEA3E957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Get </a:t>
            </a:r>
            <a:r>
              <a:rPr lang="ru-RU" b="1" dirty="0" err="1"/>
              <a:t>attributes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Позволяет программам читать метаданные файла</a:t>
            </a:r>
          </a:p>
          <a:p>
            <a:pPr lvl="1"/>
            <a:r>
              <a:rPr lang="ru-RU" dirty="0"/>
              <a:t>Например, </a:t>
            </a:r>
            <a:r>
              <a:rPr lang="ru-RU" dirty="0" err="1"/>
              <a:t>make</a:t>
            </a:r>
            <a:r>
              <a:rPr lang="ru-RU" dirty="0"/>
              <a:t> проверяет время модификации исходников</a:t>
            </a:r>
          </a:p>
          <a:p>
            <a:r>
              <a:rPr lang="ru-RU" b="1" dirty="0" err="1"/>
              <a:t>Set</a:t>
            </a:r>
            <a:r>
              <a:rPr lang="ru-RU" b="1" dirty="0"/>
              <a:t> </a:t>
            </a:r>
            <a:r>
              <a:rPr lang="ru-RU" b="1" dirty="0" err="1"/>
              <a:t>attributes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Изменяет некоторые параметры: права доступа, флаги и др.</a:t>
            </a:r>
          </a:p>
        </p:txBody>
      </p:sp>
    </p:spTree>
    <p:extLst>
      <p:ext uri="{BB962C8B-B14F-4D97-AF65-F5344CB8AC3E}">
        <p14:creationId xmlns:p14="http://schemas.microsoft.com/office/powerpoint/2010/main" val="28896386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EF94-39C6-E41C-65DB-BB745825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131DD-DED8-F472-D7FD-C5AB24335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Быстрое переименование файла</a:t>
            </a:r>
          </a:p>
          <a:p>
            <a:r>
              <a:rPr lang="ru-RU" dirty="0"/>
              <a:t>Не требует копирования данных</a:t>
            </a:r>
          </a:p>
          <a:p>
            <a:r>
              <a:rPr lang="ru-RU" dirty="0"/>
              <a:t>Гораздо эффективнее, чем «копировать → удалить»</a:t>
            </a:r>
          </a:p>
          <a:p>
            <a:r>
              <a:rPr lang="ru-RU" dirty="0"/>
              <a:t>Особенно важно для больших файлов (ГБ–ТБ)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65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39F7-B8AB-3A79-5D97-F810E93E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программа </a:t>
            </a:r>
            <a:r>
              <a:rPr lang="en-US" dirty="0" err="1"/>
              <a:t>copyfile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78F2-75DC-62DF-C572-C5A6C71FF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Простая UNIX-программа </a:t>
            </a:r>
            <a:r>
              <a:rPr lang="ru-RU" dirty="0" err="1"/>
              <a:t>copyfile</a:t>
            </a:r>
            <a:endParaRPr lang="ru-RU" dirty="0"/>
          </a:p>
          <a:p>
            <a:r>
              <a:rPr lang="ru-RU" dirty="0"/>
              <a:t>Копирует файл: </a:t>
            </a:r>
            <a:r>
              <a:rPr lang="ru-RU" dirty="0" err="1"/>
              <a:t>copyfile</a:t>
            </a:r>
            <a:r>
              <a:rPr lang="ru-RU" dirty="0"/>
              <a:t> </a:t>
            </a:r>
            <a:r>
              <a:rPr lang="ru-RU" dirty="0" err="1"/>
              <a:t>abc</a:t>
            </a:r>
            <a:r>
              <a:rPr lang="ru-RU" dirty="0"/>
              <a:t> </a:t>
            </a:r>
            <a:r>
              <a:rPr lang="ru-RU" dirty="0" err="1"/>
              <a:t>xyz</a:t>
            </a:r>
            <a:endParaRPr lang="ru-RU" dirty="0"/>
          </a:p>
          <a:p>
            <a:r>
              <a:rPr lang="ru-RU" dirty="0"/>
              <a:t>Использует системные вызовы файловой системы</a:t>
            </a:r>
          </a:p>
          <a:p>
            <a:r>
              <a:rPr lang="ru-RU" dirty="0"/>
              <a:t>Показывает практическое применение </a:t>
            </a:r>
            <a:r>
              <a:rPr lang="ru-RU" dirty="0" err="1"/>
              <a:t>open</a:t>
            </a:r>
            <a:r>
              <a:rPr lang="ru-RU" dirty="0"/>
              <a:t>, </a:t>
            </a:r>
            <a:r>
              <a:rPr lang="ru-RU" dirty="0" err="1"/>
              <a:t>read</a:t>
            </a:r>
            <a:r>
              <a:rPr lang="ru-RU" dirty="0"/>
              <a:t>, </a:t>
            </a:r>
            <a:r>
              <a:rPr lang="ru-RU" dirty="0" err="1"/>
              <a:t>write</a:t>
            </a:r>
            <a:r>
              <a:rPr lang="ru-RU" dirty="0"/>
              <a:t>, </a:t>
            </a:r>
            <a:r>
              <a:rPr lang="ru-RU" dirty="0" err="1"/>
              <a:t>close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4832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B12BB5-F479-8BE3-0849-16BB97C0B71D}"/>
              </a:ext>
            </a:extLst>
          </p:cNvPr>
          <p:cNvSpPr txBox="1"/>
          <p:nvPr/>
        </p:nvSpPr>
        <p:spPr>
          <a:xfrm>
            <a:off x="0" y="-1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BUF_SIZE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4096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OUTPUT_MODE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0700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wtCount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BUF_SIZE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O_RDONLY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OUTPUT_MODE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BUF_SIZE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wtCount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wtCount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outFd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rdCount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04008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B41A-FDCF-8E22-854B-6EB7551C9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Директории (каталоги)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53116-1502-D80C-D087-BE6150192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493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829729-5EFB-1E7E-351F-6F9754CE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каталог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0E7144-34D6-FAF2-562B-2952AEE3D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Каталог — специальный файл, который хранит список файлов</a:t>
            </a:r>
          </a:p>
          <a:p>
            <a:r>
              <a:rPr lang="ru-RU" dirty="0"/>
              <a:t>Используется для организации структуры ФС</a:t>
            </a:r>
          </a:p>
          <a:p>
            <a:r>
              <a:rPr lang="ru-RU" dirty="0"/>
              <a:t>Содержит имена файлов + указатели на их метаданные</a:t>
            </a:r>
          </a:p>
          <a:p>
            <a:r>
              <a:rPr lang="ru-RU" dirty="0"/>
              <a:t>Применяется в любой файловой системе</a:t>
            </a:r>
          </a:p>
        </p:txBody>
      </p:sp>
    </p:spTree>
    <p:extLst>
      <p:ext uri="{BB962C8B-B14F-4D97-AF65-F5344CB8AC3E}">
        <p14:creationId xmlns:p14="http://schemas.microsoft.com/office/powerpoint/2010/main" val="14459791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2C41-332E-466B-A6F6-3416B3D9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Одноуровневая система каталогов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9984B-02B9-FB35-9B40-D2721D7B8E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Поддерживается только один каталог верхнего уровня</a:t>
            </a:r>
          </a:p>
          <a:p>
            <a:r>
              <a:rPr lang="ru-RU" dirty="0"/>
              <a:t>Все файлы лежат вместе</a:t>
            </a:r>
          </a:p>
          <a:p>
            <a:r>
              <a:rPr lang="ru-RU" dirty="0"/>
              <a:t>Имена должны быть уникальными</a:t>
            </a:r>
          </a:p>
          <a:p>
            <a:r>
              <a:rPr lang="ru-RU" dirty="0"/>
              <a:t>Очень простая реализация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3452D5-5381-EFD6-623A-F386E2BACC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[ROOT]</a:t>
            </a:r>
          </a:p>
          <a:p>
            <a:pPr lvl="1"/>
            <a:r>
              <a:rPr lang="en-US" dirty="0"/>
              <a:t>Game1.exe</a:t>
            </a:r>
          </a:p>
          <a:p>
            <a:pPr lvl="1"/>
            <a:r>
              <a:rPr lang="en-US" dirty="0"/>
              <a:t>Game1.dat</a:t>
            </a:r>
          </a:p>
          <a:p>
            <a:pPr lvl="1"/>
            <a:r>
              <a:rPr lang="en-US" dirty="0"/>
              <a:t>Game2.exe</a:t>
            </a:r>
          </a:p>
          <a:p>
            <a:pPr lvl="1"/>
            <a:r>
              <a:rPr lang="en-US" dirty="0"/>
              <a:t>G2Levels.bin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3911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B7CD02-A594-8575-CD65-CE430BE0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Плюсы и минусы одноуровневой системы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C67219-47B9-7310-D481-FE551411B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Плюсы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44E8EF-466F-9216-04B2-87E90097EC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Простейшая реализация</a:t>
            </a:r>
          </a:p>
          <a:p>
            <a:r>
              <a:rPr lang="ru-RU" dirty="0"/>
              <a:t>Быстрый поиск</a:t>
            </a:r>
          </a:p>
          <a:p>
            <a:r>
              <a:rPr lang="ru-RU" dirty="0"/>
              <a:t>Подходит для устройств с ограниченными ресурсами</a:t>
            </a:r>
          </a:p>
          <a:p>
            <a:r>
              <a:rPr lang="ru-RU" dirty="0"/>
              <a:t>Минимальные требования к памяти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8583E5-117B-870D-B3AA-2CAECA303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Минусы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0DB6AA-9B4E-E92E-3776-7FD9624BD78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Нет группировки файлов</a:t>
            </a:r>
          </a:p>
          <a:p>
            <a:r>
              <a:rPr lang="ru-RU" dirty="0"/>
              <a:t>Имена файлов должны быть уникальными</a:t>
            </a:r>
          </a:p>
          <a:p>
            <a:r>
              <a:rPr lang="ru-RU" dirty="0"/>
              <a:t>Невозможно работать с несколькими пользователями</a:t>
            </a:r>
          </a:p>
          <a:p>
            <a:r>
              <a:rPr lang="ru-RU" dirty="0"/>
              <a:t>Плохо масштабируется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7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F39C84-D4B5-2A60-11E0-D897422C8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старые идеи возвращаются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3DFF86-E179-75C7-208F-15EDA33A3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Концепции из мэйнфреймов → персональные ПК → </a:t>
            </a:r>
            <a:r>
              <a:rPr lang="ru-RU" dirty="0" err="1"/>
              <a:t>embedded</a:t>
            </a:r>
            <a:endParaRPr lang="ru-RU" dirty="0"/>
          </a:p>
          <a:p>
            <a:r>
              <a:rPr lang="ru-RU" dirty="0"/>
              <a:t>Простота важна для дешёвых устройств</a:t>
            </a:r>
          </a:p>
          <a:p>
            <a:r>
              <a:rPr lang="ru-RU" dirty="0"/>
              <a:t>RFID-метки, смарт-карты, камеры, плееры</a:t>
            </a:r>
          </a:p>
          <a:p>
            <a:r>
              <a:rPr lang="ru-RU" dirty="0"/>
              <a:t>Одноуровневая система пригодна для минимальных ФС</a:t>
            </a:r>
          </a:p>
        </p:txBody>
      </p:sp>
    </p:spTree>
    <p:extLst>
      <p:ext uri="{BB962C8B-B14F-4D97-AF65-F5344CB8AC3E}">
        <p14:creationId xmlns:p14="http://schemas.microsoft.com/office/powerpoint/2010/main" val="23815165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0051B9-DBED-D125-43D1-F5DF7DBB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Иерархические системы каталогов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CEDE9-4FE1-71E3-9153-D8774EE04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024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2C4F04-4C9E-BD67-95EA-8D96D47C4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Необходимость в иерархии каталогов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1ABA40-A0E0-8EE2-6737-9906F766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Одного каталога недостаточно для тысяч файлов</a:t>
            </a:r>
          </a:p>
          <a:p>
            <a:r>
              <a:rPr lang="ru-RU" dirty="0"/>
              <a:t>Необходима группировка по темам и проектам</a:t>
            </a:r>
          </a:p>
          <a:p>
            <a:r>
              <a:rPr lang="ru-RU" dirty="0"/>
              <a:t>Позволяет структурировать рабочие данные</a:t>
            </a:r>
          </a:p>
          <a:p>
            <a:r>
              <a:rPr lang="ru-RU" dirty="0"/>
              <a:t>Основа всех современных файловых систем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3689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6D62-ADF5-58F2-8973-D718A7A1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дерева каталогов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7C18C-F34A-9FE3-E44B-C269041E0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📁/</a:t>
            </a:r>
          </a:p>
          <a:p>
            <a:pPr lvl="1"/>
            <a:r>
              <a:rPr lang="en-US" dirty="0"/>
              <a:t>📁Documents</a:t>
            </a:r>
          </a:p>
          <a:p>
            <a:pPr lvl="2"/>
            <a:r>
              <a:rPr lang="en-US" dirty="0"/>
              <a:t>🗎Presentation1.pptx</a:t>
            </a:r>
          </a:p>
          <a:p>
            <a:pPr lvl="2"/>
            <a:r>
              <a:rPr lang="en-US" dirty="0"/>
              <a:t>🗎Report.xlsx</a:t>
            </a:r>
          </a:p>
          <a:p>
            <a:pPr lvl="1"/>
            <a:r>
              <a:rPr lang="en-US" dirty="0"/>
              <a:t>📁Games</a:t>
            </a:r>
          </a:p>
          <a:p>
            <a:pPr lvl="2"/>
            <a:r>
              <a:rPr lang="en-US" dirty="0"/>
              <a:t>GTA-V</a:t>
            </a:r>
          </a:p>
          <a:p>
            <a:pPr lvl="2"/>
            <a:r>
              <a:rPr lang="en-US" dirty="0"/>
              <a:t>📁</a:t>
            </a:r>
            <a:r>
              <a:rPr lang="en-US" dirty="0" err="1"/>
              <a:t>Cybepunk</a:t>
            </a:r>
            <a:r>
              <a:rPr lang="en-US" dirty="0"/>
              <a:t> 2077</a:t>
            </a:r>
          </a:p>
          <a:p>
            <a:pPr lvl="3"/>
            <a:r>
              <a:rPr lang="en-US" dirty="0"/>
              <a:t>🗎Launcher.exe</a:t>
            </a:r>
          </a:p>
          <a:p>
            <a:pPr lvl="1"/>
            <a:r>
              <a:rPr lang="en-US" dirty="0"/>
              <a:t>📁Photos</a:t>
            </a:r>
          </a:p>
          <a:p>
            <a:pPr lvl="2"/>
            <a:r>
              <a:rPr lang="en-US" dirty="0"/>
              <a:t>📁2024</a:t>
            </a:r>
          </a:p>
          <a:p>
            <a:pPr lvl="3"/>
            <a:r>
              <a:rPr lang="en-US" dirty="0"/>
              <a:t>🖼️Photo1.jpg</a:t>
            </a:r>
          </a:p>
          <a:p>
            <a:pPr lvl="2"/>
            <a:r>
              <a:rPr lang="en-US" dirty="0"/>
              <a:t>📁2025</a:t>
            </a:r>
          </a:p>
          <a:p>
            <a:pPr lvl="3"/>
            <a:r>
              <a:rPr lang="en-US" dirty="0"/>
              <a:t>🖼️Picture1.jpg</a:t>
            </a:r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2965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91C40-8DD3-164F-EAD3-3175A865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в многопользовательских системах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A1D11-F560-6212-CA50-54FE0256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Каждый пользователь имеет собственный домашний каталог (</a:t>
            </a:r>
            <a:r>
              <a:rPr lang="ru-RU" dirty="0" err="1"/>
              <a:t>home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), играющий роль корня его личной иерархии файлов</a:t>
            </a:r>
          </a:p>
          <a:p>
            <a:r>
              <a:rPr lang="ru-RU" dirty="0"/>
              <a:t>Пользователь может создавать любое число подкаталогов</a:t>
            </a:r>
          </a:p>
          <a:p>
            <a:r>
              <a:rPr lang="ru-RU" dirty="0"/>
              <a:t>Изоляция данных разных пользователей</a:t>
            </a:r>
          </a:p>
          <a:p>
            <a:r>
              <a:rPr lang="ru-RU" dirty="0"/>
              <a:t>Удобная организация проектов</a:t>
            </a:r>
          </a:p>
        </p:txBody>
      </p:sp>
    </p:spTree>
    <p:extLst>
      <p:ext uri="{BB962C8B-B14F-4D97-AF65-F5344CB8AC3E}">
        <p14:creationId xmlns:p14="http://schemas.microsoft.com/office/powerpoint/2010/main" val="29847853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FC3D-C421-CBBB-A714-BF63BB0C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1EBD4-9936-9309-1576-F4C205E56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Масштабирование</a:t>
            </a:r>
          </a:p>
          <a:p>
            <a:pPr lvl="1"/>
            <a:r>
              <a:rPr lang="ru-RU" dirty="0"/>
              <a:t>Можно хранить миллионы файлов</a:t>
            </a:r>
          </a:p>
          <a:p>
            <a:r>
              <a:rPr lang="ru-RU" dirty="0"/>
              <a:t>Гибкость</a:t>
            </a:r>
          </a:p>
          <a:p>
            <a:pPr lvl="1"/>
            <a:r>
              <a:rPr lang="ru-RU" dirty="0"/>
              <a:t>Произвольная глубина структуры каталогов</a:t>
            </a:r>
          </a:p>
          <a:p>
            <a:r>
              <a:rPr lang="ru-RU" dirty="0"/>
              <a:t>Удобство</a:t>
            </a:r>
          </a:p>
          <a:p>
            <a:pPr lvl="1"/>
            <a:r>
              <a:rPr lang="ru-RU" dirty="0"/>
              <a:t>Легко ориентироваться в данных</a:t>
            </a:r>
          </a:p>
          <a:p>
            <a:r>
              <a:rPr lang="ru-RU" dirty="0"/>
              <a:t>Многопользовательская поддержка</a:t>
            </a:r>
          </a:p>
          <a:p>
            <a:pPr lvl="1"/>
            <a:r>
              <a:rPr lang="ru-RU" dirty="0"/>
              <a:t>Данные разных пользователей находятся в разных каталогах</a:t>
            </a:r>
          </a:p>
          <a:p>
            <a:r>
              <a:rPr lang="ru-RU" dirty="0"/>
              <a:t>Понятная логическая модель</a:t>
            </a:r>
          </a:p>
          <a:p>
            <a:pPr lvl="1"/>
            <a:r>
              <a:rPr lang="ru-RU" dirty="0"/>
              <a:t>Дерево каталогов отражает структуру проектов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4318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174C-B69D-62C0-E302-F3FD7C9C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Исторический аспект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54E25-9032-7789-802B-E19F18BB6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Иерархические каталоги появились в </a:t>
            </a:r>
            <a:r>
              <a:rPr lang="ru-RU" b="1" dirty="0" err="1"/>
              <a:t>Multics</a:t>
            </a:r>
            <a:r>
              <a:rPr lang="ru-RU" b="1" dirty="0"/>
              <a:t> (1960-е)</a:t>
            </a:r>
            <a:endParaRPr lang="ru-RU" dirty="0"/>
          </a:p>
          <a:p>
            <a:r>
              <a:rPr lang="ru-RU" dirty="0"/>
              <a:t>Идея стала стандартом в UNIX</a:t>
            </a:r>
          </a:p>
          <a:p>
            <a:r>
              <a:rPr lang="ru-RU" dirty="0"/>
              <a:t>Применяется в Linux, Windows, </a:t>
            </a:r>
            <a:r>
              <a:rPr lang="ru-RU" dirty="0" err="1"/>
              <a:t>macOS</a:t>
            </a:r>
            <a:endParaRPr lang="ru-RU" dirty="0"/>
          </a:p>
          <a:p>
            <a:r>
              <a:rPr lang="ru-RU" dirty="0"/>
              <a:t>Пример важной концепции, пришедшей из ранних ОС</a:t>
            </a:r>
          </a:p>
        </p:txBody>
      </p:sp>
    </p:spTree>
    <p:extLst>
      <p:ext uri="{BB962C8B-B14F-4D97-AF65-F5344CB8AC3E}">
        <p14:creationId xmlns:p14="http://schemas.microsoft.com/office/powerpoint/2010/main" val="12516181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ADD488-35B8-294C-BE34-36DC8F18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Пути к файлам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3318D-DD91-1C94-A5D4-BE83D1B48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257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12C64B-D034-BB83-3C7C-A8F66E473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Два способа указания пути к файлам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8006B4-32C0-1D43-EC89-6EC433E7A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Абсолютные пути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Относительные пути</a:t>
            </a:r>
          </a:p>
          <a:p>
            <a:r>
              <a:rPr lang="ru-RU" dirty="0"/>
              <a:t>Необходимы в иерархической файловой системе</a:t>
            </a:r>
          </a:p>
          <a:p>
            <a:r>
              <a:rPr lang="ru-RU" dirty="0"/>
              <a:t>Определяют, где находится файл в дереве каталогов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0887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7DE3F-29DB-4A11-5ECB-190ADD34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Абсолютные пути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0CCE6-7283-3F2C-395D-FA6768868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Примеры:</a:t>
            </a:r>
          </a:p>
          <a:p>
            <a:pPr lvl="1"/>
            <a:r>
              <a:rPr lang="en-US" dirty="0"/>
              <a:t>UNIX →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ast</a:t>
            </a:r>
            <a:r>
              <a:rPr lang="en-US" dirty="0"/>
              <a:t>/mailbox</a:t>
            </a:r>
          </a:p>
          <a:p>
            <a:pPr lvl="1"/>
            <a:r>
              <a:rPr lang="en-US" dirty="0"/>
              <a:t>Windows → \</a:t>
            </a:r>
            <a:r>
              <a:rPr lang="en-US" dirty="0" err="1"/>
              <a:t>usr</a:t>
            </a:r>
            <a:r>
              <a:rPr lang="en-US" dirty="0"/>
              <a:t>\</a:t>
            </a:r>
            <a:r>
              <a:rPr lang="en-US" dirty="0" err="1"/>
              <a:t>ast</a:t>
            </a:r>
            <a:r>
              <a:rPr lang="en-US" dirty="0"/>
              <a:t>\mailbox</a:t>
            </a:r>
          </a:p>
          <a:p>
            <a:pPr lvl="1"/>
            <a:r>
              <a:rPr lang="en-US" dirty="0"/>
              <a:t>MULTICS → &gt;</a:t>
            </a:r>
            <a:r>
              <a:rPr lang="en-US" dirty="0" err="1"/>
              <a:t>usr</a:t>
            </a:r>
            <a:r>
              <a:rPr lang="en-US" dirty="0"/>
              <a:t>&gt;</a:t>
            </a:r>
            <a:r>
              <a:rPr lang="en-US" dirty="0" err="1"/>
              <a:t>ast</a:t>
            </a:r>
            <a:r>
              <a:rPr lang="en-US" dirty="0"/>
              <a:t>&gt;mailbox</a:t>
            </a:r>
          </a:p>
          <a:p>
            <a:r>
              <a:rPr lang="ru-RU" dirty="0"/>
              <a:t>Особенности:</a:t>
            </a:r>
          </a:p>
          <a:p>
            <a:pPr lvl="1"/>
            <a:r>
              <a:rPr lang="ru-RU" dirty="0"/>
              <a:t>Всегда начинаются с разделителя</a:t>
            </a:r>
          </a:p>
          <a:p>
            <a:pPr lvl="1"/>
            <a:r>
              <a:rPr lang="ru-RU" dirty="0"/>
              <a:t>Независимы от текущего каталога</a:t>
            </a:r>
          </a:p>
          <a:p>
            <a:pPr lvl="1"/>
            <a:r>
              <a:rPr lang="ru-RU" dirty="0"/>
              <a:t>Универсальны и надёжны</a:t>
            </a:r>
          </a:p>
        </p:txBody>
      </p:sp>
    </p:spTree>
    <p:extLst>
      <p:ext uri="{BB962C8B-B14F-4D97-AF65-F5344CB8AC3E}">
        <p14:creationId xmlns:p14="http://schemas.microsoft.com/office/powerpoint/2010/main" val="22751595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E1F4-C9A2-55B7-23A1-3B8CB292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Относительные пути и рабочий каталог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A023-29A4-E406-EE45-4644A2DC6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Считаются относительно рабочего каталога</a:t>
            </a:r>
          </a:p>
          <a:p>
            <a:r>
              <a:rPr lang="ru-RU" dirty="0"/>
              <a:t>Удобнее для пользователя</a:t>
            </a:r>
          </a:p>
          <a:p>
            <a:r>
              <a:rPr lang="ru-RU" dirty="0"/>
              <a:t>Рабочий каталог может меняться процессом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ru-RU" dirty="0"/>
              <a:t>Рабочий каталог</a:t>
            </a:r>
            <a:r>
              <a:rPr lang="en-US" dirty="0"/>
              <a:t>: /home/user1</a:t>
            </a:r>
          </a:p>
          <a:p>
            <a:pPr lvl="1"/>
            <a:r>
              <a:rPr lang="ru-RU" dirty="0"/>
              <a:t>Путь </a:t>
            </a:r>
            <a:r>
              <a:rPr lang="en-US" b="1" dirty="0"/>
              <a:t>mailbox</a:t>
            </a:r>
            <a:r>
              <a:rPr lang="en-US" dirty="0"/>
              <a:t> </a:t>
            </a:r>
            <a:r>
              <a:rPr lang="ru-RU" dirty="0"/>
              <a:t>интерпретируется как </a:t>
            </a:r>
            <a:r>
              <a:rPr lang="en-US" dirty="0"/>
              <a:t>/home/user1/mailbox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803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BE221-2CC7-845A-6E4C-FA7A1846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равнозначных команд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5E5C-6EC2-9AEB-EC0C-7E4CF4167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Следующие команды делают одно и то же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root</a:t>
            </a:r>
            <a:r>
              <a:rPr lang="en-US" dirty="0"/>
              <a:t>: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/home/user1</a:t>
            </a:r>
            <a:r>
              <a:rPr lang="en-US" dirty="0"/>
              <a:t>$ cp /home/user1/mailbox /home/user1/</a:t>
            </a:r>
            <a:r>
              <a:rPr lang="en-US" dirty="0" err="1"/>
              <a:t>mailbox.bak</a:t>
            </a:r>
            <a:endParaRPr lang="en-US" dirty="0"/>
          </a:p>
          <a:p>
            <a:pPr lvl="1"/>
            <a:r>
              <a:rPr lang="en-US" dirty="0">
                <a:solidFill>
                  <a:srgbClr val="00B050"/>
                </a:solidFill>
              </a:rPr>
              <a:t>root</a:t>
            </a:r>
            <a:r>
              <a:rPr lang="en-US" dirty="0"/>
              <a:t>: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/home/user1</a:t>
            </a:r>
            <a:r>
              <a:rPr lang="en-US" dirty="0"/>
              <a:t>$ cp mailbox </a:t>
            </a:r>
            <a:r>
              <a:rPr lang="en-US" dirty="0" err="1"/>
              <a:t>mailbox.bak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8165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60FA-82F3-5BED-4E59-B4204C83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обязательны абсолютные пути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92D7B-CC0D-3361-9B19-FEFD5D20F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Программы, которым нужен конкретный файл</a:t>
            </a:r>
          </a:p>
          <a:p>
            <a:r>
              <a:rPr lang="ru-RU" dirty="0"/>
              <a:t>Пример: /</a:t>
            </a:r>
            <a:r>
              <a:rPr lang="ru-RU" dirty="0" err="1"/>
              <a:t>usr</a:t>
            </a:r>
            <a:r>
              <a:rPr lang="ru-RU" dirty="0"/>
              <a:t>/</a:t>
            </a:r>
            <a:r>
              <a:rPr lang="ru-RU" dirty="0" err="1"/>
              <a:t>lib</a:t>
            </a:r>
            <a:r>
              <a:rPr lang="ru-RU" dirty="0"/>
              <a:t>/</a:t>
            </a:r>
            <a:r>
              <a:rPr lang="ru-RU" dirty="0" err="1"/>
              <a:t>dictionary</a:t>
            </a:r>
            <a:endParaRPr lang="ru-RU" dirty="0"/>
          </a:p>
          <a:p>
            <a:r>
              <a:rPr lang="ru-RU" dirty="0"/>
              <a:t>Рабочий каталог может быть неизвестным</a:t>
            </a:r>
          </a:p>
          <a:p>
            <a:r>
              <a:rPr lang="ru-RU" dirty="0"/>
              <a:t>Абсолютный путь всегда корректен</a:t>
            </a:r>
          </a:p>
        </p:txBody>
      </p:sp>
    </p:spTree>
    <p:extLst>
      <p:ext uri="{BB962C8B-B14F-4D97-AF65-F5344CB8AC3E}">
        <p14:creationId xmlns:p14="http://schemas.microsoft.com/office/powerpoint/2010/main" val="33187936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EE155-7895-AF02-2FD1-35C5580D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рабочего каталога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34D5E-C9F9-E062-9704-D7E49D46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Процесс может изменить рабочий каталог через системный вызов</a:t>
            </a:r>
          </a:p>
          <a:p>
            <a:r>
              <a:rPr lang="ru-RU" dirty="0"/>
              <a:t>Это влияет только на данный процесс</a:t>
            </a:r>
          </a:p>
          <a:p>
            <a:r>
              <a:rPr lang="ru-RU" dirty="0"/>
              <a:t>После завершения процесса система возвращается в прежнее состояние</a:t>
            </a:r>
          </a:p>
          <a:p>
            <a:r>
              <a:rPr lang="ru-RU" dirty="0"/>
              <a:t>Библиотечные функции </a:t>
            </a:r>
            <a:r>
              <a:rPr lang="ru-RU" b="1" dirty="0"/>
              <a:t>почти никогда</a:t>
            </a:r>
            <a:r>
              <a:rPr lang="ru-RU" dirty="0"/>
              <a:t> не меняют рабочий каталог</a:t>
            </a:r>
          </a:p>
        </p:txBody>
      </p:sp>
    </p:spTree>
    <p:extLst>
      <p:ext uri="{BB962C8B-B14F-4D97-AF65-F5344CB8AC3E}">
        <p14:creationId xmlns:p14="http://schemas.microsoft.com/office/powerpoint/2010/main" val="7354179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3267-AD32-C0C2-4691-F85F9D37A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Специальные имена «</a:t>
            </a:r>
            <a:r>
              <a:rPr lang="en-US" dirty="0"/>
              <a:t>.</a:t>
            </a:r>
            <a:r>
              <a:rPr lang="ru-RU" dirty="0"/>
              <a:t>» и «</a:t>
            </a:r>
            <a:r>
              <a:rPr lang="en-US" dirty="0"/>
              <a:t>..</a:t>
            </a:r>
            <a:r>
              <a:rPr lang="ru-RU" dirty="0"/>
              <a:t>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CA67A-4AB5-8B5F-D0DF-CC0C03749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любом каталоге (кроме корневого) существуют два специальных элемента:</a:t>
            </a:r>
          </a:p>
          <a:p>
            <a:pPr lvl="1"/>
            <a:r>
              <a:rPr lang="en-US" dirty="0"/>
              <a:t>. </a:t>
            </a:r>
            <a:r>
              <a:rPr lang="ru-RU" dirty="0"/>
              <a:t>обозначает текущий каталог</a:t>
            </a:r>
          </a:p>
          <a:p>
            <a:pPr lvl="1"/>
            <a:r>
              <a:rPr lang="ru-RU" dirty="0"/>
              <a:t>.. Обозначает родительский</a:t>
            </a:r>
          </a:p>
          <a:p>
            <a:r>
              <a:rPr lang="ru-RU" dirty="0"/>
              <a:t>Это позволяет не указывать длинные абсолютные пути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en-US" dirty="0"/>
              <a:t>cp ../lib/dictionary .</a:t>
            </a:r>
          </a:p>
          <a:p>
            <a:pPr lvl="2"/>
            <a:r>
              <a:rPr lang="ru-RU" dirty="0"/>
              <a:t>Копирует файл </a:t>
            </a:r>
            <a:r>
              <a:rPr lang="en-US" dirty="0"/>
              <a:t>dictionary </a:t>
            </a:r>
            <a:r>
              <a:rPr lang="ru-RU" dirty="0"/>
              <a:t>из соседнего каталога в текущий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1107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0793-86F2-BCA1-A6E1-BCFF5F45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каталогами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5C2F9-EC34-5E98-AA6E-20A993A09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923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D1F43F-CC19-0F9F-A5AA-08525251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операции над каталогами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18094A-F600-018A-8B70-5C602E19F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Create</a:t>
            </a:r>
            <a:r>
              <a:rPr lang="ru-RU" dirty="0"/>
              <a:t> — создать каталог</a:t>
            </a:r>
          </a:p>
          <a:p>
            <a:r>
              <a:rPr lang="ru-RU" b="1" dirty="0" err="1"/>
              <a:t>Delete</a:t>
            </a:r>
            <a:r>
              <a:rPr lang="ru-RU" dirty="0"/>
              <a:t> — удалить каталог</a:t>
            </a:r>
          </a:p>
          <a:p>
            <a:r>
              <a:rPr lang="ru-RU" b="1" dirty="0" err="1"/>
              <a:t>Opendir</a:t>
            </a:r>
            <a:r>
              <a:rPr lang="ru-RU" b="1" dirty="0"/>
              <a:t> / </a:t>
            </a:r>
            <a:r>
              <a:rPr lang="ru-RU" b="1" dirty="0" err="1"/>
              <a:t>Closedir</a:t>
            </a:r>
            <a:r>
              <a:rPr lang="ru-RU" dirty="0"/>
              <a:t> — открыть и закрыть каталог</a:t>
            </a:r>
          </a:p>
          <a:p>
            <a:r>
              <a:rPr lang="ru-RU" b="1" dirty="0" err="1"/>
              <a:t>Readdir</a:t>
            </a:r>
            <a:r>
              <a:rPr lang="ru-RU" dirty="0"/>
              <a:t> — прочитать следующую запись</a:t>
            </a:r>
          </a:p>
          <a:p>
            <a:r>
              <a:rPr lang="ru-RU" b="1" dirty="0" err="1"/>
              <a:t>Rename</a:t>
            </a:r>
            <a:r>
              <a:rPr lang="ru-RU" dirty="0"/>
              <a:t> — переименовать каталог</a:t>
            </a:r>
          </a:p>
          <a:p>
            <a:r>
              <a:rPr lang="ru-RU" b="1" dirty="0"/>
              <a:t>Link / </a:t>
            </a:r>
            <a:r>
              <a:rPr lang="ru-RU" b="1" dirty="0" err="1"/>
              <a:t>Unlink</a:t>
            </a:r>
            <a:r>
              <a:rPr lang="ru-RU" dirty="0"/>
              <a:t> — создавать и удалять ссылки</a:t>
            </a:r>
          </a:p>
          <a:p>
            <a:r>
              <a:rPr lang="ru-RU" dirty="0"/>
              <a:t>Каталоги — такие же файлы, но со специальной структурой</a:t>
            </a:r>
          </a:p>
        </p:txBody>
      </p:sp>
    </p:spTree>
    <p:extLst>
      <p:ext uri="{BB962C8B-B14F-4D97-AF65-F5344CB8AC3E}">
        <p14:creationId xmlns:p14="http://schemas.microsoft.com/office/powerpoint/2010/main" val="23930564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9D625-01E9-35CD-E18E-C995E68B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и удаление каталогов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D30E-C44B-8F02-3CEE-3D5EF0825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Create</a:t>
            </a:r>
            <a:r>
              <a:rPr lang="ru-RU" b="1" dirty="0"/>
              <a:t> (</a:t>
            </a:r>
            <a:r>
              <a:rPr lang="ru-RU" b="1" dirty="0" err="1"/>
              <a:t>mkdir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Создаёт каталог</a:t>
            </a:r>
          </a:p>
          <a:p>
            <a:pPr lvl="1"/>
            <a:r>
              <a:rPr lang="ru-RU" dirty="0"/>
              <a:t>Добавляет записи . и .. Автоматически</a:t>
            </a:r>
          </a:p>
          <a:p>
            <a:r>
              <a:rPr lang="ru-RU" b="1" dirty="0" err="1"/>
              <a:t>Delete</a:t>
            </a:r>
            <a:r>
              <a:rPr lang="ru-RU" b="1" dirty="0"/>
              <a:t> (</a:t>
            </a:r>
            <a:r>
              <a:rPr lang="ru-RU" b="1" dirty="0" err="1"/>
              <a:t>rmdir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Можно удалить </a:t>
            </a:r>
            <a:r>
              <a:rPr lang="ru-RU" b="1" dirty="0"/>
              <a:t>только пустой каталог</a:t>
            </a:r>
            <a:endParaRPr lang="ru-RU" dirty="0"/>
          </a:p>
          <a:p>
            <a:pPr lvl="1"/>
            <a:r>
              <a:rPr lang="ru-RU" dirty="0"/>
              <a:t>Каталог с файлами удалить нельзя</a:t>
            </a:r>
          </a:p>
        </p:txBody>
      </p:sp>
    </p:spTree>
    <p:extLst>
      <p:ext uri="{BB962C8B-B14F-4D97-AF65-F5344CB8AC3E}">
        <p14:creationId xmlns:p14="http://schemas.microsoft.com/office/powerpoint/2010/main" val="23430081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FEB7-F890-BA06-8A0C-9C2C24DEC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каталогов</a:t>
            </a:r>
            <a:r>
              <a:rPr lang="en-US" dirty="0"/>
              <a:t>: </a:t>
            </a:r>
            <a:r>
              <a:rPr lang="en-US" dirty="0" err="1"/>
              <a:t>opendir</a:t>
            </a:r>
            <a:r>
              <a:rPr lang="en-US" dirty="0"/>
              <a:t>, </a:t>
            </a:r>
            <a:r>
              <a:rPr lang="en-US" dirty="0" err="1"/>
              <a:t>readdir</a:t>
            </a:r>
            <a:r>
              <a:rPr lang="en-US" dirty="0"/>
              <a:t>, </a:t>
            </a:r>
            <a:r>
              <a:rPr lang="en-US" dirty="0" err="1"/>
              <a:t>closedir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C76B0-47E2-524A-6CB4-D1A62121F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</a:t>
            </a:r>
            <a:r>
              <a:rPr lang="ru-RU" b="1" dirty="0" err="1"/>
              <a:t>pendir</a:t>
            </a:r>
            <a:r>
              <a:rPr lang="ru-RU" dirty="0"/>
              <a:t> — открыть каталог</a:t>
            </a:r>
          </a:p>
          <a:p>
            <a:r>
              <a:rPr lang="en-US" b="1" dirty="0"/>
              <a:t>r</a:t>
            </a:r>
            <a:r>
              <a:rPr lang="ru-RU" b="1" dirty="0" err="1"/>
              <a:t>eaddir</a:t>
            </a:r>
            <a:r>
              <a:rPr lang="ru-RU" dirty="0"/>
              <a:t> — вернуть следующую запись (имя файла)</a:t>
            </a:r>
          </a:p>
          <a:p>
            <a:r>
              <a:rPr lang="en-US" b="1" dirty="0"/>
              <a:t>c</a:t>
            </a:r>
            <a:r>
              <a:rPr lang="ru-RU" b="1" dirty="0" err="1"/>
              <a:t>losedir</a:t>
            </a:r>
            <a:r>
              <a:rPr lang="ru-RU" dirty="0"/>
              <a:t> — закрыть каталог</a:t>
            </a:r>
          </a:p>
          <a:p>
            <a:r>
              <a:rPr lang="ru-RU" b="1" dirty="0"/>
              <a:t>Почему нельзя использовать обычный </a:t>
            </a:r>
            <a:r>
              <a:rPr lang="ru-RU" b="1" dirty="0" err="1"/>
              <a:t>read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dirty="0"/>
              <a:t>Разные файловые системы имеют разные внутренние форматы каталогов</a:t>
            </a:r>
          </a:p>
          <a:p>
            <a:pPr lvl="1"/>
            <a:r>
              <a:rPr lang="ru-RU" dirty="0" err="1"/>
              <a:t>readdir</a:t>
            </a:r>
            <a:r>
              <a:rPr lang="ru-RU" dirty="0"/>
              <a:t> возвращает стандартную структуру</a:t>
            </a:r>
          </a:p>
          <a:p>
            <a:pPr lvl="1"/>
            <a:r>
              <a:rPr lang="ru-RU" dirty="0"/>
              <a:t>Программисту не нужно знать детали реализации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0748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16FF-33C3-B141-0023-147C14DD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Rename</a:t>
            </a:r>
            <a:r>
              <a:rPr lang="ru-RU" dirty="0"/>
              <a:t> — переименование каталогов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FB85F-5031-AFFB-B800-D393CEB9F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Каталоги можно переименовывать так же, как файлы</a:t>
            </a:r>
          </a:p>
          <a:p>
            <a:r>
              <a:rPr lang="ru-RU" dirty="0"/>
              <a:t>ОС просто меняет запись в родительском каталоге</a:t>
            </a:r>
          </a:p>
          <a:p>
            <a:r>
              <a:rPr lang="ru-RU" dirty="0"/>
              <a:t>Нет необходимости копировать данные</a:t>
            </a:r>
          </a:p>
        </p:txBody>
      </p:sp>
    </p:spTree>
    <p:extLst>
      <p:ext uri="{BB962C8B-B14F-4D97-AF65-F5344CB8AC3E}">
        <p14:creationId xmlns:p14="http://schemas.microsoft.com/office/powerpoint/2010/main" val="41660942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88C5-6C49-CD6D-7788-23D4CD3F2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link – </a:t>
            </a:r>
            <a:r>
              <a:rPr lang="ru-RU" dirty="0"/>
              <a:t>жёсткие ссылки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B802C-7C1F-AEE1-792A-31F822D60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Несколько имён могут ссылаться на один и тот же файл</a:t>
            </a:r>
          </a:p>
          <a:p>
            <a:r>
              <a:rPr lang="ru-RU" dirty="0"/>
              <a:t>При этом увеличивается счётчик ссылок в </a:t>
            </a:r>
            <a:r>
              <a:rPr lang="ru-RU" dirty="0" err="1"/>
              <a:t>inode</a:t>
            </a:r>
            <a:endParaRPr lang="ru-RU" dirty="0"/>
          </a:p>
          <a:p>
            <a:r>
              <a:rPr lang="ru-RU" dirty="0"/>
              <a:t>Файл удаляется только когда счётчик равен 0</a:t>
            </a:r>
          </a:p>
          <a:p>
            <a:r>
              <a:rPr lang="ru-RU" dirty="0"/>
              <a:t>Ссылки должны быть на одном диске</a:t>
            </a:r>
          </a:p>
          <a:p>
            <a:r>
              <a:rPr lang="ru-RU" dirty="0"/>
              <a:t>Нельзя делать 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link</a:t>
            </a:r>
            <a:r>
              <a:rPr lang="ru-RU" dirty="0"/>
              <a:t> на каталог (в UNIX), чтобы избежать циклов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6631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5AB0-A4F9-00EF-9428-DC108F510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Unlink </a:t>
            </a:r>
            <a:r>
              <a:rPr lang="ru-RU" dirty="0"/>
              <a:t>– удаление записи из каталога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C102E-6BAA-8874-1874-BA3BFE315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Удаляет имя файла из каталога</a:t>
            </a:r>
          </a:p>
          <a:p>
            <a:r>
              <a:rPr lang="ru-RU" dirty="0"/>
              <a:t>Если это была последняя ссылка → файл удаляется</a:t>
            </a:r>
          </a:p>
          <a:p>
            <a:r>
              <a:rPr lang="ru-RU" dirty="0"/>
              <a:t>Если есть другие ссылки → данные остаются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0854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D0F580-7AD6-DF57-C6AE-E3C967A32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478B2-BD31-2B84-E495-660BFC7450C4}"/>
              </a:ext>
            </a:extLst>
          </p:cNvPr>
          <p:cNvSpPr txBox="1"/>
          <p:nvPr/>
        </p:nvSpPr>
        <p:spPr>
          <a:xfrm>
            <a:off x="838200" y="1720840"/>
            <a:ext cx="10515599" cy="34163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ls -l</a:t>
            </a:r>
          </a:p>
          <a:p>
            <a:r>
              <a:rPr lang="en-US" dirty="0">
                <a:latin typeface="Consolas" panose="020B0609020204030204" pitchFamily="49" charset="0"/>
              </a:rPr>
              <a:t>total 4</a:t>
            </a:r>
          </a:p>
          <a:p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rw</a:t>
            </a:r>
            <a:r>
              <a:rPr lang="en-US" dirty="0">
                <a:latin typeface="Consolas" panose="020B0609020204030204" pitchFamily="49" charset="0"/>
              </a:rPr>
              <a:t>-r--r--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vivid </a:t>
            </a:r>
            <a:r>
              <a:rPr lang="en-US" dirty="0" err="1">
                <a:latin typeface="Consolas" panose="020B0609020204030204" pitchFamily="49" charset="0"/>
              </a:rPr>
              <a:t>vivid</a:t>
            </a:r>
            <a:r>
              <a:rPr lang="en-US" dirty="0">
                <a:latin typeface="Consolas" panose="020B0609020204030204" pitchFamily="49" charset="0"/>
              </a:rPr>
              <a:t> 6 Sep 11 00:28 file2.txt</a:t>
            </a:r>
          </a:p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ln file2.txt ref</a:t>
            </a:r>
          </a:p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ls -l</a:t>
            </a:r>
          </a:p>
          <a:p>
            <a:r>
              <a:rPr lang="en-US" dirty="0">
                <a:latin typeface="Consolas" panose="020B0609020204030204" pitchFamily="49" charset="0"/>
              </a:rPr>
              <a:t>total 8</a:t>
            </a:r>
          </a:p>
          <a:p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rw</a:t>
            </a:r>
            <a:r>
              <a:rPr lang="en-US" dirty="0">
                <a:latin typeface="Consolas" panose="020B0609020204030204" pitchFamily="49" charset="0"/>
              </a:rPr>
              <a:t>-r--r--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vivid </a:t>
            </a:r>
            <a:r>
              <a:rPr lang="en-US" dirty="0" err="1">
                <a:latin typeface="Consolas" panose="020B0609020204030204" pitchFamily="49" charset="0"/>
              </a:rPr>
              <a:t>vivid</a:t>
            </a:r>
            <a:r>
              <a:rPr lang="en-US" dirty="0">
                <a:latin typeface="Consolas" panose="020B0609020204030204" pitchFamily="49" charset="0"/>
              </a:rPr>
              <a:t> 6 Sep 11 00:28 file2.txt</a:t>
            </a:r>
          </a:p>
          <a:p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rw</a:t>
            </a:r>
            <a:r>
              <a:rPr lang="en-US" dirty="0">
                <a:latin typeface="Consolas" panose="020B0609020204030204" pitchFamily="49" charset="0"/>
              </a:rPr>
              <a:t>-r--r--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 vivid </a:t>
            </a:r>
            <a:r>
              <a:rPr lang="en-US" dirty="0" err="1">
                <a:latin typeface="Consolas" panose="020B0609020204030204" pitchFamily="49" charset="0"/>
              </a:rPr>
              <a:t>vivid</a:t>
            </a:r>
            <a:r>
              <a:rPr lang="en-US" dirty="0">
                <a:latin typeface="Consolas" panose="020B0609020204030204" pitchFamily="49" charset="0"/>
              </a:rPr>
              <a:t> 6 Sep 11 00:28 ref</a:t>
            </a:r>
          </a:p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unlink file2.txt</a:t>
            </a:r>
          </a:p>
          <a:p>
            <a:r>
              <a:rPr lang="en-US" dirty="0" err="1">
                <a:latin typeface="Consolas" panose="020B0609020204030204" pitchFamily="49" charset="0"/>
              </a:rPr>
              <a:t>vivid@MSI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~/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$ ls -l</a:t>
            </a:r>
          </a:p>
          <a:p>
            <a:r>
              <a:rPr lang="en-US" dirty="0">
                <a:latin typeface="Consolas" panose="020B0609020204030204" pitchFamily="49" charset="0"/>
              </a:rPr>
              <a:t>total 4</a:t>
            </a:r>
          </a:p>
          <a:p>
            <a:r>
              <a:rPr lang="en-US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rw</a:t>
            </a:r>
            <a:r>
              <a:rPr lang="en-US" dirty="0">
                <a:latin typeface="Consolas" panose="020B0609020204030204" pitchFamily="49" charset="0"/>
              </a:rPr>
              <a:t>-r--r--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 vivid </a:t>
            </a:r>
            <a:r>
              <a:rPr lang="en-US" dirty="0" err="1">
                <a:latin typeface="Consolas" panose="020B0609020204030204" pitchFamily="49" charset="0"/>
              </a:rPr>
              <a:t>vivid</a:t>
            </a:r>
            <a:r>
              <a:rPr lang="en-US" dirty="0">
                <a:latin typeface="Consolas" panose="020B0609020204030204" pitchFamily="49" charset="0"/>
              </a:rPr>
              <a:t> 6 Sep 11 00:28 ref</a:t>
            </a:r>
          </a:p>
        </p:txBody>
      </p:sp>
    </p:spTree>
    <p:extLst>
      <p:ext uri="{BB962C8B-B14F-4D97-AF65-F5344CB8AC3E}">
        <p14:creationId xmlns:p14="http://schemas.microsoft.com/office/powerpoint/2010/main" val="20638051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2A58-C560-EDE2-94A2-CD34409D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Символические ссылки </a:t>
            </a:r>
            <a:r>
              <a:rPr lang="en-US" dirty="0"/>
              <a:t>(soft links)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2BFE6-E1BD-5E76-63EF-934EC0C86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 маленький файл, содержащий путь к другому файлу</a:t>
            </a:r>
          </a:p>
          <a:p>
            <a:r>
              <a:rPr lang="ru-RU" dirty="0"/>
              <a:t>Может ссылаться на файлы на других дисках</a:t>
            </a:r>
          </a:p>
          <a:p>
            <a:r>
              <a:rPr lang="ru-RU" dirty="0"/>
              <a:t>Может указывать на удалённые файлы</a:t>
            </a:r>
          </a:p>
          <a:p>
            <a:r>
              <a:rPr lang="ru-RU" dirty="0"/>
              <a:t>Гибче, но медленнее, чем 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links</a:t>
            </a:r>
            <a:endParaRPr lang="en-US" dirty="0"/>
          </a:p>
          <a:p>
            <a:r>
              <a:rPr lang="ru-RU" dirty="0"/>
              <a:t>Схема:</a:t>
            </a:r>
          </a:p>
          <a:p>
            <a:pPr lvl="1"/>
            <a:r>
              <a:rPr lang="en-US" dirty="0"/>
              <a:t>docs/report.txt</a:t>
            </a:r>
          </a:p>
          <a:p>
            <a:pPr lvl="1"/>
            <a:r>
              <a:rPr lang="en-US" dirty="0"/>
              <a:t>shortcut → "docs/report.txt“</a:t>
            </a:r>
          </a:p>
          <a:p>
            <a:r>
              <a:rPr lang="ru-RU" dirty="0"/>
              <a:t>Создание символической ссылки в </a:t>
            </a:r>
            <a:r>
              <a:rPr lang="en-US" dirty="0"/>
              <a:t>Linux:</a:t>
            </a:r>
          </a:p>
          <a:p>
            <a:pPr lvl="1"/>
            <a:r>
              <a:rPr lang="en-US" dirty="0"/>
              <a:t>ln –s </a:t>
            </a:r>
            <a:r>
              <a:rPr lang="ru-RU" dirty="0" err="1"/>
              <a:t>путь_к_файлу</a:t>
            </a:r>
            <a:r>
              <a:rPr lang="ru-RU" dirty="0"/>
              <a:t> </a:t>
            </a:r>
            <a:r>
              <a:rPr lang="ru-RU" dirty="0" err="1"/>
              <a:t>имя_ссылки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21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4552</TotalTime>
  <Words>7425</Words>
  <Application>Microsoft Macintosh PowerPoint</Application>
  <PresentationFormat>Widescreen</PresentationFormat>
  <Paragraphs>858</Paragraphs>
  <Slides>74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Aptos</vt:lpstr>
      <vt:lpstr>Aptos Display</vt:lpstr>
      <vt:lpstr>Arial</vt:lpstr>
      <vt:lpstr>Consolas</vt:lpstr>
      <vt:lpstr>Courier New</vt:lpstr>
      <vt:lpstr>Office Theme</vt:lpstr>
      <vt:lpstr>Операционные системы</vt:lpstr>
      <vt:lpstr>PowerPoint Presentation</vt:lpstr>
      <vt:lpstr>Необходимость файловых систем</vt:lpstr>
      <vt:lpstr>Устройства для долговременного хранения</vt:lpstr>
      <vt:lpstr>Абстракция файла</vt:lpstr>
      <vt:lpstr>Роль файловой системы</vt:lpstr>
      <vt:lpstr>Файлы с точки зрения пользователя</vt:lpstr>
      <vt:lpstr>Что такое файл и зачем нужны имена</vt:lpstr>
      <vt:lpstr>Правила именования файлов</vt:lpstr>
      <vt:lpstr>Семейство файловых систем Windows</vt:lpstr>
      <vt:lpstr>Расширения файлов и их значение</vt:lpstr>
      <vt:lpstr>Примеры расширений</vt:lpstr>
      <vt:lpstr>Структура файла</vt:lpstr>
      <vt:lpstr>Основные структуры файлов</vt:lpstr>
      <vt:lpstr>Файлы как последовательность байтов</vt:lpstr>
      <vt:lpstr>Файлы как последовательность записей</vt:lpstr>
      <vt:lpstr>Файлы как деревья записей</vt:lpstr>
      <vt:lpstr>Сравнение подходов</vt:lpstr>
      <vt:lpstr>Типы файлов</vt:lpstr>
      <vt:lpstr>Основные типы файлов в ОС</vt:lpstr>
      <vt:lpstr>Текстовые и бинарные файлы</vt:lpstr>
      <vt:lpstr>PowerPoint Presentation</vt:lpstr>
      <vt:lpstr>Типизация файлов и ограничения</vt:lpstr>
      <vt:lpstr>Доступ к содержимому файла</vt:lpstr>
      <vt:lpstr>Виды доступа к файлам</vt:lpstr>
      <vt:lpstr>Последовательный доступ</vt:lpstr>
      <vt:lpstr>Произвольный доступ</vt:lpstr>
      <vt:lpstr>Сравнение методов доступа</vt:lpstr>
      <vt:lpstr>Атрибуты файла</vt:lpstr>
      <vt:lpstr>Что такое атрибуты файла</vt:lpstr>
      <vt:lpstr>Атрибуты, связанные с безопасностью</vt:lpstr>
      <vt:lpstr>Флаги и специальные признаки</vt:lpstr>
      <vt:lpstr>Временные метки</vt:lpstr>
      <vt:lpstr>Размеры и структура записи</vt:lpstr>
      <vt:lpstr>Пример атрибутов файлов </vt:lpstr>
      <vt:lpstr>Операции над файлами</vt:lpstr>
      <vt:lpstr>Основные группы операций над файлами (системных вызовов)</vt:lpstr>
      <vt:lpstr>Создание и удаление</vt:lpstr>
      <vt:lpstr>Открытие и закрытие</vt:lpstr>
      <vt:lpstr>Работа с содержимым файла</vt:lpstr>
      <vt:lpstr>Seek – произвольный доступ</vt:lpstr>
      <vt:lpstr>PowerPoint Presentation</vt:lpstr>
      <vt:lpstr>Работа с атрибутами</vt:lpstr>
      <vt:lpstr>Rename</vt:lpstr>
      <vt:lpstr>Пример – программа copyfile</vt:lpstr>
      <vt:lpstr>PowerPoint Presentation</vt:lpstr>
      <vt:lpstr>Директории (каталоги)</vt:lpstr>
      <vt:lpstr>Что такое каталог?</vt:lpstr>
      <vt:lpstr>Одноуровневая система каталогов</vt:lpstr>
      <vt:lpstr>Плюсы и минусы одноуровневой системы</vt:lpstr>
      <vt:lpstr>Почему старые идеи возвращаются</vt:lpstr>
      <vt:lpstr>Иерархические системы каталогов</vt:lpstr>
      <vt:lpstr>Необходимость в иерархии каталогов</vt:lpstr>
      <vt:lpstr>Пример дерева каталогов</vt:lpstr>
      <vt:lpstr>Иерархия в многопользовательских системах</vt:lpstr>
      <vt:lpstr>Преимущества</vt:lpstr>
      <vt:lpstr>Исторический аспект</vt:lpstr>
      <vt:lpstr>Пути к файлам</vt:lpstr>
      <vt:lpstr>Два способа указания пути к файлам</vt:lpstr>
      <vt:lpstr>Абсолютные пути</vt:lpstr>
      <vt:lpstr>Относительные пути и рабочий каталог</vt:lpstr>
      <vt:lpstr>Пример равнозначных команд</vt:lpstr>
      <vt:lpstr>Когда обязательны абсолютные пути</vt:lpstr>
      <vt:lpstr>Изменение рабочего каталога</vt:lpstr>
      <vt:lpstr>Специальные имена «.» и «..»</vt:lpstr>
      <vt:lpstr>Операции над каталогами</vt:lpstr>
      <vt:lpstr>Основные операции над каталогами</vt:lpstr>
      <vt:lpstr>Создание и удаление каталогов</vt:lpstr>
      <vt:lpstr>Чтение каталогов: opendir, readdir, closedir</vt:lpstr>
      <vt:lpstr>Rename — переименование каталогов</vt:lpstr>
      <vt:lpstr>Hard link – жёсткие ссылки</vt:lpstr>
      <vt:lpstr>Unlink – удаление записи из каталога</vt:lpstr>
      <vt:lpstr>Пример</vt:lpstr>
      <vt:lpstr>Символические ссылки (soft links)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artem danilov</cp:lastModifiedBy>
  <cp:revision>18</cp:revision>
  <dcterms:created xsi:type="dcterms:W3CDTF">2025-11-11T19:32:04Z</dcterms:created>
  <dcterms:modified xsi:type="dcterms:W3CDTF">2025-12-22T08:24:51Z</dcterms:modified>
</cp:coreProperties>
</file>