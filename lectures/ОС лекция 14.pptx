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6" r:id="rId2"/>
    <p:sldId id="336" r:id="rId3"/>
    <p:sldId id="338" r:id="rId4"/>
    <p:sldId id="339" r:id="rId5"/>
    <p:sldId id="337" r:id="rId6"/>
    <p:sldId id="341" r:id="rId7"/>
    <p:sldId id="342" r:id="rId8"/>
    <p:sldId id="343" r:id="rId9"/>
    <p:sldId id="344" r:id="rId10"/>
    <p:sldId id="345" r:id="rId11"/>
    <p:sldId id="348" r:id="rId12"/>
    <p:sldId id="346" r:id="rId13"/>
    <p:sldId id="347" r:id="rId14"/>
    <p:sldId id="349" r:id="rId15"/>
    <p:sldId id="484" r:id="rId16"/>
    <p:sldId id="350" r:id="rId17"/>
    <p:sldId id="351" r:id="rId18"/>
    <p:sldId id="352" r:id="rId19"/>
    <p:sldId id="353" r:id="rId20"/>
    <p:sldId id="354" r:id="rId21"/>
    <p:sldId id="355" r:id="rId22"/>
    <p:sldId id="358" r:id="rId23"/>
    <p:sldId id="359" r:id="rId24"/>
    <p:sldId id="360" r:id="rId25"/>
    <p:sldId id="361" r:id="rId26"/>
    <p:sldId id="362" r:id="rId27"/>
    <p:sldId id="363" r:id="rId28"/>
    <p:sldId id="364" r:id="rId29"/>
    <p:sldId id="365" r:id="rId30"/>
    <p:sldId id="366" r:id="rId31"/>
    <p:sldId id="374" r:id="rId32"/>
    <p:sldId id="375" r:id="rId33"/>
    <p:sldId id="376" r:id="rId34"/>
    <p:sldId id="377" r:id="rId35"/>
    <p:sldId id="378" r:id="rId36"/>
    <p:sldId id="379" r:id="rId37"/>
    <p:sldId id="380" r:id="rId38"/>
    <p:sldId id="456" r:id="rId39"/>
    <p:sldId id="457" r:id="rId40"/>
    <p:sldId id="458" r:id="rId41"/>
    <p:sldId id="459" r:id="rId42"/>
    <p:sldId id="460" r:id="rId43"/>
    <p:sldId id="461" r:id="rId44"/>
    <p:sldId id="462" r:id="rId45"/>
    <p:sldId id="463" r:id="rId46"/>
    <p:sldId id="464" r:id="rId47"/>
    <p:sldId id="465" r:id="rId48"/>
    <p:sldId id="466" r:id="rId49"/>
    <p:sldId id="467" r:id="rId50"/>
    <p:sldId id="483" r:id="rId51"/>
    <p:sldId id="468" r:id="rId52"/>
    <p:sldId id="469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DB297147-A0E9-472B-953F-905352E88EDB}">
          <p14:sldIdLst>
            <p14:sldId id="256"/>
          </p14:sldIdLst>
        </p14:section>
        <p14:section name="Реализация файловых систем" id="{94D6519C-A1D1-4CA2-BC9E-5A033A8DEB04}">
          <p14:sldIdLst>
            <p14:sldId id="336"/>
            <p14:sldId id="338"/>
            <p14:sldId id="339"/>
            <p14:sldId id="337"/>
            <p14:sldId id="341"/>
            <p14:sldId id="342"/>
            <p14:sldId id="343"/>
            <p14:sldId id="344"/>
            <p14:sldId id="345"/>
            <p14:sldId id="348"/>
            <p14:sldId id="346"/>
            <p14:sldId id="347"/>
            <p14:sldId id="349"/>
            <p14:sldId id="484"/>
            <p14:sldId id="350"/>
            <p14:sldId id="351"/>
            <p14:sldId id="352"/>
            <p14:sldId id="353"/>
            <p14:sldId id="354"/>
            <p14:sldId id="355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74"/>
            <p14:sldId id="375"/>
            <p14:sldId id="376"/>
            <p14:sldId id="377"/>
            <p14:sldId id="378"/>
            <p14:sldId id="379"/>
            <p14:sldId id="380"/>
            <p14:sldId id="456"/>
            <p14:sldId id="457"/>
            <p14:sldId id="458"/>
            <p14:sldId id="459"/>
            <p14:sldId id="460"/>
            <p14:sldId id="461"/>
            <p14:sldId id="462"/>
            <p14:sldId id="463"/>
            <p14:sldId id="464"/>
            <p14:sldId id="465"/>
            <p14:sldId id="466"/>
            <p14:sldId id="467"/>
            <p14:sldId id="483"/>
            <p14:sldId id="468"/>
            <p14:sldId id="4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01" autoAdjust="0"/>
    <p:restoredTop sz="62106" autoAdjust="0"/>
  </p:normalViewPr>
  <p:slideViewPr>
    <p:cSldViewPr snapToGrid="0" showGuides="1">
      <p:cViewPr varScale="1">
        <p:scale>
          <a:sx n="72" d="100"/>
          <a:sy n="72" d="100"/>
        </p:scale>
        <p:origin x="2096" y="200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4C0146-8AB6-4B5E-950E-E49A3E51927A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2A3548-F974-4B28-9500-7C27F0838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439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Внутренняя реализация файлов в файловой системе начинается с вопроса: как связать блоки диска с конкретным файлом? Один из самых простых способов —</a:t>
            </a:r>
            <a:r>
              <a:rPr lang="en-US" dirty="0"/>
              <a:t> </a:t>
            </a:r>
            <a:r>
              <a:rPr lang="ru-RU" i="1" dirty="0"/>
              <a:t>непрерывное размещение</a:t>
            </a:r>
            <a:r>
              <a:rPr lang="ru-RU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2576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Первый способ организации файлов — это непрерывное размещение.</a:t>
            </a:r>
          </a:p>
          <a:p>
            <a:r>
              <a:rPr lang="ru-RU" dirty="0"/>
              <a:t>Его идея проста: весь файл лежит на диске в виде одного непрерывного фрагмента блоков.</a:t>
            </a:r>
          </a:p>
          <a:p>
            <a:r>
              <a:rPr lang="ru-RU" dirty="0"/>
              <a:t>В результате файловой системе нужно запомнить всего два параметра — номер первого блока и длину файла.</a:t>
            </a:r>
          </a:p>
          <a:p>
            <a:r>
              <a:rPr lang="ru-RU" dirty="0"/>
              <a:t>Это крайне удобно и обеспечивает максимальную скорость чтения, потому что нужен только один переход головки, а дальше блоки читаются подряд.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779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этой схеме показано, как файлы могут располагаться подряд в непрерывных областях.</a:t>
            </a:r>
          </a:p>
          <a:p>
            <a:r>
              <a:rPr lang="ru-RU" dirty="0"/>
              <a:t>Сначала записан файл A, затем сразу за ним — файл B, далее файл C, и так далее.</a:t>
            </a:r>
          </a:p>
          <a:p>
            <a:r>
              <a:rPr lang="ru-RU" dirty="0"/>
              <a:t>В таком идеальном сценарии всё работает очень эффективно: любой файл можно прочитать быстро и без лишних перемещений по диску.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781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Непрерывное размещение прекрасно работает там, где файлы не меняют размера — например, в системах хранения фильмов, ISO-образов, архивов.</a:t>
            </a:r>
          </a:p>
          <a:p>
            <a:r>
              <a:rPr lang="ru-RU" dirty="0"/>
              <a:t>Чтение идёт с максимальной пропускной способностью диска, ведь файл лежит одним куском.</a:t>
            </a:r>
          </a:p>
          <a:p>
            <a:r>
              <a:rPr lang="ru-RU" dirty="0"/>
              <a:t>С точки зрения разработчика файловой системы — это рай: минимум метаданных, минимум вычислений.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356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Но у непрерывного размещения есть критически важный недостаток — </a:t>
            </a:r>
            <a:r>
              <a:rPr lang="ru-RU" b="1" dirty="0"/>
              <a:t>фрагментация</a:t>
            </a:r>
            <a:r>
              <a:rPr lang="ru-RU" dirty="0"/>
              <a:t>.</a:t>
            </a:r>
          </a:p>
          <a:p>
            <a:r>
              <a:rPr lang="ru-RU" dirty="0"/>
              <a:t>Когда файлы удаляются, на их месте образуются свободные участки — «дыры».</a:t>
            </a:r>
          </a:p>
          <a:p>
            <a:r>
              <a:rPr lang="ru-RU" dirty="0"/>
              <a:t>Диск уже нельзя считать сплошной полосой свободного места, и записывать новые большие файлы становится трудно.</a:t>
            </a:r>
          </a:p>
          <a:p>
            <a:r>
              <a:rPr lang="ru-RU" dirty="0"/>
              <a:t>Уплотнение диска теоретически возможно, но на практике нереально — нужно перемещать гигабайты или терабайты данных.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674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Ещё одна серьёзная проблема — необходимость заранее знать конечный размер файла.</a:t>
            </a:r>
          </a:p>
          <a:p>
            <a:r>
              <a:rPr lang="ru-RU" dirty="0"/>
              <a:t>Представьте, что человек записывает видео. Редактор должен спросить: «А какой будет точный размер файла?»</a:t>
            </a:r>
          </a:p>
          <a:p>
            <a:r>
              <a:rPr lang="ru-RU" dirty="0"/>
              <a:t>Если пользователь скажет слишком маленькое число, запись остановится, потому что дыра закончилась.</a:t>
            </a:r>
          </a:p>
          <a:p>
            <a:r>
              <a:rPr lang="ru-RU" dirty="0"/>
              <a:t>Если число слишком большое — подходящей дыры может просто не найтись.</a:t>
            </a:r>
          </a:p>
          <a:p>
            <a:r>
              <a:rPr lang="ru-RU" dirty="0"/>
              <a:t>Очевидно, это приводит к ужасному пользовательскому опыту.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0243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Хотя непрерывное размещение выглядит элегантно, оно плохо подходит для современных систем, где файлы создаются, удаляются, растут и сокращаются постоянно.</a:t>
            </a:r>
          </a:p>
          <a:p>
            <a:r>
              <a:rPr lang="ru-RU" dirty="0"/>
              <a:t>Из-за фрагментации и необходимости знать размер файла заранее этот метод практически не используется в современных ОС, за исключением специальных случаев вроде CD-образов.</a:t>
            </a:r>
          </a:p>
          <a:p>
            <a:r>
              <a:rPr lang="ru-RU" dirty="0"/>
              <a:t>В следующих разделах мы увидим, какие более гибкие методы пришли на замену.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5768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мы переходим к самому важному: каким образом файловая система узнаёт, какие блоки принадлежат конкретному файлу.</a:t>
            </a:r>
          </a:p>
          <a:p>
            <a:r>
              <a:rPr lang="ru-RU" dirty="0"/>
              <a:t>Существует несколько методов — от простых до очень масштабируемых.</a:t>
            </a:r>
          </a:p>
          <a:p>
            <a:r>
              <a:rPr lang="ru-RU" dirty="0"/>
              <a:t>Мы рассмотрим цепочки блоков, таблицу FAT и наиболее современный метод — i-</a:t>
            </a:r>
            <a:r>
              <a:rPr lang="ru-RU" dirty="0" err="1"/>
              <a:t>nodes</a:t>
            </a:r>
            <a:r>
              <a:rPr lang="ru-RU" dirty="0"/>
              <a:t>.</a:t>
            </a:r>
          </a:p>
          <a:p>
            <a:r>
              <a:rPr lang="ru-RU" dirty="0"/>
              <a:t>Понимание этих структур критически важно, потому что именно они определяют скорость работы файловой системы, её устойчивость и возможность работать с большими дисками.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8403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Первый метод — связанное размещение.</a:t>
            </a:r>
          </a:p>
          <a:p>
            <a:r>
              <a:rPr lang="ru-RU" dirty="0"/>
              <a:t>Каждый блок содержит указатель на следующий, и таким образом все блоки файла образуют цепочку. Такой подход устраняет проблему фрагментации — свободные блоки можно использовать в любом порядке.</a:t>
            </a:r>
          </a:p>
          <a:p>
            <a:r>
              <a:rPr lang="ru-RU" dirty="0"/>
              <a:t>Но есть два больших недостатка.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Во-первых, произвольный доступ становится почти невозможным: чтобы прочитать блок номер n, нужно пройти все предыдущие.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Во-вторых, часть блока расходуется на указатель, а значит размер блока перестаёт быть степенью двойки, что ухудшает производительность ввода-вывода.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8801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устранить недостатки цепочного размещения, разработали FAT.</a:t>
            </a:r>
          </a:p>
          <a:p>
            <a:r>
              <a:rPr lang="ru-RU" dirty="0"/>
              <a:t>Теперь указатель к следующему блоку хранится не в самом блоке, а в массиве в памяти.</a:t>
            </a:r>
          </a:p>
          <a:p>
            <a:r>
              <a:rPr lang="ru-RU" dirty="0"/>
              <a:t>Это позволяет использовать блок на 100% под данные и ускоряет поиск следующего блока, потому что вся цепочка доступна в RAM.</a:t>
            </a:r>
          </a:p>
          <a:p>
            <a:r>
              <a:rPr lang="ru-RU" dirty="0"/>
              <a:t>Но появляется огромная проблема: FAT должна помещаться в памяти целиком.</a:t>
            </a:r>
          </a:p>
          <a:p>
            <a:r>
              <a:rPr lang="ru-RU" dirty="0"/>
              <a:t>Для большого диска таблица может занимать гигабайты, поэтому FAT подходит только для флешек, SD-карт малого объёма и старых систем вроде MS-DOS.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3539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I-</a:t>
            </a:r>
            <a:r>
              <a:rPr lang="ru-RU" dirty="0" err="1"/>
              <a:t>nodes</a:t>
            </a:r>
            <a:r>
              <a:rPr lang="ru-RU" dirty="0"/>
              <a:t> решают проблему масштабируемости полностью.</a:t>
            </a:r>
          </a:p>
          <a:p>
            <a:r>
              <a:rPr lang="ru-RU" dirty="0"/>
              <a:t>Каждому файлу соответствует i-</a:t>
            </a:r>
            <a:r>
              <a:rPr lang="ru-RU" dirty="0" err="1"/>
              <a:t>node</a:t>
            </a:r>
            <a:r>
              <a:rPr lang="ru-RU" dirty="0"/>
              <a:t> — структура, в которой хранятся его атрибуты и адреса блоков.</a:t>
            </a:r>
          </a:p>
          <a:p>
            <a:r>
              <a:rPr lang="ru-RU" dirty="0"/>
              <a:t>В отличие от FAT, в памяти нужно держать только i-</a:t>
            </a:r>
            <a:r>
              <a:rPr lang="ru-RU" dirty="0" err="1"/>
              <a:t>nodes</a:t>
            </a:r>
            <a:r>
              <a:rPr lang="ru-RU" dirty="0"/>
              <a:t> для открытых файлов.</a:t>
            </a:r>
          </a:p>
          <a:p>
            <a:r>
              <a:rPr lang="ru-RU" dirty="0"/>
              <a:t>Это означает, что файловая система спокойно масштабируется на петабайты и эксабайты.</a:t>
            </a:r>
          </a:p>
          <a:p>
            <a:r>
              <a:rPr lang="ru-RU" dirty="0"/>
              <a:t>Проблему фиксированного числа адресов решают косвенные блоки:</a:t>
            </a:r>
            <a:br>
              <a:rPr lang="ru-RU" dirty="0"/>
            </a:br>
            <a:r>
              <a:rPr lang="ru-RU" dirty="0"/>
              <a:t>— один блок содержит адреса дополнительных блоков;</a:t>
            </a:r>
            <a:br>
              <a:rPr lang="ru-RU" dirty="0"/>
            </a:br>
            <a:r>
              <a:rPr lang="ru-RU" dirty="0"/>
              <a:t>— двойные и тройные косвенные блоки позволяют адресовать миллионы блоков.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6588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3184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Каталог — это структура, которая связывает человеко-читаемое имя файла с тем, где фактически лежат его блоки на диске.</a:t>
            </a:r>
          </a:p>
          <a:p>
            <a:r>
              <a:rPr lang="ru-RU" dirty="0"/>
              <a:t>Когда мы открываем файл, система должна по имени найти соответствующую запись каталога и получить всю информацию: первый блок, номер i-</a:t>
            </a:r>
            <a:r>
              <a:rPr lang="ru-RU" dirty="0" err="1"/>
              <a:t>node</a:t>
            </a:r>
            <a:r>
              <a:rPr lang="ru-RU" dirty="0"/>
              <a:t>, или другие данные.</a:t>
            </a:r>
          </a:p>
          <a:p>
            <a:r>
              <a:rPr lang="ru-RU" dirty="0"/>
              <a:t>Каталоги могут быть простыми и содержать всё прямо в записи, или более гибкими — как в UNIX, где запись содержит лишь имя и номер i-</a:t>
            </a:r>
            <a:r>
              <a:rPr lang="ru-RU" dirty="0" err="1"/>
              <a:t>node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749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Самая примитивная схема — хранить имя файла фиксированной длины, например 255 байт.</a:t>
            </a:r>
          </a:p>
          <a:p>
            <a:r>
              <a:rPr lang="ru-RU" dirty="0"/>
              <a:t>Это легко реализовать, но крайне неэффективно: подавляющее большинство файлов имеют короткие имена, а место в каталоге тратится зря.</a:t>
            </a:r>
          </a:p>
          <a:p>
            <a:r>
              <a:rPr lang="ru-RU" dirty="0"/>
              <a:t>Сегодня такой подход почти не используется.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9974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UNIX и других современных системах запись каталога содержит только имя и номер i-</a:t>
            </a:r>
            <a:r>
              <a:rPr lang="ru-RU" dirty="0" err="1"/>
              <a:t>node</a:t>
            </a:r>
            <a:r>
              <a:rPr lang="ru-RU" dirty="0"/>
              <a:t>.</a:t>
            </a:r>
          </a:p>
          <a:p>
            <a:r>
              <a:rPr lang="ru-RU" dirty="0"/>
              <a:t>Это делает каталоги компактными и ускоряет их обработку.</a:t>
            </a:r>
          </a:p>
          <a:p>
            <a:r>
              <a:rPr lang="ru-RU" dirty="0"/>
              <a:t>Атрибуты файла хранятся в i-</a:t>
            </a:r>
            <a:r>
              <a:rPr lang="ru-RU" dirty="0" err="1"/>
              <a:t>node</a:t>
            </a:r>
            <a:r>
              <a:rPr lang="ru-RU" dirty="0"/>
              <a:t> — и система может менять их, не изменяя каталог.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8842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больших каталогах линейный поиск становится слишком медленным.</a:t>
            </a:r>
          </a:p>
          <a:p>
            <a:r>
              <a:rPr lang="ru-RU" dirty="0"/>
              <a:t>Поэтому можно использовать хеш-таблицу: имя </a:t>
            </a:r>
            <a:r>
              <a:rPr lang="ru-RU" dirty="0" err="1"/>
              <a:t>хешируется</a:t>
            </a:r>
            <a:r>
              <a:rPr lang="ru-RU" dirty="0"/>
              <a:t>, и система смотрит только те записи, которые попали в соответствующий </a:t>
            </a:r>
            <a:r>
              <a:rPr lang="ru-RU" dirty="0" err="1"/>
              <a:t>bucket</a:t>
            </a:r>
            <a:r>
              <a:rPr lang="ru-RU" dirty="0"/>
              <a:t>.</a:t>
            </a:r>
          </a:p>
          <a:p>
            <a:r>
              <a:rPr lang="ru-RU" dirty="0"/>
              <a:t>Такой подход существенно ускоряет поиск, но усложняет реализацию — поэтому используется в системах, где каталоги могут содержать сотни или тысячи файлов.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1722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Ещё один способ ускорить поиск — кеширование.</a:t>
            </a:r>
          </a:p>
          <a:p>
            <a:r>
              <a:rPr lang="ru-RU" dirty="0"/>
              <a:t>Если многие операции обращаются к одной группе файлов, их имена сохраняются в кеше, что позволяет находить записи каталога мгновенно.</a:t>
            </a:r>
          </a:p>
          <a:p>
            <a:r>
              <a:rPr lang="ru-RU" dirty="0"/>
              <a:t>Технология простая, но даёт реальный выигрыш в производительности.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8966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несколько пользователей работают над общим проектом, им нужен совместный доступ к одним и тем же данным.</a:t>
            </a:r>
          </a:p>
          <a:p>
            <a:r>
              <a:rPr lang="ru-RU" dirty="0"/>
              <a:t>Наиболее удобный способ — дать файлу несколько имён в разных каталогах. Но как только файл появляется в более чем одном месте, файловая система перестаёт быть деревом и превращается в ориентированный ациклический граф.</a:t>
            </a:r>
          </a:p>
          <a:p>
            <a:r>
              <a:rPr lang="ru-RU" dirty="0"/>
              <a:t>Это открывает новые возможности, но и усложняет обслуживание файловой системы.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0719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Жёсткая ссылка — это ещё одно имя, которое указывает на тот же i-</a:t>
            </a:r>
            <a:r>
              <a:rPr lang="ru-RU" dirty="0" err="1"/>
              <a:t>node</a:t>
            </a:r>
            <a:r>
              <a:rPr lang="ru-RU" dirty="0"/>
              <a:t>. Все имена равноправны: нет «главного» и «побочного».</a:t>
            </a:r>
          </a:p>
          <a:p>
            <a:r>
              <a:rPr lang="ru-RU" dirty="0"/>
              <a:t>Файл существует до тех пор, пока счётчик ссылок в его i-</a:t>
            </a:r>
            <a:r>
              <a:rPr lang="ru-RU" dirty="0" err="1"/>
              <a:t>node</a:t>
            </a:r>
            <a:r>
              <a:rPr lang="ru-RU" dirty="0"/>
              <a:t> не станет нулём. Если пользователь С удаляет файл, но пользователь B имеет на него ссылку, i-</a:t>
            </a:r>
            <a:r>
              <a:rPr lang="ru-RU" dirty="0" err="1"/>
              <a:t>node</a:t>
            </a:r>
            <a:r>
              <a:rPr lang="ru-RU" dirty="0"/>
              <a:t> остаётся. Такой файл «живёт» пока не удалит его последний пользователь — что создаёт сложности учёта и квот.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8697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Одна из главных проблем жёстких ссылок — невозможность отследить, где ещё находятся ссылки на этот файл.</a:t>
            </a:r>
          </a:p>
          <a:p>
            <a:r>
              <a:rPr lang="ru-RU" dirty="0"/>
              <a:t>i-</a:t>
            </a:r>
            <a:r>
              <a:rPr lang="ru-RU" dirty="0" err="1"/>
              <a:t>node</a:t>
            </a:r>
            <a:r>
              <a:rPr lang="ru-RU" dirty="0"/>
              <a:t> хранит только счётчик, но не список каталогов.</a:t>
            </a:r>
          </a:p>
          <a:p>
            <a:r>
              <a:rPr lang="ru-RU" dirty="0"/>
              <a:t>Поэтому при удалении «своего» имени файл остаётся, и владелец может продолжать занимать дисковое пространство, даже не подозревая об этом.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9800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Символическая ссылка — это не ссылка на i-</a:t>
            </a:r>
            <a:r>
              <a:rPr lang="ru-RU" dirty="0" err="1"/>
              <a:t>node</a:t>
            </a:r>
            <a:r>
              <a:rPr lang="ru-RU" dirty="0"/>
              <a:t>, а просто файл с текстовым путём.</a:t>
            </a:r>
          </a:p>
          <a:p>
            <a:r>
              <a:rPr lang="ru-RU" dirty="0"/>
              <a:t>При открытии система читает путь, разбирает его и переходит по нему к настоящему файлу.</a:t>
            </a:r>
          </a:p>
          <a:p>
            <a:r>
              <a:rPr lang="ru-RU" dirty="0"/>
              <a:t>Большой плюс — владелец может удалить файл, и это не вызывает коллизий: остальные просто получают недействительную ссылку.</a:t>
            </a:r>
          </a:p>
          <a:p>
            <a:r>
              <a:rPr lang="ru-RU" dirty="0"/>
              <a:t>Ещё одно преимущество — можно ссылаться на файлы где угодно, даже по сети.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2828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У символических ссылок есть цена:</a:t>
            </a:r>
          </a:p>
          <a:p>
            <a:r>
              <a:rPr lang="ru-RU" dirty="0"/>
              <a:t>Чтобы открыть файл, приходится сначала читать ссылку, затем разбирать путь, а потом открывать целевой файл.</a:t>
            </a:r>
          </a:p>
          <a:p>
            <a:r>
              <a:rPr lang="ru-RU" dirty="0"/>
              <a:t>Это добавляет задержки и требует больше системных вызовов.</a:t>
            </a:r>
          </a:p>
          <a:p>
            <a:r>
              <a:rPr lang="ru-RU" dirty="0"/>
              <a:t>Кроме того, символические ссылки могут стать «висящими», если исходный файл удалён — что тоже нужно учитывать при работе системных утилит.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261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файлы имеют несколько путей, программы обхода каталогов начинают видеть их по нескольку раз.</a:t>
            </a:r>
          </a:p>
          <a:p>
            <a:r>
              <a:rPr lang="ru-RU" dirty="0"/>
              <a:t>Это может привести к ошибкам в </a:t>
            </a:r>
            <a:r>
              <a:rPr lang="ru-RU" dirty="0" err="1"/>
              <a:t>backup</a:t>
            </a:r>
            <a:r>
              <a:rPr lang="ru-RU" dirty="0"/>
              <a:t> — один и тот же файл будет скопирован дважды.</a:t>
            </a:r>
          </a:p>
          <a:p>
            <a:r>
              <a:rPr lang="ru-RU" dirty="0"/>
              <a:t>А при восстановлении утрачивается структура ссылок — вместо единичного файла появляются две физические копии.</a:t>
            </a:r>
          </a:p>
          <a:p>
            <a:r>
              <a:rPr lang="ru-RU" dirty="0"/>
              <a:t>Поэтому работа с ссылками требует аккуратных и «умных» утилит.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7012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обычной файловой системе даже простейшая операция, например удаление файла, состоит из нескольких последовательных действий.</a:t>
            </a:r>
          </a:p>
          <a:p>
            <a:r>
              <a:rPr lang="ru-RU" dirty="0"/>
              <a:t>Если система упадёт между этими шагами, структура файловой системы окажется несогласованной.</a:t>
            </a:r>
          </a:p>
          <a:p>
            <a:r>
              <a:rPr lang="ru-RU" dirty="0"/>
              <a:t>Возможны утечки блоков, повреждение каталогов, неправильные ссылки на i-</a:t>
            </a:r>
            <a:r>
              <a:rPr lang="ru-RU" dirty="0" err="1"/>
              <a:t>nodes</a:t>
            </a:r>
            <a:r>
              <a:rPr lang="ru-RU" dirty="0"/>
              <a:t>.</a:t>
            </a:r>
          </a:p>
          <a:p>
            <a:r>
              <a:rPr lang="ru-RU" dirty="0"/>
              <a:t>Чтобы избежать этого, современные ОС используют журналирование — механизм, который гарантирует целостность структур файловой системы даже при внезапных сбоях.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429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Журналируемая</a:t>
            </a:r>
            <a:r>
              <a:rPr lang="ru-RU" dirty="0"/>
              <a:t> файловая система сначала записывает в особый лог то, что собирается выполнить.</a:t>
            </a:r>
          </a:p>
          <a:p>
            <a:r>
              <a:rPr lang="ru-RU" dirty="0"/>
              <a:t>Это похоже на то, как бухгалтер делает черновик перед тем, как вносить данные в основную книгу.</a:t>
            </a:r>
          </a:p>
          <a:p>
            <a:r>
              <a:rPr lang="ru-RU" dirty="0"/>
              <a:t>Как только запись в журнале подтверждена, файловая система выполняет реальные изменения.</a:t>
            </a:r>
          </a:p>
          <a:p>
            <a:r>
              <a:rPr lang="ru-RU" dirty="0"/>
              <a:t>После успешного завершения запись из журнала удаляется.</a:t>
            </a:r>
          </a:p>
          <a:p>
            <a:r>
              <a:rPr lang="ru-RU" dirty="0"/>
              <a:t>Если система падает, при загрузке журнал проверяется:</a:t>
            </a:r>
            <a:br>
              <a:rPr lang="ru-RU" dirty="0"/>
            </a:br>
            <a:r>
              <a:rPr lang="ru-RU" dirty="0"/>
              <a:t>— если в нём есть незавершённая операция → её можно повторить, не опасаясь дополнительных повреждений.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9718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операцию удаления файла.</a:t>
            </a:r>
          </a:p>
          <a:p>
            <a:r>
              <a:rPr lang="ru-RU" dirty="0"/>
              <a:t>В UNIX она выполняется в три шага:</a:t>
            </a:r>
          </a:p>
          <a:p>
            <a:r>
              <a:rPr lang="ru-RU" dirty="0"/>
              <a:t>Удалить запись в каталоге.</a:t>
            </a:r>
          </a:p>
          <a:p>
            <a:r>
              <a:rPr lang="ru-RU" dirty="0"/>
              <a:t>Освободить i-</a:t>
            </a:r>
            <a:r>
              <a:rPr lang="ru-RU" dirty="0" err="1"/>
              <a:t>node</a:t>
            </a:r>
            <a:r>
              <a:rPr lang="ru-RU" dirty="0"/>
              <a:t>.</a:t>
            </a:r>
          </a:p>
          <a:p>
            <a:r>
              <a:rPr lang="ru-RU" dirty="0"/>
              <a:t>Освободить блоки данных.</a:t>
            </a:r>
          </a:p>
          <a:p>
            <a:r>
              <a:rPr lang="ru-RU" dirty="0"/>
              <a:t>Падение между шагами может привести к различным видам повреждений.</a:t>
            </a:r>
          </a:p>
          <a:p>
            <a:r>
              <a:rPr lang="ru-RU" dirty="0"/>
              <a:t>Например, файл исчез из каталога, но его блоки так и не были освобождены.</a:t>
            </a:r>
            <a:br>
              <a:rPr lang="ru-RU" dirty="0"/>
            </a:br>
            <a:r>
              <a:rPr lang="ru-RU" dirty="0"/>
              <a:t>Или — наоборот — блоки освобождены, но i-</a:t>
            </a:r>
            <a:r>
              <a:rPr lang="ru-RU" dirty="0" err="1"/>
              <a:t>node</a:t>
            </a:r>
            <a:r>
              <a:rPr lang="ru-RU" dirty="0"/>
              <a:t> всё ещё указывает на них.</a:t>
            </a:r>
          </a:p>
          <a:p>
            <a:r>
              <a:rPr lang="ru-RU" dirty="0"/>
              <a:t>Именно этот тип ошибки и предотвращает журналирование.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225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Ключевое требование </a:t>
            </a:r>
            <a:r>
              <a:rPr lang="ru-RU" dirty="0" err="1"/>
              <a:t>журналируемых</a:t>
            </a:r>
            <a:r>
              <a:rPr lang="ru-RU" dirty="0"/>
              <a:t> файловых систем — идемпотентность.</a:t>
            </a:r>
          </a:p>
          <a:p>
            <a:r>
              <a:rPr lang="ru-RU" dirty="0"/>
              <a:t>Это значит, что любую операцию можно повторить сколько угодно раз, и она не приведёт к повреждению данных. Например, пометить блок как свободный можно хоть сто раз.</a:t>
            </a:r>
            <a:br>
              <a:rPr lang="ru-RU" dirty="0"/>
            </a:br>
            <a:r>
              <a:rPr lang="ru-RU" dirty="0"/>
              <a:t>А вот добавлять блок в конец свободного списка повторно нельзя — он появится там дважды.</a:t>
            </a:r>
            <a:br>
              <a:rPr lang="ru-RU" dirty="0"/>
            </a:br>
            <a:r>
              <a:rPr lang="ru-RU" dirty="0"/>
              <a:t>Поэтому внутренние структуры данных проектируются так, чтобы все операции были идемпотентными.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3034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ещё большей надёжности </a:t>
            </a:r>
            <a:r>
              <a:rPr lang="ru-RU" dirty="0" err="1"/>
              <a:t>журналируемые</a:t>
            </a:r>
            <a:r>
              <a:rPr lang="ru-RU" dirty="0"/>
              <a:t> файловые системы используют транзакции.</a:t>
            </a:r>
          </a:p>
          <a:p>
            <a:r>
              <a:rPr lang="ru-RU" dirty="0"/>
              <a:t>Все изменения между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begin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transaction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transaction</a:t>
            </a:r>
            <a:r>
              <a:rPr lang="ru-RU" dirty="0"/>
              <a:t> выполняются как единое целое.</a:t>
            </a:r>
          </a:p>
          <a:p>
            <a:r>
              <a:rPr lang="ru-RU" dirty="0"/>
              <a:t>При сбое до коммита изменения отменяются; после коммита — повторяются до полного завершения.</a:t>
            </a:r>
          </a:p>
          <a:p>
            <a:r>
              <a:rPr lang="ru-RU" dirty="0"/>
              <a:t>Этот механизм уменьшает вероятность потери метаданных и делает файловую систему гораздо более устойчивой к авариям.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9154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Журналирование стало стандартом де-факто.</a:t>
            </a:r>
          </a:p>
          <a:p>
            <a:r>
              <a:rPr lang="ru-RU" dirty="0"/>
              <a:t>В Windows NTFS использует развитую технологию журналирования с 1993 года.</a:t>
            </a:r>
          </a:p>
          <a:p>
            <a:r>
              <a:rPr lang="ru-RU" dirty="0"/>
              <a:t>В Linux первым появился </a:t>
            </a:r>
            <a:r>
              <a:rPr lang="ru-RU" dirty="0" err="1"/>
              <a:t>ReiserFS</a:t>
            </a:r>
            <a:r>
              <a:rPr lang="ru-RU" dirty="0"/>
              <a:t>, но широкое распространение получил ext3 благодаря совместимости с ext2.</a:t>
            </a:r>
          </a:p>
          <a:p>
            <a:r>
              <a:rPr lang="ru-RU" dirty="0"/>
              <a:t>ext4 продолжил эту линию и сейчас является одной из наиболее популярных </a:t>
            </a:r>
            <a:r>
              <a:rPr lang="ru-RU" dirty="0" err="1"/>
              <a:t>журналируемых</a:t>
            </a:r>
            <a:r>
              <a:rPr lang="ru-RU" dirty="0"/>
              <a:t> файловых систем.</a:t>
            </a:r>
          </a:p>
          <a:p>
            <a:r>
              <a:rPr lang="ru-RU" dirty="0"/>
              <a:t>На </a:t>
            </a:r>
            <a:r>
              <a:rPr lang="ru-RU" dirty="0" err="1"/>
              <a:t>macOS</a:t>
            </a:r>
            <a:r>
              <a:rPr lang="ru-RU" dirty="0"/>
              <a:t> </a:t>
            </a:r>
            <a:r>
              <a:rPr lang="ru-RU" dirty="0" err="1"/>
              <a:t>journaling</a:t>
            </a:r>
            <a:r>
              <a:rPr lang="ru-RU" dirty="0"/>
              <a:t> тоже включён по умолчанию.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699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система только установлена, состояние диска почти идеальное: все файлы лежат подряд, а свободное пространство — одним непрерывным блоком. Но по мере работы пользователи создают и удаляют файлы, обновляют программы, и пустые области появляются в середине диска.</a:t>
            </a:r>
          </a:p>
          <a:p>
            <a:r>
              <a:rPr lang="ru-RU" dirty="0"/>
              <a:t>Это приводит к фрагментации: один файл может быть разбросан по десяткам разных мест. Для HDD это критично — головка должна прыгать по поверхности, чтобы собрать файл целиком. Поэтому читаемость и скорость резко падают.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9955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Дефрагментация — это процесс «уборки» на диске. ОС анализирует расположение блоков и начинает перемещать куски файлов так, чтобы каждый файл стал лежать в одном непрерывном фрагменте.</a:t>
            </a:r>
          </a:p>
          <a:p>
            <a:r>
              <a:rPr lang="ru-RU" dirty="0"/>
              <a:t>Также она старается сгруппировать свободное пространство, чтобы последующие записи могли снова ложиться подряд. Windows поставляется с утилитой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defrag</a:t>
            </a:r>
            <a:r>
              <a:rPr lang="ru-RU" dirty="0"/>
              <a:t>, которая делает именно это. На классических HDD это действительно улучшает производительность.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8107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Работа </a:t>
            </a:r>
            <a:r>
              <a:rPr lang="ru-RU" dirty="0" err="1"/>
              <a:t>дефрагментатора</a:t>
            </a:r>
            <a:r>
              <a:rPr lang="ru-RU" dirty="0"/>
              <a:t> напоминает игру в «пятнашки».</a:t>
            </a:r>
            <a:br>
              <a:rPr lang="ru-RU" dirty="0"/>
            </a:br>
            <a:r>
              <a:rPr lang="ru-RU" dirty="0"/>
              <a:t>Чтобы переставить данные, нужна свободная площадка — обычно это большой пустой участок в конце раздела. Программа переносит туда фрагментированные файлы, освобождает место в начале и затем «вкладывает» туда другие файлы в правильном порядке.</a:t>
            </a:r>
          </a:p>
          <a:p>
            <a:r>
              <a:rPr lang="ru-RU" dirty="0"/>
              <a:t>Так шаг за шагом переставляются сотни мегабайт и гигабайты данных, пока структура файловой системы не станет значительно более упорядоченной.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4230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Не все файлы можно двигать. Файл подкачки, файл гибернации, журнал NTFS — это системные структуры, для которых перемещение потребовало бы сложных административных операций. Поэтому они состоят в списке </a:t>
            </a:r>
            <a:r>
              <a:rPr lang="ru-RU" dirty="0" err="1"/>
              <a:t>несдвигаемых</a:t>
            </a:r>
            <a:r>
              <a:rPr lang="ru-RU" dirty="0"/>
              <a:t>.</a:t>
            </a:r>
          </a:p>
          <a:p>
            <a:r>
              <a:rPr lang="ru-RU" dirty="0"/>
              <a:t>Если такие файлы лежат в конце раздела, это может помешать его уменьшению. Обычно проблему решают так: временно отключают файл подкачки или гибернации, уменьшают раздел, а затем включают их снова — и система создаёт новые файлы в другом месте.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9966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Linux-файловые системы, особенно ext3/ext4, используют продвинутые алгоритмы размещения блоков. Они заранее пытаются положить файл в подходящую область, избегая фрагментации ещё до её появления.</a:t>
            </a:r>
          </a:p>
          <a:p>
            <a:r>
              <a:rPr lang="ru-RU" dirty="0"/>
              <a:t>Поэтому сильной фрагментации там обычно нет, и необходимость ручной дефрагментации возникает крайне редко. В Linux она присутствует скорее как вспомогательная возможность, нежели как регулярная процедура.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5244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SSD фрагментация не имеет никакого значения.</a:t>
            </a:r>
            <a:br>
              <a:rPr lang="ru-RU" dirty="0"/>
            </a:br>
            <a:r>
              <a:rPr lang="ru-RU" dirty="0"/>
              <a:t>Нет ни головок, ни вращения диска — каждый блок читается одинаково быстро. Более того, дефрагментация вредна: она создаёт тысячи дополнительных операций записи, а каждая запись уменьшает ресурс ячеек </a:t>
            </a:r>
            <a:r>
              <a:rPr lang="ru-RU" dirty="0" err="1"/>
              <a:t>флеш</a:t>
            </a:r>
            <a:r>
              <a:rPr lang="ru-RU" dirty="0"/>
              <a:t>-памяти.</a:t>
            </a:r>
          </a:p>
          <a:p>
            <a:r>
              <a:rPr lang="ru-RU" dirty="0"/>
              <a:t>Поэтому на SSD дефрагментация полностью бесполезна и даже вредна — современные ОС это понимают и запускают вместо неё оптимизацию TRIM, а не перемещение блоков.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62047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Важно понимать: когда вы удаляете файл, он фактически никуда не исчезает.</a:t>
            </a:r>
            <a:br>
              <a:rPr lang="ru-RU" dirty="0"/>
            </a:br>
            <a:r>
              <a:rPr lang="ru-RU" dirty="0"/>
              <a:t>ОС лишь стирает запись в каталоге и помечает блоки как свободные. Сами данные продолжают лежать на диске до тех пор, пока не будут перезаписаны.</a:t>
            </a:r>
            <a:br>
              <a:rPr lang="ru-RU" dirty="0"/>
            </a:br>
            <a:r>
              <a:rPr lang="ru-RU" dirty="0"/>
              <a:t>Поэтому, если злоумышленник возьмёт диск и подключит к другой системе — он сможет прочитать любые блоки напрямую, игнорируя права доступа.</a:t>
            </a:r>
            <a:br>
              <a:rPr lang="ru-RU" dirty="0"/>
            </a:br>
            <a:r>
              <a:rPr lang="ru-RU" dirty="0"/>
              <a:t>Это делает простое удаление крайне ненадёжным с точки зрения безопасности.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72586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Надёжное уничтожение данных — нетривиальная задача.</a:t>
            </a:r>
            <a:br>
              <a:rPr lang="ru-RU" dirty="0"/>
            </a:br>
            <a:r>
              <a:rPr lang="ru-RU" dirty="0"/>
              <a:t>На магнитных дисках старые данные могут быть восстановлены из остаточных намагничиваний рядом с дорожками.</a:t>
            </a:r>
            <a:br>
              <a:rPr lang="ru-RU" dirty="0"/>
            </a:br>
            <a:r>
              <a:rPr lang="ru-RU" dirty="0"/>
              <a:t>На SSD ситуация ещё хуже: вы вообще не можете гарантировать, что перезаписываете тот же самый физический блок — это решает контроллер </a:t>
            </a:r>
            <a:r>
              <a:rPr lang="ru-RU" dirty="0" err="1"/>
              <a:t>флеш</a:t>
            </a:r>
            <a:r>
              <a:rPr lang="ru-RU" dirty="0"/>
              <a:t>-памяти. Он может мигрировать данные, оставляя старые копии в других ячейках.</a:t>
            </a:r>
            <a:br>
              <a:rPr lang="ru-RU" dirty="0"/>
            </a:br>
            <a:r>
              <a:rPr lang="ru-RU" dirty="0"/>
              <a:t>Кроме того, копии файла могут существовать в резервных блоках, в памяти кэша или теневых копиях ОС.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5726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обычных HDD считается достаточным выполнить несколько проходов перезаписи: нули, затем случайные данные, снова нули. Есть ряд утилит, которые делают это автоматически.</a:t>
            </a:r>
            <a:br>
              <a:rPr lang="ru-RU" dirty="0"/>
            </a:br>
            <a:r>
              <a:rPr lang="ru-RU" dirty="0"/>
              <a:t>Но для SSD даже это не помогает — из-за FTL вы всё равно не знаете, какой именно блок перезаписывается.</a:t>
            </a:r>
            <a:br>
              <a:rPr lang="ru-RU" dirty="0"/>
            </a:br>
            <a:r>
              <a:rPr lang="ru-RU" dirty="0"/>
              <a:t>Если нужно уничтожить диск наверняка и он не будет использоваться снова — наиболее радикальный и надёжный метод — физическое разрушение. Классический пример — термит, который прожигает диск насквозь.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49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Лучший способ гарантировать, что данные невозможно восстановить — просто никогда не хранить их в открытом виде. То есть — использовать полное шифрование диска.</a:t>
            </a:r>
            <a:br>
              <a:rPr lang="ru-RU" dirty="0"/>
            </a:br>
            <a:r>
              <a:rPr lang="ru-RU" dirty="0"/>
              <a:t>Даже если кто-то украдёт диск или получит необработанные блоки, он увидит только зашифрованный мусор.</a:t>
            </a:r>
            <a:br>
              <a:rPr lang="ru-RU" dirty="0"/>
            </a:br>
            <a:r>
              <a:rPr lang="ru-RU" dirty="0"/>
              <a:t>Главное — использовать сильные алгоритмы вроде AES и надёжно хранить ключи.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48998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Существуют так называемые Self-</a:t>
            </a:r>
            <a:r>
              <a:rPr lang="ru-RU" dirty="0" err="1"/>
              <a:t>Encrypting</a:t>
            </a:r>
            <a:r>
              <a:rPr lang="ru-RU" dirty="0"/>
              <a:t> </a:t>
            </a:r>
            <a:r>
              <a:rPr lang="ru-RU" dirty="0" err="1"/>
              <a:t>Drives</a:t>
            </a:r>
            <a:r>
              <a:rPr lang="ru-RU" dirty="0"/>
              <a:t> — накопители, которые выполняют шифрование </a:t>
            </a:r>
            <a:r>
              <a:rPr lang="ru-RU" dirty="0" err="1"/>
              <a:t>аппаратно</a:t>
            </a:r>
            <a:r>
              <a:rPr lang="ru-RU" dirty="0"/>
              <a:t>. Это удобно: ОС почти не участвует, производительность очень высокая.</a:t>
            </a:r>
            <a:br>
              <a:rPr lang="ru-RU" dirty="0"/>
            </a:br>
            <a:r>
              <a:rPr lang="ru-RU" dirty="0"/>
              <a:t>Но в 2019 году исследователи нашли серьёзные уязвимости в ряде популярных моделей SED. Это означает, что шифрование может оказаться ненадёжным, и злоумышленник может обойти защиту. Поэтому слепо доверять аппаратному шифрованию нельзя.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73339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BitLocker</a:t>
            </a:r>
            <a:r>
              <a:rPr lang="ru-RU" dirty="0"/>
              <a:t> использует </a:t>
            </a:r>
            <a:r>
              <a:rPr lang="ru-RU" dirty="0" err="1"/>
              <a:t>Volume</a:t>
            </a:r>
            <a:r>
              <a:rPr lang="ru-RU" dirty="0"/>
              <a:t> Master Key — главный ключ, которым шифруются все данные.</a:t>
            </a:r>
            <a:br>
              <a:rPr lang="ru-RU" dirty="0"/>
            </a:br>
            <a:r>
              <a:rPr lang="ru-RU" dirty="0"/>
              <a:t>VMK сам хранится в зашифрованном виде и может быть восстановлен только тремя путями:</a:t>
            </a:r>
            <a:br>
              <a:rPr lang="ru-RU" dirty="0"/>
            </a:br>
            <a:r>
              <a:rPr lang="ru-RU" dirty="0"/>
              <a:t>— паролем пользователя,</a:t>
            </a:r>
            <a:br>
              <a:rPr lang="ru-RU" dirty="0"/>
            </a:br>
            <a:r>
              <a:rPr lang="ru-RU" dirty="0"/>
              <a:t>— заранее сгенерированным </a:t>
            </a:r>
            <a:r>
              <a:rPr lang="ru-RU" dirty="0" err="1"/>
              <a:t>recovery</a:t>
            </a:r>
            <a:r>
              <a:rPr lang="ru-RU" dirty="0"/>
              <a:t> </a:t>
            </a:r>
            <a:r>
              <a:rPr lang="ru-RU" dirty="0" err="1"/>
              <a:t>key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— или через TPM — специальный защищённый </a:t>
            </a:r>
            <a:r>
              <a:rPr lang="ru-RU" dirty="0" err="1"/>
              <a:t>крипточип</a:t>
            </a:r>
            <a:r>
              <a:rPr lang="ru-RU" dirty="0"/>
              <a:t>.</a:t>
            </a:r>
          </a:p>
          <a:p>
            <a:r>
              <a:rPr lang="ru-RU" dirty="0"/>
              <a:t>Как только система получает ключ — она автоматически шифрует и расшифровывает данные «на лету», незаметно для пользователя.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714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6020B-C7D2-2FAC-91A0-5C8B501895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CB3ED-9BCD-3397-E963-FE6314B7E3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D132E-94E0-B30C-09B0-2E8AC4345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61D43-AC26-DB6B-D707-9FBDFFC1B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4F8E8-E822-0BC7-400B-FD2FA63DF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04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B91A4-5BF5-E90A-350F-5D5AE2C49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283E6-9324-7422-8910-F484399CD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3AF69-6051-A92E-B3EC-8007BF7D2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B06E6-436C-69A2-C346-EAB28B177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4D7AE-B7B1-5E4F-87F5-C3BBC06CD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675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E00E7-38F8-ED7B-43A2-044B6BB26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BB879-E022-B168-3D86-41227E59D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9DC91-E3D6-94A8-8C31-EB21565C3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10C20-892E-1379-DE1A-17EEC1A80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D1985-2029-9F68-2C6C-6A36903B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5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57A80-BF2C-A904-F2F4-AFDDEF243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62C64-00C1-0E04-E4D8-D1E447F398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3D6A15-B660-251C-2B3F-8E1CC0673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A0DF5-FE6D-1DF7-585C-680EDE6E0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941C9-8A67-CCB3-82AA-1035DA30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48427D-DBED-0D0D-5432-1CF78924D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859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DE10B-84BB-CB6A-1A37-7032AE5E8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3991F-24EA-A9C5-D754-0A8B863E5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FD275A-D3FF-AE5C-830C-F698081827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A5EFE0-6098-1964-FA03-627479406C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AF5153-C873-F51D-E4D3-3503E7056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E594A8-7EEB-DA07-B27E-60184AE1F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E76B4D-AC05-0D50-596E-6CBFED457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E05C0C-3F89-E616-BC4F-DACBEB149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810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B91F4-A401-123A-A9CC-FB65CA0F9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A600E8-CF17-2248-8185-9F923F121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47E8E-15D2-5B28-04F8-A092881E5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5C5B4E-32E1-E6E8-9F81-BD35C8F4C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767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F3664A-C103-76C1-5974-F3D8009AC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BB6D61-DAF3-E65B-B2C0-52E9E9C8D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8CE12-DFFB-F8CE-BE00-EC1EE0E2A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821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DBBF-B095-0B55-D419-C5325FA7C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FC7C8-E584-F21D-30FE-37DA34E62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F80B0F-E3BA-9E36-FE6F-A799B2AC9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BD0F5-3230-7876-132B-589F7ABC9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397F6-13BE-DAA0-9541-E8259E9A3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87B76-A972-C908-2884-4C99004F3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683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3AA4A-CCC4-BBDF-B71D-05FB2C09F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8D07F8-9F4E-955B-FEFD-E738A5549A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F18AE-5625-A2BA-CCAB-A44F7F537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731F7-B0EE-73A8-FA1F-4B5313C9B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9C2C36-1B81-C57D-6674-69A81B5DA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7478C6-5F61-C182-819F-EB4B65FC0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705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C9C4-B4BA-4DA8-B7CC-695820F40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95F878-4143-DB0D-9CCD-0E5239FE45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C1BF3-E81C-7619-0F27-DA95921DA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FE882-C968-4592-95C6-EB211722F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DFCDF-81F0-38E5-1C48-7EDCA8036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6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33ECB0-D789-24ED-AD7D-E2400774FA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D0EB49-D8CE-DBF6-6372-B5F5282F5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B9536-B30F-02CC-F5F3-C962FA075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CEC74-CE7B-9468-4AA8-F8BBF94BE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83024-2605-AE5D-7AE4-9BB7E7017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254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89CAA5-ABCC-3D1D-55DB-ADB2DDD8D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EF9AE-2B97-3C6E-3EB0-258951D82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497C7-C8D5-C870-5C2D-44A2C6F2EB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CC64EA-184C-4C83-8202-F93067E264FA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239EB-0F68-091F-F82B-7DDA0249F2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2D456-6DFD-D76B-25D7-9933EB8D1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910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F566-3310-2689-76D0-332DBDEE27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Операционные системы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ED7AC3-90FC-6C13-8B7B-14640FF7DF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Лекция 14. Файловые системы. Часть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626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5A534B-1D77-E964-E00C-C7E8F91F3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работы с файлами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B0050-AE3B-154B-0AF8-627570EF4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285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876C03-1694-84BE-C243-AE0E19537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Непрерывное размещение файлов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EB610C-3D90-7B68-295C-24BB478B61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786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895D96-0B8C-4DF9-8879-6443B8526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Непрерывное размещение файлов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E2450B-A18B-21EB-0C3D-F9C8F465D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Файл хранится как последовательность прилегающих блоков</a:t>
            </a:r>
          </a:p>
          <a:p>
            <a:r>
              <a:rPr lang="ru-RU" dirty="0"/>
              <a:t>Описывается: </a:t>
            </a:r>
            <a:r>
              <a:rPr lang="ru-RU" b="1" dirty="0"/>
              <a:t>адрес первого блока + длина</a:t>
            </a:r>
            <a:endParaRPr lang="ru-RU" dirty="0"/>
          </a:p>
          <a:p>
            <a:r>
              <a:rPr lang="ru-RU" dirty="0"/>
              <a:t>Очень удобно для чтения</a:t>
            </a:r>
          </a:p>
          <a:p>
            <a:r>
              <a:rPr lang="ru-RU" dirty="0"/>
              <a:t>Очень просто реализовать</a:t>
            </a:r>
          </a:p>
        </p:txBody>
      </p:sp>
    </p:spTree>
    <p:extLst>
      <p:ext uri="{BB962C8B-B14F-4D97-AF65-F5344CB8AC3E}">
        <p14:creationId xmlns:p14="http://schemas.microsoft.com/office/powerpoint/2010/main" val="1693017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04D38F-B97F-9A2A-14F3-51D7ACE3E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/>
              <a:t>Непрерывное размещение файлов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6024782-0841-84D5-4873-56B133E7EB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61838"/>
          <a:stretch>
            <a:fillRect/>
          </a:stretch>
        </p:blipFill>
        <p:spPr>
          <a:xfrm>
            <a:off x="838200" y="2816616"/>
            <a:ext cx="10515600" cy="2369355"/>
          </a:xfrm>
        </p:spPr>
      </p:pic>
    </p:spTree>
    <p:extLst>
      <p:ext uri="{BB962C8B-B14F-4D97-AF65-F5344CB8AC3E}">
        <p14:creationId xmlns:p14="http://schemas.microsoft.com/office/powerpoint/2010/main" val="2103358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D74A7-24CF-53E4-72F9-55C8A043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непрерывного размещения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1B774-FAE8-187C-4BD5-FAD4ECEAD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Простота реализации</a:t>
            </a:r>
          </a:p>
          <a:p>
            <a:r>
              <a:rPr lang="ru-RU" dirty="0"/>
              <a:t>Максимальная скорость последовательного чтения</a:t>
            </a:r>
          </a:p>
          <a:p>
            <a:r>
              <a:rPr lang="ru-RU" dirty="0"/>
              <a:t>Один </a:t>
            </a:r>
            <a:r>
              <a:rPr lang="ru-RU" dirty="0" err="1"/>
              <a:t>seek</a:t>
            </a:r>
            <a:r>
              <a:rPr lang="ru-RU" dirty="0"/>
              <a:t> → всё остальное читается подряд</a:t>
            </a:r>
          </a:p>
          <a:p>
            <a:r>
              <a:rPr lang="ru-RU" dirty="0"/>
              <a:t>Отлично работает для статичных файлов</a:t>
            </a:r>
          </a:p>
        </p:txBody>
      </p:sp>
    </p:spTree>
    <p:extLst>
      <p:ext uri="{BB962C8B-B14F-4D97-AF65-F5344CB8AC3E}">
        <p14:creationId xmlns:p14="http://schemas.microsoft.com/office/powerpoint/2010/main" val="2463203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E35EC-5273-47F3-CCFC-D018DF5C6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Главная проблема - фрагментация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AF43EDC-ECC3-84B3-C213-C7EBF6CA68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78423" y="1443487"/>
            <a:ext cx="7835153" cy="519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435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AE9D4-1556-D579-306A-7749701C8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Необходимость заранее знать размер файла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C57C5-B3D7-4F6D-F8FD-6AA6CD9CC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Нужно выбрать подходящую «дыру»</a:t>
            </a:r>
          </a:p>
          <a:p>
            <a:r>
              <a:rPr lang="ru-RU" dirty="0"/>
              <a:t>Файл должен полностью поместиться</a:t>
            </a:r>
          </a:p>
          <a:p>
            <a:r>
              <a:rPr lang="ru-RU" dirty="0"/>
              <a:t>Если размер окажется больше — файл нельзя продолжить!</a:t>
            </a:r>
          </a:p>
          <a:p>
            <a:r>
              <a:rPr lang="ru-RU" dirty="0"/>
              <a:t>Пример: видеоредактор должен узнать размер будущего файла заранее</a:t>
            </a:r>
          </a:p>
        </p:txBody>
      </p:sp>
    </p:spTree>
    <p:extLst>
      <p:ext uri="{BB962C8B-B14F-4D97-AF65-F5344CB8AC3E}">
        <p14:creationId xmlns:p14="http://schemas.microsoft.com/office/powerpoint/2010/main" val="3004547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FFF4D-3DCB-B0EC-4F42-FE5F4D80A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непрерывное размещение файлов больше почти не используется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1B9C2-BE67-960F-E0AF-0D14DF3EC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Сильная фрагментация</a:t>
            </a:r>
          </a:p>
          <a:p>
            <a:r>
              <a:rPr lang="ru-RU" dirty="0"/>
              <a:t>Невозможность динамического увеличения файлов</a:t>
            </a:r>
          </a:p>
          <a:p>
            <a:r>
              <a:rPr lang="ru-RU" dirty="0"/>
              <a:t>Огромная стоимость дефрагментации</a:t>
            </a:r>
          </a:p>
          <a:p>
            <a:r>
              <a:rPr lang="ru-RU" dirty="0"/>
              <a:t>Требует заранее знать размер</a:t>
            </a:r>
          </a:p>
          <a:p>
            <a:r>
              <a:rPr lang="ru-RU" dirty="0"/>
              <a:t>Непригодно для современных ОС</a:t>
            </a:r>
          </a:p>
        </p:txBody>
      </p:sp>
    </p:spTree>
    <p:extLst>
      <p:ext uri="{BB962C8B-B14F-4D97-AF65-F5344CB8AC3E}">
        <p14:creationId xmlns:p14="http://schemas.microsoft.com/office/powerpoint/2010/main" val="1507450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182E2A-025F-C8CA-017C-3FB4B3903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Размещение в виде цепочки блоков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5D965C-63C6-204C-E8F6-A1A765CD44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Linked-list allocation</a:t>
            </a:r>
          </a:p>
        </p:txBody>
      </p:sp>
    </p:spTree>
    <p:extLst>
      <p:ext uri="{BB962C8B-B14F-4D97-AF65-F5344CB8AC3E}">
        <p14:creationId xmlns:p14="http://schemas.microsoft.com/office/powerpoint/2010/main" val="49217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6FBADD-E909-C033-65DF-FE8858150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реализации файлов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B3B829-1E57-3AA3-C77F-AFD35DE31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Linked-list</a:t>
            </a:r>
            <a:r>
              <a:rPr lang="ru-RU" dirty="0"/>
              <a:t> </a:t>
            </a:r>
            <a:r>
              <a:rPr lang="ru-RU" dirty="0" err="1"/>
              <a:t>allocation</a:t>
            </a:r>
            <a:endParaRPr lang="ru-RU" dirty="0"/>
          </a:p>
          <a:p>
            <a:r>
              <a:rPr lang="ru-RU" dirty="0"/>
              <a:t>FAT (таблица в памяти)</a:t>
            </a:r>
          </a:p>
          <a:p>
            <a:r>
              <a:rPr lang="ru-RU" dirty="0"/>
              <a:t>I-</a:t>
            </a:r>
            <a:r>
              <a:rPr lang="ru-RU" dirty="0" err="1"/>
              <a:t>nodes</a:t>
            </a:r>
            <a:endParaRPr lang="ru-RU" dirty="0"/>
          </a:p>
          <a:p>
            <a:r>
              <a:rPr lang="ru-RU" dirty="0"/>
              <a:t>Все методы связывают блоки диска с логическим файлом</a:t>
            </a:r>
          </a:p>
          <a:p>
            <a:r>
              <a:rPr lang="ru-RU" dirty="0"/>
              <a:t>Отличаются скоростью и масштабируемостью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6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1ABC01-10D8-FA4D-81AA-C46D30551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Размещение в виде односвязного списка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9A27349-1252-47BE-8E4A-478B23D588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Файл хранится как цепочка блоков</a:t>
            </a:r>
          </a:p>
          <a:p>
            <a:pPr lvl="1"/>
            <a:r>
              <a:rPr lang="ru-RU" dirty="0"/>
              <a:t>Каждый блок указывает на следующий</a:t>
            </a:r>
          </a:p>
          <a:p>
            <a:r>
              <a:rPr lang="ru-RU" dirty="0"/>
              <a:t>Плюсы</a:t>
            </a:r>
          </a:p>
          <a:p>
            <a:pPr lvl="1"/>
            <a:r>
              <a:rPr lang="ru-RU" dirty="0"/>
              <a:t>Нет внешней фрагментации</a:t>
            </a:r>
          </a:p>
          <a:p>
            <a:pPr lvl="1"/>
            <a:r>
              <a:rPr lang="ru-RU" dirty="0"/>
              <a:t>Нужно знать только первый блок</a:t>
            </a:r>
          </a:p>
          <a:p>
            <a:r>
              <a:rPr lang="ru-RU" dirty="0"/>
              <a:t>Минусы</a:t>
            </a:r>
          </a:p>
          <a:p>
            <a:pPr lvl="1"/>
            <a:r>
              <a:rPr lang="ru-RU" dirty="0"/>
              <a:t>Крайне медленный произвольный доступ</a:t>
            </a:r>
          </a:p>
          <a:p>
            <a:pPr lvl="1"/>
            <a:r>
              <a:rPr lang="ru-RU" dirty="0"/>
              <a:t>Размер блока не степень двойки =</a:t>
            </a:r>
            <a:r>
              <a:rPr lang="en-US" dirty="0"/>
              <a:t>&gt; </a:t>
            </a:r>
            <a:r>
              <a:rPr lang="ru-RU" dirty="0"/>
              <a:t>снижение производительности ввода/выводы</a:t>
            </a:r>
          </a:p>
        </p:txBody>
      </p:sp>
      <p:pic>
        <p:nvPicPr>
          <p:cNvPr id="12" name="Content Placeholder 7">
            <a:extLst>
              <a:ext uri="{FF2B5EF4-FFF2-40B4-BE49-F238E27FC236}">
                <a16:creationId xmlns:a16="http://schemas.microsoft.com/office/drawing/2014/main" id="{6ECA6988-DDBD-EE40-6D3D-056BA7410F6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871384"/>
            <a:ext cx="5181600" cy="425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761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3EABCC-A363-B956-4D98-92E57705E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FAT – File Allocation Table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B5E0FD-38A8-AAC1-348B-189A2A021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Идея:</a:t>
            </a:r>
            <a:endParaRPr lang="ru-RU" dirty="0"/>
          </a:p>
          <a:p>
            <a:pPr lvl="1"/>
            <a:r>
              <a:rPr lang="ru-RU" dirty="0"/>
              <a:t>указатели не в блоках → а в </a:t>
            </a:r>
            <a:r>
              <a:rPr lang="ru-RU" i="1" dirty="0"/>
              <a:t>таблице в памяти</a:t>
            </a:r>
            <a:r>
              <a:rPr lang="ru-RU" dirty="0"/>
              <a:t>.</a:t>
            </a:r>
          </a:p>
          <a:p>
            <a:r>
              <a:rPr lang="ru-RU" b="1" dirty="0"/>
              <a:t>Плюсы:</a:t>
            </a:r>
            <a:endParaRPr lang="ru-RU" dirty="0"/>
          </a:p>
          <a:p>
            <a:pPr lvl="1"/>
            <a:r>
              <a:rPr lang="ru-RU" dirty="0"/>
              <a:t>блок полностью доступен для данных;</a:t>
            </a:r>
          </a:p>
          <a:p>
            <a:pPr lvl="1"/>
            <a:r>
              <a:rPr lang="ru-RU" dirty="0"/>
              <a:t>быстрый доступ — цепочку можно проходить в RAM</a:t>
            </a:r>
          </a:p>
          <a:p>
            <a:r>
              <a:rPr lang="ru-RU" b="1" dirty="0"/>
              <a:t>Минусы:</a:t>
            </a:r>
            <a:endParaRPr lang="ru-RU" dirty="0"/>
          </a:p>
          <a:p>
            <a:pPr lvl="1"/>
            <a:r>
              <a:rPr lang="ru-RU" dirty="0"/>
              <a:t>таблица FAT должна храниться в памяти целиком;</a:t>
            </a:r>
          </a:p>
          <a:p>
            <a:pPr lvl="1"/>
            <a:r>
              <a:rPr lang="ru-RU" dirty="0"/>
              <a:t>плохо масштабируется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8E4C91-8C48-80D6-129B-0F17375AB7E8}"/>
              </a:ext>
            </a:extLst>
          </p:cNvPr>
          <p:cNvSpPr/>
          <p:nvPr/>
        </p:nvSpPr>
        <p:spPr>
          <a:xfrm>
            <a:off x="7419975" y="1690688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80E0D9-021D-343D-3AEF-A8D5501FC0DC}"/>
              </a:ext>
            </a:extLst>
          </p:cNvPr>
          <p:cNvSpPr/>
          <p:nvPr/>
        </p:nvSpPr>
        <p:spPr>
          <a:xfrm>
            <a:off x="7067549" y="1690688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0</a:t>
            </a:r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89D78F-38D2-E845-EB44-4E4612D25F5E}"/>
              </a:ext>
            </a:extLst>
          </p:cNvPr>
          <p:cNvSpPr/>
          <p:nvPr/>
        </p:nvSpPr>
        <p:spPr>
          <a:xfrm>
            <a:off x="7419974" y="1971675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A153D0-B7FC-BC27-B643-30E08667D423}"/>
              </a:ext>
            </a:extLst>
          </p:cNvPr>
          <p:cNvSpPr/>
          <p:nvPr/>
        </p:nvSpPr>
        <p:spPr>
          <a:xfrm>
            <a:off x="7067548" y="1971675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1</a:t>
            </a:r>
            <a:endParaRPr lang="en-US" sz="11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E2FD25-0EFC-17DA-260D-AE5D159D6D69}"/>
              </a:ext>
            </a:extLst>
          </p:cNvPr>
          <p:cNvSpPr/>
          <p:nvPr/>
        </p:nvSpPr>
        <p:spPr>
          <a:xfrm>
            <a:off x="7419973" y="2252662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10</a:t>
            </a:r>
            <a:endParaRPr lang="en-US" sz="11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DFF1119-3507-5ABB-57B8-7630B1D1EEA1}"/>
              </a:ext>
            </a:extLst>
          </p:cNvPr>
          <p:cNvSpPr/>
          <p:nvPr/>
        </p:nvSpPr>
        <p:spPr>
          <a:xfrm>
            <a:off x="7067547" y="2252662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2</a:t>
            </a:r>
            <a:endParaRPr lang="en-US" sz="11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FE0F7B8-BADC-DE87-9C3A-8FED656532EC}"/>
              </a:ext>
            </a:extLst>
          </p:cNvPr>
          <p:cNvSpPr/>
          <p:nvPr/>
        </p:nvSpPr>
        <p:spPr>
          <a:xfrm>
            <a:off x="7419972" y="2533649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11</a:t>
            </a:r>
            <a:endParaRPr lang="en-US" sz="11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C3C9CC2-8648-13EE-33BD-4B2428E4C0FD}"/>
              </a:ext>
            </a:extLst>
          </p:cNvPr>
          <p:cNvSpPr/>
          <p:nvPr/>
        </p:nvSpPr>
        <p:spPr>
          <a:xfrm>
            <a:off x="7067546" y="2533649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3</a:t>
            </a:r>
            <a:endParaRPr lang="en-US" sz="11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D738B6-935D-BD2B-391A-0C75D7AC02D8}"/>
              </a:ext>
            </a:extLst>
          </p:cNvPr>
          <p:cNvSpPr/>
          <p:nvPr/>
        </p:nvSpPr>
        <p:spPr>
          <a:xfrm>
            <a:off x="7419971" y="2814636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7</a:t>
            </a:r>
            <a:endParaRPr lang="en-US" sz="11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131B29D-274C-1E05-EB86-01CF7ACA0C5B}"/>
              </a:ext>
            </a:extLst>
          </p:cNvPr>
          <p:cNvSpPr/>
          <p:nvPr/>
        </p:nvSpPr>
        <p:spPr>
          <a:xfrm>
            <a:off x="7067545" y="2814636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4</a:t>
            </a:r>
            <a:endParaRPr lang="en-US" sz="11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24AE416-BD60-F06A-23F6-E0B2FED4FA7E}"/>
              </a:ext>
            </a:extLst>
          </p:cNvPr>
          <p:cNvSpPr/>
          <p:nvPr/>
        </p:nvSpPr>
        <p:spPr>
          <a:xfrm>
            <a:off x="7419970" y="3095623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02EB9A2-6543-7E7B-FF5C-89421BB546E0}"/>
              </a:ext>
            </a:extLst>
          </p:cNvPr>
          <p:cNvSpPr/>
          <p:nvPr/>
        </p:nvSpPr>
        <p:spPr>
          <a:xfrm>
            <a:off x="7067544" y="3095623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5</a:t>
            </a:r>
            <a:endParaRPr lang="en-US" sz="11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7219708-2E86-D976-6688-F5585B34C5BC}"/>
              </a:ext>
            </a:extLst>
          </p:cNvPr>
          <p:cNvSpPr/>
          <p:nvPr/>
        </p:nvSpPr>
        <p:spPr>
          <a:xfrm>
            <a:off x="7419969" y="3376610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3</a:t>
            </a:r>
            <a:endParaRPr lang="en-US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E958635-6423-14AE-FAB3-B944411ED717}"/>
              </a:ext>
            </a:extLst>
          </p:cNvPr>
          <p:cNvSpPr/>
          <p:nvPr/>
        </p:nvSpPr>
        <p:spPr>
          <a:xfrm>
            <a:off x="7067543" y="3376610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6</a:t>
            </a:r>
            <a:endParaRPr lang="en-US" sz="11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12ABA20-361A-B4DA-D879-7F882C9DB2F5}"/>
              </a:ext>
            </a:extLst>
          </p:cNvPr>
          <p:cNvSpPr/>
          <p:nvPr/>
        </p:nvSpPr>
        <p:spPr>
          <a:xfrm>
            <a:off x="7419968" y="3657597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2</a:t>
            </a:r>
            <a:endParaRPr lang="en-US" sz="11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791E971-3CF7-6E4D-AD18-009EEE46C19E}"/>
              </a:ext>
            </a:extLst>
          </p:cNvPr>
          <p:cNvSpPr/>
          <p:nvPr/>
        </p:nvSpPr>
        <p:spPr>
          <a:xfrm>
            <a:off x="7067542" y="3657597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7</a:t>
            </a:r>
            <a:endParaRPr lang="en-US" sz="11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B2D49C2-1647-176C-FF51-E18E6319589E}"/>
              </a:ext>
            </a:extLst>
          </p:cNvPr>
          <p:cNvSpPr/>
          <p:nvPr/>
        </p:nvSpPr>
        <p:spPr>
          <a:xfrm>
            <a:off x="7419967" y="3938584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7FFC952-E7F0-0217-AF2F-11BFD2C4F263}"/>
              </a:ext>
            </a:extLst>
          </p:cNvPr>
          <p:cNvSpPr/>
          <p:nvPr/>
        </p:nvSpPr>
        <p:spPr>
          <a:xfrm>
            <a:off x="7067541" y="3938584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8</a:t>
            </a:r>
            <a:endParaRPr lang="en-US" sz="11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B3879BA-2772-986C-F9F4-4B9DE0A3668B}"/>
              </a:ext>
            </a:extLst>
          </p:cNvPr>
          <p:cNvSpPr/>
          <p:nvPr/>
        </p:nvSpPr>
        <p:spPr>
          <a:xfrm>
            <a:off x="7419966" y="4219571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EA2FA05-7608-4BF8-CCEA-62B74B41AA76}"/>
              </a:ext>
            </a:extLst>
          </p:cNvPr>
          <p:cNvSpPr/>
          <p:nvPr/>
        </p:nvSpPr>
        <p:spPr>
          <a:xfrm>
            <a:off x="7067540" y="4219571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9</a:t>
            </a:r>
            <a:endParaRPr lang="en-US" sz="11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0C93D1A-226A-6B30-55BD-354FA2779524}"/>
              </a:ext>
            </a:extLst>
          </p:cNvPr>
          <p:cNvSpPr/>
          <p:nvPr/>
        </p:nvSpPr>
        <p:spPr>
          <a:xfrm>
            <a:off x="7419965" y="4500558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12</a:t>
            </a:r>
            <a:endParaRPr lang="en-US" sz="11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647E437-11BC-C6AF-5C6A-AE773E77FBB7}"/>
              </a:ext>
            </a:extLst>
          </p:cNvPr>
          <p:cNvSpPr/>
          <p:nvPr/>
        </p:nvSpPr>
        <p:spPr>
          <a:xfrm>
            <a:off x="7067539" y="4500558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10</a:t>
            </a:r>
            <a:endParaRPr lang="en-US" sz="11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316916D-AF19-862C-5CA9-A08DAEC7AD5E}"/>
              </a:ext>
            </a:extLst>
          </p:cNvPr>
          <p:cNvSpPr/>
          <p:nvPr/>
        </p:nvSpPr>
        <p:spPr>
          <a:xfrm>
            <a:off x="7419964" y="4781545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14</a:t>
            </a:r>
            <a:endParaRPr lang="en-US" sz="11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FBF994D-2D4D-448A-1E07-967A3EA446B0}"/>
              </a:ext>
            </a:extLst>
          </p:cNvPr>
          <p:cNvSpPr/>
          <p:nvPr/>
        </p:nvSpPr>
        <p:spPr>
          <a:xfrm>
            <a:off x="7067538" y="4781545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11</a:t>
            </a:r>
            <a:endParaRPr lang="en-US" sz="11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F88E1C0-3540-2D6A-B2A0-5BC7FAEF5CDD}"/>
              </a:ext>
            </a:extLst>
          </p:cNvPr>
          <p:cNvSpPr/>
          <p:nvPr/>
        </p:nvSpPr>
        <p:spPr>
          <a:xfrm>
            <a:off x="7419963" y="5062532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-1</a:t>
            </a:r>
            <a:endParaRPr lang="en-US" sz="11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8000357-B2E6-0342-46DC-0B1E61D18B5A}"/>
              </a:ext>
            </a:extLst>
          </p:cNvPr>
          <p:cNvSpPr/>
          <p:nvPr/>
        </p:nvSpPr>
        <p:spPr>
          <a:xfrm>
            <a:off x="7067537" y="5062532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12</a:t>
            </a:r>
            <a:endParaRPr lang="en-US" sz="11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2958BFC-4789-68DB-FB1D-EE7CF54C9D77}"/>
              </a:ext>
            </a:extLst>
          </p:cNvPr>
          <p:cNvSpPr/>
          <p:nvPr/>
        </p:nvSpPr>
        <p:spPr>
          <a:xfrm>
            <a:off x="7419962" y="5343519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BD60D6D-F6AB-6B23-DB97-4EAED76BAC2C}"/>
              </a:ext>
            </a:extLst>
          </p:cNvPr>
          <p:cNvSpPr/>
          <p:nvPr/>
        </p:nvSpPr>
        <p:spPr>
          <a:xfrm>
            <a:off x="7067536" y="5343519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13</a:t>
            </a:r>
            <a:endParaRPr lang="en-US" sz="11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E36CF43-F8DB-EB04-A030-D0BD1F4D38E3}"/>
              </a:ext>
            </a:extLst>
          </p:cNvPr>
          <p:cNvSpPr/>
          <p:nvPr/>
        </p:nvSpPr>
        <p:spPr>
          <a:xfrm>
            <a:off x="7419961" y="5624506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-1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12B5CAD-C777-432B-5336-E9B728141DC2}"/>
              </a:ext>
            </a:extLst>
          </p:cNvPr>
          <p:cNvSpPr/>
          <p:nvPr/>
        </p:nvSpPr>
        <p:spPr>
          <a:xfrm>
            <a:off x="7067535" y="5624506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14</a:t>
            </a:r>
            <a:endParaRPr lang="en-US" sz="11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E5074CD-F030-B443-10B1-27D6FBE97AE1}"/>
              </a:ext>
            </a:extLst>
          </p:cNvPr>
          <p:cNvSpPr/>
          <p:nvPr/>
        </p:nvSpPr>
        <p:spPr>
          <a:xfrm>
            <a:off x="7419960" y="5905493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8ABDE75-AD8C-23D1-80DC-CDE72C447347}"/>
              </a:ext>
            </a:extLst>
          </p:cNvPr>
          <p:cNvSpPr/>
          <p:nvPr/>
        </p:nvSpPr>
        <p:spPr>
          <a:xfrm>
            <a:off x="7067534" y="5905493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15</a:t>
            </a:r>
            <a:endParaRPr lang="en-US" sz="1100" dirty="0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524D22FE-74EB-17A8-C264-F1A61BB0173A}"/>
              </a:ext>
            </a:extLst>
          </p:cNvPr>
          <p:cNvCxnSpPr>
            <a:cxnSpLocks/>
            <a:endCxn id="27" idx="3"/>
          </p:cNvCxnSpPr>
          <p:nvPr/>
        </p:nvCxnSpPr>
        <p:spPr>
          <a:xfrm flipH="1">
            <a:off x="8867771" y="2955130"/>
            <a:ext cx="4794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AE17F0F1-792F-F1EE-6ABB-4CF7648F60B1}"/>
              </a:ext>
            </a:extLst>
          </p:cNvPr>
          <p:cNvCxnSpPr>
            <a:cxnSpLocks/>
            <a:endCxn id="31" idx="3"/>
          </p:cNvCxnSpPr>
          <p:nvPr/>
        </p:nvCxnSpPr>
        <p:spPr>
          <a:xfrm flipH="1">
            <a:off x="8867769" y="3517104"/>
            <a:ext cx="4794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07ECE5F1-6AB9-2D82-29EA-D29E76A7F8A0}"/>
              </a:ext>
            </a:extLst>
          </p:cNvPr>
          <p:cNvSpPr txBox="1"/>
          <p:nvPr/>
        </p:nvSpPr>
        <p:spPr>
          <a:xfrm>
            <a:off x="9404350" y="2767017"/>
            <a:ext cx="1949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Начало файла </a:t>
            </a:r>
            <a:r>
              <a:rPr lang="en-US" dirty="0"/>
              <a:t>A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958981C-7F15-4A96-A514-A1541AE45E06}"/>
              </a:ext>
            </a:extLst>
          </p:cNvPr>
          <p:cNvSpPr txBox="1"/>
          <p:nvPr/>
        </p:nvSpPr>
        <p:spPr>
          <a:xfrm>
            <a:off x="9404350" y="3332437"/>
            <a:ext cx="1949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Начало файла </a:t>
            </a:r>
            <a:r>
              <a:rPr lang="en-US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733065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C9A6E-F601-9137-BE4D-2251F7574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I-nodes — </a:t>
            </a:r>
            <a:r>
              <a:rPr lang="ru-RU" dirty="0"/>
              <a:t>современный подход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F3B93-8E54-6114-F5F9-1B7C86A23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/>
              <a:t>Inode</a:t>
            </a:r>
            <a:r>
              <a:rPr lang="en-US" dirty="0"/>
              <a:t> (Index node) – </a:t>
            </a:r>
            <a:r>
              <a:rPr lang="ru-RU" dirty="0"/>
              <a:t>структура данных, содержащая метаинформацию о файле или каталоге, </a:t>
            </a:r>
            <a:r>
              <a:rPr lang="ru-RU" b="1" dirty="0"/>
              <a:t>но не сами данные или имя</a:t>
            </a:r>
          </a:p>
          <a:p>
            <a:pPr lvl="1"/>
            <a:r>
              <a:rPr lang="ru-RU" dirty="0"/>
              <a:t>Права доступа</a:t>
            </a:r>
          </a:p>
          <a:p>
            <a:pPr lvl="1"/>
            <a:r>
              <a:rPr lang="ru-RU" dirty="0"/>
              <a:t>Владелец и группа файла</a:t>
            </a:r>
          </a:p>
          <a:p>
            <a:pPr lvl="1"/>
            <a:r>
              <a:rPr lang="ru-RU" dirty="0"/>
              <a:t>Размер файла</a:t>
            </a:r>
          </a:p>
          <a:p>
            <a:pPr lvl="1"/>
            <a:r>
              <a:rPr lang="ru-RU" dirty="0"/>
              <a:t>Временные метки</a:t>
            </a:r>
          </a:p>
          <a:p>
            <a:pPr lvl="1"/>
            <a:r>
              <a:rPr lang="ru-RU" dirty="0"/>
              <a:t>Ссылки на блоки данных, где хранится содержимое</a:t>
            </a:r>
          </a:p>
          <a:p>
            <a:r>
              <a:rPr lang="ru-RU" dirty="0"/>
              <a:t>Количество </a:t>
            </a:r>
            <a:r>
              <a:rPr lang="en-US" dirty="0" err="1"/>
              <a:t>inodes</a:t>
            </a:r>
            <a:r>
              <a:rPr lang="en-US" dirty="0"/>
              <a:t> </a:t>
            </a:r>
            <a:r>
              <a:rPr lang="ru-RU" dirty="0"/>
              <a:t>фиксировано и задаётся на этапе инициализации файловой системы</a:t>
            </a:r>
            <a:endParaRPr lang="en-US" dirty="0"/>
          </a:p>
          <a:p>
            <a:r>
              <a:rPr lang="ru-RU" dirty="0"/>
              <a:t>Плюсы:</a:t>
            </a:r>
          </a:p>
          <a:p>
            <a:pPr lvl="1"/>
            <a:r>
              <a:rPr lang="ru-RU" dirty="0"/>
              <a:t>в памяти хранится только i-</a:t>
            </a:r>
            <a:r>
              <a:rPr lang="ru-RU" dirty="0" err="1"/>
              <a:t>node</a:t>
            </a:r>
            <a:r>
              <a:rPr lang="ru-RU" dirty="0"/>
              <a:t> открытого файла;</a:t>
            </a:r>
          </a:p>
          <a:p>
            <a:pPr lvl="1"/>
            <a:r>
              <a:rPr lang="ru-RU" dirty="0"/>
              <a:t>масштабируется для огромных дисков;</a:t>
            </a:r>
          </a:p>
          <a:p>
            <a:pPr lvl="1"/>
            <a:r>
              <a:rPr lang="ru-RU" dirty="0"/>
              <a:t>эффективный произвольный доступ.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1518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F10F3-25CF-245F-7826-27B04EA42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7F514-AFC2-449D-485F-C417D84C6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52A101-A309-8DB0-2B50-283C7EFF5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780" y="1553557"/>
            <a:ext cx="11334439" cy="319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625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DA8C178-1277-9417-2DF9-B2D305020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</a:t>
            </a:r>
            <a:r>
              <a:rPr lang="en-US" dirty="0" err="1"/>
              <a:t>i</a:t>
            </a:r>
            <a:r>
              <a:rPr lang="en-US" dirty="0"/>
              <a:t>-node</a:t>
            </a:r>
          </a:p>
        </p:txBody>
      </p:sp>
      <p:pic>
        <p:nvPicPr>
          <p:cNvPr id="9" name="Content Placeholder 8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6049FE70-8548-9064-48A2-DE74AFDC8F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2545" y="1837816"/>
            <a:ext cx="6466910" cy="4916551"/>
          </a:xfrm>
        </p:spPr>
      </p:pic>
    </p:spTree>
    <p:extLst>
      <p:ext uri="{BB962C8B-B14F-4D97-AF65-F5344CB8AC3E}">
        <p14:creationId xmlns:p14="http://schemas.microsoft.com/office/powerpoint/2010/main" val="1565698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B5CB9-F744-CB2A-AAFE-E2BE68F5F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Гду</a:t>
            </a:r>
            <a:r>
              <a:rPr lang="ru-RU" dirty="0"/>
              <a:t> используются </a:t>
            </a:r>
            <a:r>
              <a:rPr lang="en-US" dirty="0" err="1"/>
              <a:t>i</a:t>
            </a:r>
            <a:r>
              <a:rPr lang="en-US" dirty="0"/>
              <a:t>-nodes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02DF4-D745-9E29-E956-0839A61C6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UNIX, Linux (ext2/ext3/ext4)</a:t>
            </a:r>
          </a:p>
          <a:p>
            <a:r>
              <a:rPr lang="en-US" dirty="0"/>
              <a:t>macOS</a:t>
            </a:r>
          </a:p>
          <a:p>
            <a:r>
              <a:rPr lang="en-US" dirty="0"/>
              <a:t>FreeBSD, OpenBSD</a:t>
            </a:r>
          </a:p>
          <a:p>
            <a:r>
              <a:rPr lang="en-US" dirty="0"/>
              <a:t>NTFS — </a:t>
            </a:r>
            <a:r>
              <a:rPr lang="ru-RU" dirty="0"/>
              <a:t>похожая концепция</a:t>
            </a:r>
          </a:p>
        </p:txBody>
      </p:sp>
    </p:spTree>
    <p:extLst>
      <p:ext uri="{BB962C8B-B14F-4D97-AF65-F5344CB8AC3E}">
        <p14:creationId xmlns:p14="http://schemas.microsoft.com/office/powerpoint/2010/main" val="2339819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D0C67E-F4F0-A176-47AC-073025557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работы каталогов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03C283-E82D-5F62-6711-7DD88F18F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476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2FD2DD-EFF9-3E03-25A3-1CD3D4538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каталогов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39A4B9-0F7A-29E6-FF09-A2B49EFEE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Сопоставляют имя файла и данные, необходимые для доступа</a:t>
            </a:r>
          </a:p>
          <a:p>
            <a:r>
              <a:rPr lang="ru-RU" dirty="0"/>
              <a:t>Основная роль: </a:t>
            </a:r>
            <a:r>
              <a:rPr lang="ru-RU" b="1" dirty="0"/>
              <a:t>преобразование имени в расположение файла</a:t>
            </a:r>
            <a:endParaRPr lang="ru-RU" dirty="0"/>
          </a:p>
          <a:p>
            <a:r>
              <a:rPr lang="ru-RU" dirty="0"/>
              <a:t>Содержат либо адреса блоков, либо номера i-</a:t>
            </a:r>
            <a:r>
              <a:rPr lang="ru-RU" dirty="0" err="1"/>
              <a:t>node</a:t>
            </a:r>
            <a:endParaRPr lang="ru-RU" dirty="0"/>
          </a:p>
          <a:p>
            <a:r>
              <a:rPr lang="ru-RU" dirty="0"/>
              <a:t>Могут хранить атрибуты файла</a:t>
            </a:r>
          </a:p>
        </p:txBody>
      </p:sp>
    </p:spTree>
    <p:extLst>
      <p:ext uri="{BB962C8B-B14F-4D97-AF65-F5344CB8AC3E}">
        <p14:creationId xmlns:p14="http://schemas.microsoft.com/office/powerpoint/2010/main" val="22509148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E744-0779-04E7-A041-C47014525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Фиксированная запись каталога (старые системы)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17F976-F538-2EF2-7858-3BC3962AB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753E88-D713-65E7-8679-ED5C1E4AA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401" y="1754935"/>
            <a:ext cx="10153198" cy="445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476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65545-9E69-C5A9-2D31-C8FA97CEE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Каталоги с </a:t>
            </a:r>
            <a:r>
              <a:rPr lang="en-US" dirty="0" err="1"/>
              <a:t>i</a:t>
            </a:r>
            <a:r>
              <a:rPr lang="en-US" dirty="0"/>
              <a:t>-nodes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4A32B-3636-6E61-8F6E-9E50A28BD53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Принцип: атрибуты хранятся в </a:t>
            </a:r>
            <a:r>
              <a:rPr lang="en-US" dirty="0" err="1"/>
              <a:t>i</a:t>
            </a:r>
            <a:r>
              <a:rPr lang="en-US" dirty="0"/>
              <a:t>-node</a:t>
            </a:r>
            <a:r>
              <a:rPr lang="ru-RU" dirty="0"/>
              <a:t>, а не в каталоге</a:t>
            </a:r>
          </a:p>
          <a:p>
            <a:r>
              <a:rPr lang="ru-RU" dirty="0"/>
              <a:t>Преимущества</a:t>
            </a:r>
          </a:p>
          <a:p>
            <a:pPr lvl="1"/>
            <a:r>
              <a:rPr lang="ru-RU" dirty="0"/>
              <a:t>Каталоги маленькие</a:t>
            </a:r>
          </a:p>
          <a:p>
            <a:pPr lvl="1"/>
            <a:r>
              <a:rPr lang="ru-RU" dirty="0"/>
              <a:t>Изменение атрибутов не перезаписывает каталог</a:t>
            </a:r>
          </a:p>
          <a:p>
            <a:pPr lvl="1"/>
            <a:r>
              <a:rPr lang="ru-RU" dirty="0"/>
              <a:t>Ускоряет работу ФС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C8DF674-B657-64A4-5AB5-4F1CF8557CF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08613056"/>
              </p:ext>
            </p:extLst>
          </p:nvPr>
        </p:nvGraphicFramePr>
        <p:xfrm>
          <a:off x="6172200" y="1825625"/>
          <a:ext cx="5181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91646817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981908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Имя файла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 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-node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543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File1.txt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650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File2.txt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0195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File4.txt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5207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91990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54A5579-D231-8927-B87C-096CA04C5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Ускорение поиска: </a:t>
            </a:r>
            <a:r>
              <a:rPr lang="ru-RU" dirty="0" err="1"/>
              <a:t>хеш</a:t>
            </a:r>
            <a:r>
              <a:rPr lang="ru-RU" dirty="0"/>
              <a:t> таблицы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B58128-BC0B-BAB1-E800-B3E64F9C3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Хеш имени ссылается на </a:t>
            </a:r>
            <a:r>
              <a:rPr lang="ru-RU" dirty="0" err="1"/>
              <a:t>bucket</a:t>
            </a:r>
            <a:endParaRPr lang="ru-RU" dirty="0"/>
          </a:p>
          <a:p>
            <a:r>
              <a:rPr lang="ru-RU" dirty="0"/>
              <a:t>Связный список всех файлов с одинаковым </a:t>
            </a:r>
            <a:r>
              <a:rPr lang="ru-RU" dirty="0" err="1"/>
              <a:t>хешем</a:t>
            </a:r>
            <a:endParaRPr lang="ru-RU" dirty="0"/>
          </a:p>
          <a:p>
            <a:r>
              <a:rPr lang="ru-RU" dirty="0"/>
              <a:t>Поиск сильно ускоряется</a:t>
            </a:r>
          </a:p>
          <a:p>
            <a:r>
              <a:rPr lang="ru-RU" dirty="0"/>
              <a:t>Сложнее управление структурой</a:t>
            </a:r>
          </a:p>
        </p:txBody>
      </p:sp>
    </p:spTree>
    <p:extLst>
      <p:ext uri="{BB962C8B-B14F-4D97-AF65-F5344CB8AC3E}">
        <p14:creationId xmlns:p14="http://schemas.microsoft.com/office/powerpoint/2010/main" val="10296206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B273A-8BE8-1742-7EA4-B75D67509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Кеширование результатов поиска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C7FE9-F699-5321-516E-156C54C77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Сохранение результатов частых обращений</a:t>
            </a:r>
          </a:p>
          <a:p>
            <a:r>
              <a:rPr lang="ru-RU" dirty="0"/>
              <a:t>Отлично работает, если большинство файлов используются регулярно</a:t>
            </a:r>
          </a:p>
          <a:p>
            <a:r>
              <a:rPr lang="ru-RU" dirty="0"/>
              <a:t>Простое, но эффективное ускорение</a:t>
            </a:r>
          </a:p>
        </p:txBody>
      </p:sp>
    </p:spTree>
    <p:extLst>
      <p:ext uri="{BB962C8B-B14F-4D97-AF65-F5344CB8AC3E}">
        <p14:creationId xmlns:p14="http://schemas.microsoft.com/office/powerpoint/2010/main" val="35607620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6DF72D-6412-AC54-10B4-15CAEDB8D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Организация общего доступа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5999A6-36BC-5F6D-984E-0372762B41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0420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CFE8EB-B326-638D-907D-3316EAAA0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Совместно используемые файлы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09AC4C-B45A-9502-0752-F119174888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Общие файлы в проектах</a:t>
            </a:r>
          </a:p>
          <a:p>
            <a:r>
              <a:rPr lang="ru-RU" dirty="0"/>
              <a:t>Один файл включается в несколько каталогов разных пользователей</a:t>
            </a:r>
          </a:p>
          <a:p>
            <a:r>
              <a:rPr lang="ru-RU" dirty="0"/>
              <a:t>Файловая система становится DAG, а не деревом</a:t>
            </a:r>
          </a:p>
          <a:p>
            <a:r>
              <a:rPr lang="ru-RU" dirty="0"/>
              <a:t>Поддержка ссылок: </a:t>
            </a:r>
            <a:r>
              <a:rPr lang="ru-RU" dirty="0" err="1"/>
              <a:t>hard</a:t>
            </a:r>
            <a:r>
              <a:rPr lang="ru-RU" dirty="0"/>
              <a:t> и </a:t>
            </a:r>
            <a:r>
              <a:rPr lang="ru-RU" dirty="0" err="1"/>
              <a:t>symbolic</a:t>
            </a:r>
            <a:endParaRPr lang="ru-RU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01AC755-A684-0E24-1C84-4A4D1DA882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57133" y="1825625"/>
            <a:ext cx="461173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5017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B0265-F572-7FDA-8401-ECAB0BE4C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Жесткие ссылки (</a:t>
            </a:r>
            <a:r>
              <a:rPr lang="en-US" dirty="0"/>
              <a:t>Hard Links)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1EA52-3E42-F660-3239-0B704E1907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Запись каталога указывает прямо на i-</a:t>
            </a:r>
            <a:r>
              <a:rPr lang="ru-RU" dirty="0" err="1"/>
              <a:t>node</a:t>
            </a:r>
            <a:endParaRPr lang="ru-RU" dirty="0"/>
          </a:p>
          <a:p>
            <a:r>
              <a:rPr lang="ru-RU" dirty="0"/>
              <a:t>Один файл — несколько имён</a:t>
            </a:r>
          </a:p>
          <a:p>
            <a:r>
              <a:rPr lang="ru-RU" dirty="0"/>
              <a:t>Счётчик ссылок в i-</a:t>
            </a:r>
            <a:r>
              <a:rPr lang="ru-RU" dirty="0" err="1"/>
              <a:t>node</a:t>
            </a:r>
            <a:endParaRPr lang="ru-RU" dirty="0"/>
          </a:p>
          <a:p>
            <a:r>
              <a:rPr lang="ru-RU" dirty="0"/>
              <a:t>Файл удаляется только при </a:t>
            </a:r>
            <a:r>
              <a:rPr lang="ru-RU" dirty="0" err="1"/>
              <a:t>count</a:t>
            </a:r>
            <a:r>
              <a:rPr lang="ru-RU" dirty="0"/>
              <a:t> = 0</a:t>
            </a:r>
          </a:p>
          <a:p>
            <a:r>
              <a:rPr lang="ru-RU" dirty="0"/>
              <a:t>Как </a:t>
            </a:r>
            <a:r>
              <a:rPr lang="en-US" dirty="0" err="1"/>
              <a:t>shared_ptr</a:t>
            </a:r>
            <a:r>
              <a:rPr lang="ru-RU" dirty="0"/>
              <a:t>, но в файловой системе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F90F88C-E5EF-4935-4826-3B62E97B2A2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666284"/>
            <a:ext cx="5181600" cy="267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6815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B1D01-DAFF-6D84-7A31-7956639ED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Проблемы </a:t>
            </a:r>
            <a:r>
              <a:rPr lang="en-US" dirty="0"/>
              <a:t>hard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303C3-F60B-3D7C-ED86-032B01B00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Владелец может удалить свою ссылку, но файл остаётся</a:t>
            </a:r>
          </a:p>
          <a:p>
            <a:r>
              <a:rPr lang="ru-RU" dirty="0"/>
              <a:t>Невозможно узнать, в каких каталогах есть другие ссылки</a:t>
            </a:r>
          </a:p>
          <a:p>
            <a:r>
              <a:rPr lang="ru-RU" dirty="0"/>
              <a:t>Владелец продолжает «платить» за файл до полного удаления</a:t>
            </a:r>
          </a:p>
        </p:txBody>
      </p:sp>
    </p:spTree>
    <p:extLst>
      <p:ext uri="{BB962C8B-B14F-4D97-AF65-F5344CB8AC3E}">
        <p14:creationId xmlns:p14="http://schemas.microsoft.com/office/powerpoint/2010/main" val="24373556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261B9-EB60-81D4-E026-9E45EBBEB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Символические ссылки</a:t>
            </a:r>
            <a:r>
              <a:rPr lang="en-US" dirty="0"/>
              <a:t> (Symbolic Links)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558F6-591E-7CC4-1A13-DEA13F441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Отдельный файл, содержащий путь к целевому</a:t>
            </a:r>
          </a:p>
          <a:p>
            <a:r>
              <a:rPr lang="ru-RU" dirty="0"/>
              <a:t>Не указывает на i-</a:t>
            </a:r>
            <a:r>
              <a:rPr lang="ru-RU" dirty="0" err="1"/>
              <a:t>node</a:t>
            </a:r>
            <a:r>
              <a:rPr lang="ru-RU" dirty="0"/>
              <a:t> напрямую</a:t>
            </a:r>
          </a:p>
          <a:p>
            <a:r>
              <a:rPr lang="ru-RU" dirty="0"/>
              <a:t>Может ссылаться на файлы на других дисках, разделах, серверах</a:t>
            </a:r>
          </a:p>
          <a:p>
            <a:r>
              <a:rPr lang="ru-RU" dirty="0"/>
              <a:t>При удалении исходного файла ссылка становится «сломанной»</a:t>
            </a:r>
          </a:p>
        </p:txBody>
      </p:sp>
    </p:spTree>
    <p:extLst>
      <p:ext uri="{BB962C8B-B14F-4D97-AF65-F5344CB8AC3E}">
        <p14:creationId xmlns:p14="http://schemas.microsoft.com/office/powerpoint/2010/main" val="15831000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6ACC1-66E2-0EC5-E191-A8FC8A4D4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Недостатки </a:t>
            </a:r>
            <a:r>
              <a:rPr lang="en-US" dirty="0"/>
              <a:t>symbolic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3E08C-7651-DA6E-BD97-463D6E4F1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Дополнительные дисковые операции</a:t>
            </a:r>
          </a:p>
          <a:p>
            <a:r>
              <a:rPr lang="ru-RU" dirty="0"/>
              <a:t>Хранение пути требует </a:t>
            </a:r>
            <a:r>
              <a:rPr lang="ru-RU" dirty="0" err="1"/>
              <a:t>i-node</a:t>
            </a:r>
            <a:r>
              <a:rPr lang="ru-RU" dirty="0"/>
              <a:t> и блока</a:t>
            </a:r>
          </a:p>
          <a:p>
            <a:r>
              <a:rPr lang="ru-RU" dirty="0"/>
              <a:t>Возможны циклы ссылок</a:t>
            </a:r>
          </a:p>
          <a:p>
            <a:r>
              <a:rPr lang="ru-RU" dirty="0"/>
              <a:t>«Сломанные» ссылки при удалении исходного файла</a:t>
            </a:r>
          </a:p>
        </p:txBody>
      </p:sp>
    </p:spTree>
    <p:extLst>
      <p:ext uri="{BB962C8B-B14F-4D97-AF65-F5344CB8AC3E}">
        <p14:creationId xmlns:p14="http://schemas.microsoft.com/office/powerpoint/2010/main" val="40399022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4A321-6E5E-461F-8E04-EAABFC60B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множественных путей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6D815-ED36-F01D-6420-3BB13C62B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Один файл может встречаться несколько раз при обходе дерева</a:t>
            </a:r>
          </a:p>
          <a:p>
            <a:r>
              <a:rPr lang="ru-RU" dirty="0"/>
              <a:t>Наивная программа для </a:t>
            </a:r>
            <a:r>
              <a:rPr lang="en-US" dirty="0"/>
              <a:t>b</a:t>
            </a:r>
            <a:r>
              <a:rPr lang="ru-RU" dirty="0" err="1"/>
              <a:t>ackup</a:t>
            </a:r>
            <a:r>
              <a:rPr lang="ru-RU" dirty="0"/>
              <a:t> может сделать несколько копий одного файла</a:t>
            </a:r>
          </a:p>
          <a:p>
            <a:r>
              <a:rPr lang="ru-RU" dirty="0"/>
              <a:t>При переносе на другую систему структура ссылок может быть утеряна</a:t>
            </a:r>
          </a:p>
        </p:txBody>
      </p:sp>
    </p:spTree>
    <p:extLst>
      <p:ext uri="{BB962C8B-B14F-4D97-AF65-F5344CB8AC3E}">
        <p14:creationId xmlns:p14="http://schemas.microsoft.com/office/powerpoint/2010/main" val="29837960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46C638-0DA6-AA26-666B-F62910337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Файловые системы, использующие журналирование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A2EED9-5C24-C03C-7400-139683331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9626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E305C4-9C21-6742-5423-32B418368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нужно журналирование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5B645AE-6C7F-CF0B-18D7-8EA951105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Системы часто падают: отключение питания, </a:t>
            </a:r>
            <a:r>
              <a:rPr lang="ru-RU" dirty="0" err="1"/>
              <a:t>kernel</a:t>
            </a:r>
            <a:r>
              <a:rPr lang="ru-RU" dirty="0"/>
              <a:t> </a:t>
            </a:r>
            <a:r>
              <a:rPr lang="ru-RU" dirty="0" err="1"/>
              <a:t>panic</a:t>
            </a:r>
            <a:endParaRPr lang="ru-RU" dirty="0"/>
          </a:p>
          <a:p>
            <a:r>
              <a:rPr lang="ru-RU" dirty="0"/>
              <a:t>Простые операции состоят из нескольких шагов</a:t>
            </a:r>
          </a:p>
          <a:p>
            <a:r>
              <a:rPr lang="ru-RU" dirty="0"/>
              <a:t>Разрыв операции при сбое приводит к коррупции FS</a:t>
            </a:r>
          </a:p>
          <a:p>
            <a:r>
              <a:rPr lang="ru-RU" dirty="0"/>
              <a:t>Необходимо гарантировать целостность метаданных</a:t>
            </a:r>
          </a:p>
        </p:txBody>
      </p:sp>
    </p:spTree>
    <p:extLst>
      <p:ext uri="{BB962C8B-B14F-4D97-AF65-F5344CB8AC3E}">
        <p14:creationId xmlns:p14="http://schemas.microsoft.com/office/powerpoint/2010/main" val="31661800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0A5CE-0BF1-540F-6075-442C4E1FF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работает журналирование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548C0-A649-F62D-EED1-01768E99B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Операции НЕ выполняются сразу</a:t>
            </a:r>
          </a:p>
          <a:p>
            <a:r>
              <a:rPr lang="ru-RU" dirty="0"/>
              <a:t>Сначала записывается запись в журнал</a:t>
            </a:r>
          </a:p>
          <a:p>
            <a:r>
              <a:rPr lang="ru-RU" dirty="0"/>
              <a:t>Журнал фиксирует </a:t>
            </a:r>
            <a:r>
              <a:rPr lang="ru-RU" i="1" dirty="0"/>
              <a:t>что будет сделано</a:t>
            </a:r>
            <a:endParaRPr lang="ru-RU" dirty="0"/>
          </a:p>
          <a:p>
            <a:r>
              <a:rPr lang="ru-RU" dirty="0"/>
              <a:t>После успешной записи выполняется операция</a:t>
            </a:r>
          </a:p>
          <a:p>
            <a:r>
              <a:rPr lang="ru-RU" dirty="0"/>
              <a:t>По завершении — запись удаляется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127D9B-0635-13D8-44B0-AFF32E35A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734151"/>
            <a:ext cx="10146485" cy="175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4654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E3803-AC36-FFB2-F3C4-C010309C2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удаление файла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3671A-DF5B-ECD9-035E-15685BED9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Три шага в UNIX:</a:t>
            </a:r>
          </a:p>
          <a:p>
            <a:pPr lvl="1"/>
            <a:r>
              <a:rPr lang="ru-RU" dirty="0"/>
              <a:t>Удаление записи из каталога</a:t>
            </a:r>
          </a:p>
          <a:p>
            <a:pPr lvl="1"/>
            <a:r>
              <a:rPr lang="ru-RU" dirty="0"/>
              <a:t>Освобождение i-</a:t>
            </a:r>
            <a:r>
              <a:rPr lang="ru-RU" dirty="0" err="1"/>
              <a:t>node</a:t>
            </a:r>
            <a:endParaRPr lang="ru-RU" dirty="0"/>
          </a:p>
          <a:p>
            <a:pPr lvl="1"/>
            <a:r>
              <a:rPr lang="ru-RU" dirty="0"/>
              <a:t>Освобождение блоков файла</a:t>
            </a:r>
          </a:p>
          <a:p>
            <a:r>
              <a:rPr lang="ru-RU" dirty="0"/>
              <a:t>Если сбой произойдёт между шагами, это приведёт повреждение FS.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9997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A219A-9DA4-C084-685C-C6C9693AC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Идемпотентные операции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AB2F6-204C-2795-868F-76854D02A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Журналируемые</a:t>
            </a:r>
            <a:r>
              <a:rPr lang="ru-RU" dirty="0"/>
              <a:t> действия должны быть </a:t>
            </a:r>
            <a:r>
              <a:rPr lang="ru-RU" i="1" dirty="0"/>
              <a:t>повторяемыми без последствий</a:t>
            </a:r>
            <a:endParaRPr lang="ru-RU" dirty="0"/>
          </a:p>
          <a:p>
            <a:r>
              <a:rPr lang="ru-RU" dirty="0"/>
              <a:t>«Освободить блок n» — безопасно многократно</a:t>
            </a:r>
          </a:p>
          <a:p>
            <a:r>
              <a:rPr lang="ru-RU" dirty="0"/>
              <a:t>«Удалить запись </a:t>
            </a:r>
            <a:r>
              <a:rPr lang="ru-RU" dirty="0" err="1"/>
              <a:t>foobar</a:t>
            </a:r>
            <a:r>
              <a:rPr lang="ru-RU" dirty="0"/>
              <a:t> из каталога» — тоже</a:t>
            </a:r>
          </a:p>
          <a:p>
            <a:r>
              <a:rPr lang="ru-RU" dirty="0"/>
              <a:t>«Добавить блок n в конец списка свободных» — </a:t>
            </a:r>
            <a:r>
              <a:rPr lang="ru-RU" b="1" dirty="0"/>
              <a:t>нельзя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3520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9E85E-2EF2-531C-C5D5-699C23309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Транзакции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BE306-B250-806A-F200-954D1EC98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Несколько действий объединяются в атомарную операцию</a:t>
            </a:r>
          </a:p>
          <a:p>
            <a:r>
              <a:rPr lang="ru-RU" dirty="0" err="1"/>
              <a:t>begin</a:t>
            </a:r>
            <a:r>
              <a:rPr lang="ru-RU" dirty="0"/>
              <a:t> </a:t>
            </a:r>
            <a:r>
              <a:rPr lang="ru-RU" dirty="0" err="1"/>
              <a:t>transaction</a:t>
            </a:r>
            <a:r>
              <a:rPr lang="ru-RU" dirty="0"/>
              <a:t> — </a:t>
            </a:r>
            <a:r>
              <a:rPr lang="ru-RU" dirty="0" err="1"/>
              <a:t>start</a:t>
            </a:r>
            <a:endParaRPr lang="ru-RU" dirty="0"/>
          </a:p>
          <a:p>
            <a:r>
              <a:rPr lang="ru-RU" dirty="0" err="1"/>
              <a:t>end</a:t>
            </a:r>
            <a:r>
              <a:rPr lang="ru-RU" dirty="0"/>
              <a:t> </a:t>
            </a:r>
            <a:r>
              <a:rPr lang="ru-RU" dirty="0" err="1"/>
              <a:t>transaction</a:t>
            </a:r>
            <a:r>
              <a:rPr lang="ru-RU" dirty="0"/>
              <a:t> — </a:t>
            </a:r>
            <a:r>
              <a:rPr lang="ru-RU" dirty="0" err="1"/>
              <a:t>commit</a:t>
            </a:r>
            <a:endParaRPr lang="ru-RU" dirty="0"/>
          </a:p>
          <a:p>
            <a:r>
              <a:rPr lang="ru-RU" dirty="0"/>
              <a:t>Либо выполняются все действия, либо ни одно</a:t>
            </a:r>
          </a:p>
        </p:txBody>
      </p:sp>
    </p:spTree>
    <p:extLst>
      <p:ext uri="{BB962C8B-B14F-4D97-AF65-F5344CB8AC3E}">
        <p14:creationId xmlns:p14="http://schemas.microsoft.com/office/powerpoint/2010/main" val="18957579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E98F8-4D89-3BE3-19CB-B7B2E0451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используется журналирование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3561B-F2BC-F8CE-B854-7717190BD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NTFS (Windows) — </a:t>
            </a:r>
            <a:r>
              <a:rPr lang="ru-RU" dirty="0"/>
              <a:t>мощная система журналирования</a:t>
            </a:r>
          </a:p>
          <a:p>
            <a:r>
              <a:rPr lang="en-US" dirty="0"/>
              <a:t>ext3/ext4 (Linux)</a:t>
            </a:r>
          </a:p>
          <a:p>
            <a:r>
              <a:rPr lang="en-US" dirty="0" err="1"/>
              <a:t>ReiserFS</a:t>
            </a:r>
            <a:r>
              <a:rPr lang="en-US" dirty="0"/>
              <a:t> — </a:t>
            </a:r>
            <a:r>
              <a:rPr lang="ru-RU" dirty="0"/>
              <a:t>первая </a:t>
            </a:r>
            <a:r>
              <a:rPr lang="ru-RU" dirty="0" err="1"/>
              <a:t>журналируемая</a:t>
            </a:r>
            <a:r>
              <a:rPr lang="ru-RU" dirty="0"/>
              <a:t> </a:t>
            </a:r>
            <a:r>
              <a:rPr lang="en-US" dirty="0"/>
              <a:t>FS </a:t>
            </a:r>
            <a:r>
              <a:rPr lang="ru-RU" dirty="0"/>
              <a:t>в </a:t>
            </a:r>
            <a:r>
              <a:rPr lang="en-US" dirty="0"/>
              <a:t>Linux</a:t>
            </a:r>
          </a:p>
          <a:p>
            <a:r>
              <a:rPr lang="en-US" dirty="0"/>
              <a:t>HFS+/APFS — MacOS (journaling </a:t>
            </a:r>
            <a:r>
              <a:rPr lang="ru-RU" dirty="0"/>
              <a:t>по умолчанию)</a:t>
            </a:r>
          </a:p>
        </p:txBody>
      </p:sp>
    </p:spTree>
    <p:extLst>
      <p:ext uri="{BB962C8B-B14F-4D97-AF65-F5344CB8AC3E}">
        <p14:creationId xmlns:p14="http://schemas.microsoft.com/office/powerpoint/2010/main" val="40117151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38A105-F1C0-FCCA-7612-F63EDB704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Дефрагментация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D68B1F-6F4F-20F0-0584-203E4DE78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8852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4BC45B-72F8-519C-2FB3-E7A64BAD3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Причины фрагментации диска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012A34-D423-D69B-320C-07D4ABC51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После установки ОС файлы лежат </a:t>
            </a:r>
            <a:r>
              <a:rPr lang="ru-RU" b="1" dirty="0"/>
              <a:t>последовательно</a:t>
            </a:r>
            <a:endParaRPr lang="ru-RU" dirty="0"/>
          </a:p>
          <a:p>
            <a:r>
              <a:rPr lang="ru-RU" dirty="0"/>
              <a:t>В результате создания и удаления файлов появляются «дырки»</a:t>
            </a:r>
          </a:p>
          <a:p>
            <a:r>
              <a:rPr lang="ru-RU" dirty="0"/>
              <a:t>Новые файлы записываются в разные части диска</a:t>
            </a:r>
          </a:p>
          <a:p>
            <a:r>
              <a:rPr lang="ru-RU" dirty="0"/>
              <a:t>Итог: </a:t>
            </a:r>
            <a:r>
              <a:rPr lang="ru-RU" b="1" dirty="0"/>
              <a:t>фрагментация</a:t>
            </a:r>
            <a:r>
              <a:rPr lang="ru-RU" dirty="0"/>
              <a:t> — файл разбит на куски по всему диску</a:t>
            </a:r>
          </a:p>
          <a:p>
            <a:r>
              <a:rPr lang="ru-RU" dirty="0"/>
              <a:t>Последствие: ухудшение производительности на HDD</a:t>
            </a:r>
          </a:p>
        </p:txBody>
      </p:sp>
    </p:spTree>
    <p:extLst>
      <p:ext uri="{BB962C8B-B14F-4D97-AF65-F5344CB8AC3E}">
        <p14:creationId xmlns:p14="http://schemas.microsoft.com/office/powerpoint/2010/main" val="4190977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BE424-572C-FD9A-7052-ED728C88C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делает дефрагментация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6B601-205B-3320-F1F6-E33BA8966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Составляет карту всех файлов и свободных областей</a:t>
            </a:r>
          </a:p>
          <a:p>
            <a:r>
              <a:rPr lang="ru-RU" dirty="0"/>
              <a:t>Перемещает данные, чтобы:</a:t>
            </a:r>
          </a:p>
          <a:p>
            <a:pPr lvl="1"/>
            <a:r>
              <a:rPr lang="ru-RU" dirty="0"/>
              <a:t>собрать файлы в </a:t>
            </a:r>
            <a:r>
              <a:rPr lang="ru-RU" b="1" dirty="0"/>
              <a:t>непрерывные области</a:t>
            </a:r>
            <a:endParaRPr lang="ru-RU" dirty="0"/>
          </a:p>
          <a:p>
            <a:pPr lvl="1"/>
            <a:r>
              <a:rPr lang="ru-RU" dirty="0"/>
              <a:t>сгруппировать свободное пространство</a:t>
            </a:r>
          </a:p>
          <a:p>
            <a:r>
              <a:rPr lang="ru-RU" dirty="0"/>
              <a:t>Windows: встроенная утилита </a:t>
            </a:r>
            <a:r>
              <a:rPr lang="ru-RU" b="1" dirty="0" err="1"/>
              <a:t>defrag</a:t>
            </a:r>
            <a:endParaRPr lang="ru-RU" dirty="0"/>
          </a:p>
          <a:p>
            <a:r>
              <a:rPr lang="ru-RU" dirty="0"/>
              <a:t>Регулярный запуск полезен </a:t>
            </a:r>
            <a:r>
              <a:rPr lang="ru-RU" b="1" dirty="0"/>
              <a:t>только для HDD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8894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63E68-74BE-EDB8-3C66-A0118CE50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работы </a:t>
            </a:r>
            <a:r>
              <a:rPr lang="ru-RU" dirty="0" err="1"/>
              <a:t>дефрагментатора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032E7-AB7A-A363-8E22-A578C4BFB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Нужна крупная свободная область, обычно в конце раздела</a:t>
            </a:r>
          </a:p>
          <a:p>
            <a:r>
              <a:rPr lang="ru-RU" dirty="0"/>
              <a:t>Фрагментированные файлы переносятся туда целиком</a:t>
            </a:r>
          </a:p>
          <a:p>
            <a:r>
              <a:rPr lang="ru-RU" dirty="0"/>
              <a:t>Затем освобождённое пространство используется для дальнейшей перестановки</a:t>
            </a:r>
          </a:p>
          <a:p>
            <a:r>
              <a:rPr lang="ru-RU" dirty="0"/>
              <a:t>Процесс повторяется, пока структура диска не станет оптимальной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0097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3D3DE-7532-687A-2E74-25D750DBF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Файлы, которые нельзя перемещать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A6530-CE0F-55F7-ED79-CFFE54F9C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err="1"/>
              <a:t>Paging</a:t>
            </a:r>
            <a:r>
              <a:rPr lang="ru-RU" dirty="0"/>
              <a:t> </a:t>
            </a:r>
            <a:r>
              <a:rPr lang="ru-RU" dirty="0" err="1"/>
              <a:t>file</a:t>
            </a:r>
            <a:r>
              <a:rPr lang="ru-RU" dirty="0"/>
              <a:t> (pagefile.sys)</a:t>
            </a:r>
          </a:p>
          <a:p>
            <a:r>
              <a:rPr lang="ru-RU" dirty="0" err="1"/>
              <a:t>Hibernation</a:t>
            </a:r>
            <a:r>
              <a:rPr lang="ru-RU" dirty="0"/>
              <a:t> </a:t>
            </a:r>
            <a:r>
              <a:rPr lang="ru-RU" dirty="0" err="1"/>
              <a:t>file</a:t>
            </a:r>
            <a:r>
              <a:rPr lang="ru-RU" dirty="0"/>
              <a:t> (hiberfil.sys)</a:t>
            </a:r>
          </a:p>
          <a:p>
            <a:r>
              <a:rPr lang="ru-RU" dirty="0"/>
              <a:t>Логи журналирования (NTFS </a:t>
            </a:r>
            <a:r>
              <a:rPr lang="ru-RU" dirty="0" err="1"/>
              <a:t>journal</a:t>
            </a:r>
            <a:r>
              <a:rPr lang="ru-RU" dirty="0"/>
              <a:t>)</a:t>
            </a:r>
          </a:p>
          <a:p>
            <a:r>
              <a:rPr lang="ru-RU" dirty="0"/>
              <a:t>Эти файлы:</a:t>
            </a:r>
          </a:p>
          <a:p>
            <a:pPr lvl="1"/>
            <a:r>
              <a:rPr lang="ru-RU" dirty="0"/>
              <a:t>либо фиксируются как </a:t>
            </a:r>
            <a:r>
              <a:rPr lang="ru-RU" i="1" dirty="0" err="1"/>
              <a:t>несдвигаемые</a:t>
            </a:r>
            <a:endParaRPr lang="ru-RU" dirty="0"/>
          </a:p>
          <a:p>
            <a:pPr lvl="1"/>
            <a:r>
              <a:rPr lang="ru-RU" dirty="0"/>
              <a:t>либо изначально занимают непрерывную область</a:t>
            </a:r>
          </a:p>
          <a:p>
            <a:r>
              <a:rPr lang="ru-RU" dirty="0"/>
              <a:t>Проблема: если они лежат в конце раздела — нельзя уменьшить его размер</a:t>
            </a:r>
          </a:p>
          <a:p>
            <a:pPr lvl="1"/>
            <a:r>
              <a:rPr lang="ru-RU" dirty="0"/>
              <a:t>Решение: временно отключить/уменьшить файл подкачки/гибернации, а затем включить снова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921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0C41A-9220-535E-D6C4-BA9032F80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</a:t>
            </a:r>
            <a:r>
              <a:rPr lang="ru-RU" dirty="0"/>
              <a:t>и фрагментация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E5A5A-9E16-F282-81C6-C01AE60EE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ext3/ext4 фрагментируются значительно меньше</a:t>
            </a:r>
          </a:p>
          <a:p>
            <a:r>
              <a:rPr lang="ru-RU" dirty="0" err="1"/>
              <a:t>Аллокатор</a:t>
            </a:r>
            <a:r>
              <a:rPr lang="ru-RU" dirty="0"/>
              <a:t> блоков старается размещать файлы в одной группе цилиндров</a:t>
            </a:r>
          </a:p>
          <a:p>
            <a:r>
              <a:rPr lang="ru-RU" dirty="0"/>
              <a:t>Часто ручная дефрагментация не нужна</a:t>
            </a:r>
          </a:p>
          <a:p>
            <a:r>
              <a:rPr lang="ru-RU" dirty="0"/>
              <a:t>Есть инструменты (e4defrag), но применяются редко</a:t>
            </a:r>
          </a:p>
        </p:txBody>
      </p:sp>
    </p:spTree>
    <p:extLst>
      <p:ext uri="{BB962C8B-B14F-4D97-AF65-F5344CB8AC3E}">
        <p14:creationId xmlns:p14="http://schemas.microsoft.com/office/powerpoint/2010/main" val="32535503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EC371-3C97-EAC2-385F-4C020BC35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SSD </a:t>
            </a:r>
            <a:r>
              <a:rPr lang="ru-RU" dirty="0"/>
              <a:t>и фрагментация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0ACCD-7818-5249-F735-4DBEB122E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SSD не имеют движущихся частей</a:t>
            </a:r>
          </a:p>
          <a:p>
            <a:r>
              <a:rPr lang="ru-RU" dirty="0"/>
              <a:t>Доступ к любому блоку одинаков по времени</a:t>
            </a:r>
          </a:p>
          <a:p>
            <a:r>
              <a:rPr lang="ru-RU" dirty="0"/>
              <a:t>Фрагментация не влияет на скорость</a:t>
            </a:r>
          </a:p>
          <a:p>
            <a:r>
              <a:rPr lang="ru-RU" dirty="0"/>
              <a:t>Дефрагментация вредит SSD, так как вызывает лишние записи и ускоряет износ </a:t>
            </a:r>
            <a:r>
              <a:rPr lang="ru-RU" dirty="0" err="1"/>
              <a:t>флеш</a:t>
            </a:r>
            <a:r>
              <a:rPr lang="ru-RU" dirty="0"/>
              <a:t> памяти</a:t>
            </a:r>
          </a:p>
        </p:txBody>
      </p:sp>
    </p:spTree>
    <p:extLst>
      <p:ext uri="{BB962C8B-B14F-4D97-AF65-F5344CB8AC3E}">
        <p14:creationId xmlns:p14="http://schemas.microsoft.com/office/powerpoint/2010/main" val="26359872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FDC337-8C4C-0EDB-499D-B25D2D3FB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Шифрование и безопасное удаление файлов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9C48B-9A01-496B-9E6C-ECBF44D89C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7250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99AC22-2360-CA15-40BA-B34E6B06C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безопасного удаления файлов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D3ADD2-4665-88C2-5221-6CF9E8275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Удаление файла в ОС не приводит к уничтожению данных</a:t>
            </a:r>
          </a:p>
          <a:p>
            <a:r>
              <a:rPr lang="ru-RU" dirty="0"/>
              <a:t>Файл удаляется только из директории и i-</a:t>
            </a:r>
            <a:r>
              <a:rPr lang="ru-RU" dirty="0" err="1"/>
              <a:t>node</a:t>
            </a:r>
            <a:endParaRPr lang="ru-RU" dirty="0"/>
          </a:p>
          <a:p>
            <a:r>
              <a:rPr lang="ru-RU" dirty="0"/>
              <a:t>Содержимое остаётся в блоках диска</a:t>
            </a:r>
          </a:p>
          <a:p>
            <a:r>
              <a:rPr lang="ru-RU" dirty="0"/>
              <a:t>Злоумышленник может прочитать «сырые» блоки</a:t>
            </a:r>
          </a:p>
          <a:p>
            <a:r>
              <a:rPr lang="ru-RU" dirty="0"/>
              <a:t>Права доступа файловой системы легко обходятся, если у злоумышленника есть физический доступ к носителю</a:t>
            </a:r>
          </a:p>
        </p:txBody>
      </p:sp>
    </p:spTree>
    <p:extLst>
      <p:ext uri="{BB962C8B-B14F-4D97-AF65-F5344CB8AC3E}">
        <p14:creationId xmlns:p14="http://schemas.microsoft.com/office/powerpoint/2010/main" val="37384987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43E00-4324-1447-D9B0-93FB42759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Почему сложно уничтожить данные надёжно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6945-21F5-11C7-4D4D-8BED527F7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Перезапись нулями иногда недостаточна</a:t>
            </a:r>
          </a:p>
          <a:p>
            <a:r>
              <a:rPr lang="ru-RU" dirty="0"/>
              <a:t>На HDD остаются магнитные «следы» рядом с дорожками</a:t>
            </a:r>
          </a:p>
          <a:p>
            <a:r>
              <a:rPr lang="ru-RU" dirty="0"/>
              <a:t>SSD ещё сложнее:</a:t>
            </a:r>
          </a:p>
          <a:p>
            <a:pPr lvl="1"/>
            <a:r>
              <a:rPr lang="ru-RU" dirty="0"/>
              <a:t>Файловая система не контролирует фактические физические блоки</a:t>
            </a:r>
          </a:p>
          <a:p>
            <a:pPr lvl="1"/>
            <a:r>
              <a:rPr lang="ru-RU" dirty="0"/>
              <a:t>FTL перенаправляет записи в произвольные места</a:t>
            </a:r>
          </a:p>
          <a:p>
            <a:pPr lvl="1"/>
            <a:r>
              <a:rPr lang="ru-RU" dirty="0"/>
              <a:t>Старая копия может оставаться в другой ячейке</a:t>
            </a:r>
          </a:p>
          <a:p>
            <a:r>
              <a:rPr lang="ru-RU" dirty="0"/>
              <a:t>Данные могут существовать в кэше, теневых копиях, бэкапах</a:t>
            </a:r>
          </a:p>
        </p:txBody>
      </p:sp>
    </p:spTree>
    <p:extLst>
      <p:ext uri="{BB962C8B-B14F-4D97-AF65-F5344CB8AC3E}">
        <p14:creationId xmlns:p14="http://schemas.microsoft.com/office/powerpoint/2010/main" val="40964318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47AAB-2FD2-4E43-E53D-630845C5C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надёжного удаления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A1510-9F73-7E10-6F2D-2546B8AFD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Многократная перезапись (3–7 проходов):</a:t>
            </a:r>
          </a:p>
          <a:p>
            <a:pPr lvl="1"/>
            <a:r>
              <a:rPr lang="ru-RU" dirty="0"/>
              <a:t>нули → случайные данные → нули</a:t>
            </a:r>
          </a:p>
          <a:p>
            <a:r>
              <a:rPr lang="ru-RU" dirty="0"/>
              <a:t>Специальные утилиты (</a:t>
            </a:r>
            <a:r>
              <a:rPr lang="ru-RU" dirty="0" err="1"/>
              <a:t>wipe</a:t>
            </a:r>
            <a:r>
              <a:rPr lang="ru-RU" dirty="0"/>
              <a:t>, </a:t>
            </a:r>
            <a:r>
              <a:rPr lang="ru-RU" dirty="0" err="1"/>
              <a:t>sdelete</a:t>
            </a:r>
            <a:r>
              <a:rPr lang="ru-RU" dirty="0"/>
              <a:t>, </a:t>
            </a:r>
            <a:r>
              <a:rPr lang="ru-RU" dirty="0" err="1"/>
              <a:t>shred</a:t>
            </a:r>
            <a:r>
              <a:rPr lang="ru-RU" dirty="0"/>
              <a:t>)</a:t>
            </a:r>
          </a:p>
          <a:p>
            <a:r>
              <a:rPr lang="ru-RU" dirty="0"/>
              <a:t>Для полного уничтожения дисков:</a:t>
            </a:r>
          </a:p>
          <a:p>
            <a:pPr lvl="1"/>
            <a:r>
              <a:rPr lang="ru-RU" dirty="0"/>
              <a:t>физическое разрушение</a:t>
            </a:r>
          </a:p>
          <a:p>
            <a:r>
              <a:rPr lang="ru-RU" dirty="0"/>
              <a:t>Для SSD многократная перезапись ненадёжна</a:t>
            </a:r>
          </a:p>
        </p:txBody>
      </p:sp>
    </p:spTree>
    <p:extLst>
      <p:ext uri="{BB962C8B-B14F-4D97-AF65-F5344CB8AC3E}">
        <p14:creationId xmlns:p14="http://schemas.microsoft.com/office/powerpoint/2010/main" val="31551856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D89F0-AE8D-C252-0A99-8E61FABF6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Решение проблемы: полное шифрование диска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3E384-6D89-B3FF-B7B4-1A1FDBEE3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Единственный 100% способ предотвратить восстановление</a:t>
            </a:r>
          </a:p>
          <a:p>
            <a:r>
              <a:rPr lang="ru-RU" dirty="0"/>
              <a:t>Даже если блоки не удалены физически — данные зашифрованы</a:t>
            </a:r>
          </a:p>
          <a:p>
            <a:r>
              <a:rPr lang="ru-RU" dirty="0"/>
              <a:t>Требуется:</a:t>
            </a:r>
          </a:p>
          <a:p>
            <a:pPr lvl="1"/>
            <a:r>
              <a:rPr lang="ru-RU" dirty="0"/>
              <a:t>надёжный алгоритм (AES)</a:t>
            </a:r>
          </a:p>
          <a:p>
            <a:pPr lvl="1"/>
            <a:r>
              <a:rPr lang="ru-RU" dirty="0"/>
              <a:t>длинный ключ</a:t>
            </a:r>
          </a:p>
          <a:p>
            <a:pPr lvl="1"/>
            <a:r>
              <a:rPr lang="ru-RU" dirty="0"/>
              <a:t>отсутствие утечек пароля</a:t>
            </a:r>
          </a:p>
          <a:p>
            <a:r>
              <a:rPr lang="ru-RU" dirty="0"/>
              <a:t>Современные ОС включают шифрование:</a:t>
            </a:r>
          </a:p>
          <a:p>
            <a:pPr lvl="1"/>
            <a:r>
              <a:rPr lang="ru-RU" dirty="0"/>
              <a:t>Windows: </a:t>
            </a:r>
            <a:r>
              <a:rPr lang="ru-RU" dirty="0" err="1"/>
              <a:t>BitLocker</a:t>
            </a:r>
            <a:endParaRPr lang="ru-RU" dirty="0"/>
          </a:p>
          <a:p>
            <a:pPr lvl="1"/>
            <a:r>
              <a:rPr lang="ru-RU" dirty="0"/>
              <a:t>Linux: LUKS/</a:t>
            </a:r>
            <a:r>
              <a:rPr lang="ru-RU" dirty="0" err="1"/>
              <a:t>dm-crypt</a:t>
            </a:r>
            <a:endParaRPr lang="ru-RU" dirty="0"/>
          </a:p>
          <a:p>
            <a:pPr lvl="1"/>
            <a:r>
              <a:rPr lang="ru-RU" dirty="0" err="1"/>
              <a:t>macOS</a:t>
            </a:r>
            <a:r>
              <a:rPr lang="ru-RU" dirty="0"/>
              <a:t>: </a:t>
            </a:r>
            <a:r>
              <a:rPr lang="ru-RU" dirty="0" err="1"/>
              <a:t>FileVault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3042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9A6D0-D2A8-CE28-5A54-4A9AD8FA4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 забывайте про </a:t>
            </a:r>
            <a:r>
              <a:rPr lang="ru-RU" dirty="0" err="1"/>
              <a:t>терморектальный</a:t>
            </a:r>
            <a:r>
              <a:rPr lang="ru-RU" dirty="0"/>
              <a:t> криптоанализ</a:t>
            </a:r>
            <a:endParaRPr lang="en-US" dirty="0"/>
          </a:p>
        </p:txBody>
      </p:sp>
      <p:pic>
        <p:nvPicPr>
          <p:cNvPr id="2050" name="Picture 2" descr="Security">
            <a:extLst>
              <a:ext uri="{FF2B5EF4-FFF2-40B4-BE49-F238E27FC236}">
                <a16:creationId xmlns:a16="http://schemas.microsoft.com/office/drawing/2014/main" id="{3CF33D25-FB6C-F35B-8C93-43ABA86B802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610" y="2005199"/>
            <a:ext cx="7494780" cy="4583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64815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E33D2-D90E-46FF-1BEB-B9409AE46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Самошифрующиеся</a:t>
            </a:r>
            <a:r>
              <a:rPr lang="ru-RU" dirty="0"/>
              <a:t> диски (SED)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9B276-3530-521E-41D3-24D2699DF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SED = диски с аппаратным шифрованием</a:t>
            </a:r>
          </a:p>
          <a:p>
            <a:r>
              <a:rPr lang="ru-RU" dirty="0"/>
              <a:t>Шифрование/дешифрование выполняет контроллер</a:t>
            </a:r>
          </a:p>
          <a:p>
            <a:r>
              <a:rPr lang="ru-RU" dirty="0"/>
              <a:t>Производительность выше (снимает нагрузку с CPU)</a:t>
            </a:r>
          </a:p>
          <a:p>
            <a:r>
              <a:rPr lang="ru-RU" dirty="0"/>
              <a:t>Windows и другие ОС автоматически используют SED</a:t>
            </a:r>
          </a:p>
          <a:p>
            <a:pPr lvl="1"/>
            <a:r>
              <a:rPr lang="ru-RU" dirty="0"/>
              <a:t>Проблема: обнаружены серьёзные уязвимости (2019)</a:t>
            </a:r>
          </a:p>
        </p:txBody>
      </p:sp>
    </p:spTree>
    <p:extLst>
      <p:ext uri="{BB962C8B-B14F-4D97-AF65-F5344CB8AC3E}">
        <p14:creationId xmlns:p14="http://schemas.microsoft.com/office/powerpoint/2010/main" val="4525023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96A7-7B2A-29A6-C329-BE8DDE44B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Windows BitLocker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FA38E-0727-25A5-7774-168A2DB60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Использует AES и </a:t>
            </a:r>
            <a:r>
              <a:rPr lang="ru-RU" dirty="0" err="1"/>
              <a:t>Volume</a:t>
            </a:r>
            <a:r>
              <a:rPr lang="ru-RU" dirty="0"/>
              <a:t> Master Key (VMK)</a:t>
            </a:r>
          </a:p>
          <a:p>
            <a:r>
              <a:rPr lang="ru-RU" dirty="0"/>
              <a:t>VMK хранится в зашифрованном виде</a:t>
            </a:r>
          </a:p>
          <a:p>
            <a:r>
              <a:rPr lang="ru-RU" dirty="0"/>
              <a:t>Расшифровка возможна через:</a:t>
            </a:r>
          </a:p>
          <a:p>
            <a:pPr lvl="1"/>
            <a:r>
              <a:rPr lang="ru-RU" dirty="0"/>
              <a:t>пользовательский пароль</a:t>
            </a:r>
          </a:p>
          <a:p>
            <a:pPr lvl="1"/>
            <a:r>
              <a:rPr lang="ru-RU" dirty="0" err="1"/>
              <a:t>recovery</a:t>
            </a:r>
            <a:r>
              <a:rPr lang="ru-RU" dirty="0"/>
              <a:t> </a:t>
            </a:r>
            <a:r>
              <a:rPr lang="ru-RU" dirty="0" err="1"/>
              <a:t>key</a:t>
            </a:r>
            <a:endParaRPr lang="ru-RU" dirty="0"/>
          </a:p>
          <a:p>
            <a:pPr lvl="1"/>
            <a:r>
              <a:rPr lang="ru-RU" dirty="0"/>
              <a:t>TPM-модуль (</a:t>
            </a:r>
            <a:r>
              <a:rPr lang="en-US" dirty="0"/>
              <a:t>Trusted Platform Module)</a:t>
            </a:r>
            <a:endParaRPr lang="ru-RU" dirty="0"/>
          </a:p>
          <a:p>
            <a:r>
              <a:rPr lang="ru-RU" dirty="0"/>
              <a:t>Шифрование прозрачно для пользователя</a:t>
            </a:r>
          </a:p>
          <a:p>
            <a:r>
              <a:rPr lang="ru-RU" dirty="0"/>
              <a:t>Все данные на диске всегда зашифрованы</a:t>
            </a:r>
          </a:p>
        </p:txBody>
      </p:sp>
    </p:spTree>
    <p:extLst>
      <p:ext uri="{BB962C8B-B14F-4D97-AF65-F5344CB8AC3E}">
        <p14:creationId xmlns:p14="http://schemas.microsoft.com/office/powerpoint/2010/main" val="1751283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4589</TotalTime>
  <Words>4028</Words>
  <Application>Microsoft Macintosh PowerPoint</Application>
  <PresentationFormat>Widescreen</PresentationFormat>
  <Paragraphs>443</Paragraphs>
  <Slides>52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Aptos</vt:lpstr>
      <vt:lpstr>Aptos Display</vt:lpstr>
      <vt:lpstr>Arial</vt:lpstr>
      <vt:lpstr>Office Theme</vt:lpstr>
      <vt:lpstr>Операционные системы</vt:lpstr>
      <vt:lpstr>Реализация работы с файлами</vt:lpstr>
      <vt:lpstr>Непрерывное размещение файлов</vt:lpstr>
      <vt:lpstr>Непрерывное размещение файлов</vt:lpstr>
      <vt:lpstr>Непрерывное размещение файлов</vt:lpstr>
      <vt:lpstr>Преимущества непрерывного размещения</vt:lpstr>
      <vt:lpstr>Главная проблема - фрагментация</vt:lpstr>
      <vt:lpstr>Необходимость заранее знать размер файла</vt:lpstr>
      <vt:lpstr>Почему непрерывное размещение файлов больше почти не используется</vt:lpstr>
      <vt:lpstr>Размещение в виде цепочки блоков</vt:lpstr>
      <vt:lpstr>Методы реализации файлов</vt:lpstr>
      <vt:lpstr>Размещение в виде односвязного списка</vt:lpstr>
      <vt:lpstr>FAT – File Allocation Table</vt:lpstr>
      <vt:lpstr>I-nodes — современный подход</vt:lpstr>
      <vt:lpstr>PowerPoint Presentation</vt:lpstr>
      <vt:lpstr>Структура i-node</vt:lpstr>
      <vt:lpstr>Гду используются i-nodes</vt:lpstr>
      <vt:lpstr>Реализация работы каталогов</vt:lpstr>
      <vt:lpstr>Задача каталогов</vt:lpstr>
      <vt:lpstr>Фиксированная запись каталога (старые системы)</vt:lpstr>
      <vt:lpstr>Каталоги с i-nodes</vt:lpstr>
      <vt:lpstr>Ускорение поиска: хеш таблицы</vt:lpstr>
      <vt:lpstr>Кеширование результатов поиска</vt:lpstr>
      <vt:lpstr>Организация общего доступа</vt:lpstr>
      <vt:lpstr>Совместно используемые файлы</vt:lpstr>
      <vt:lpstr>Жесткие ссылки (Hard Links)</vt:lpstr>
      <vt:lpstr>Проблемы hard links</vt:lpstr>
      <vt:lpstr>Символические ссылки (Symbolic Links)</vt:lpstr>
      <vt:lpstr>Недостатки symbolic links</vt:lpstr>
      <vt:lpstr>Проблема множественных путей</vt:lpstr>
      <vt:lpstr>Файловые системы, использующие журналирование</vt:lpstr>
      <vt:lpstr>Зачем нужно журналирование</vt:lpstr>
      <vt:lpstr>Как работает журналирование?</vt:lpstr>
      <vt:lpstr>Пример: удаление файла</vt:lpstr>
      <vt:lpstr>Идемпотентные операции</vt:lpstr>
      <vt:lpstr>Транзакции</vt:lpstr>
      <vt:lpstr>Где используется журналирование</vt:lpstr>
      <vt:lpstr>Дефрагментация</vt:lpstr>
      <vt:lpstr>Причины фрагментации диска</vt:lpstr>
      <vt:lpstr>Что делает дефрагментация</vt:lpstr>
      <vt:lpstr>Алгоритм работы дефрагментатора</vt:lpstr>
      <vt:lpstr>Файлы, которые нельзя перемещать</vt:lpstr>
      <vt:lpstr>Linux и фрагментация</vt:lpstr>
      <vt:lpstr>SSD и фрагментация</vt:lpstr>
      <vt:lpstr>Шифрование и безопасное удаление файлов</vt:lpstr>
      <vt:lpstr>Проблема безопасного удаления файлов</vt:lpstr>
      <vt:lpstr>Почему сложно уничтожить данные надёжно</vt:lpstr>
      <vt:lpstr>Методы надёжного удаления</vt:lpstr>
      <vt:lpstr>Решение проблемы: полное шифрование диска</vt:lpstr>
      <vt:lpstr>Не забывайте про терморектальный криптоанализ</vt:lpstr>
      <vt:lpstr>Самошифрующиеся диски (SED)</vt:lpstr>
      <vt:lpstr>Windows BitLocker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artem danilov</cp:lastModifiedBy>
  <cp:revision>29</cp:revision>
  <dcterms:created xsi:type="dcterms:W3CDTF">2025-11-11T19:32:04Z</dcterms:created>
  <dcterms:modified xsi:type="dcterms:W3CDTF">2025-12-30T12:01:13Z</dcterms:modified>
</cp:coreProperties>
</file>